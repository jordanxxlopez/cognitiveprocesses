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22"/>
  </p:notesMasterIdLst>
  <p:handoutMasterIdLst>
    <p:handoutMasterId r:id="rId23"/>
  </p:handoutMasterIdLst>
  <p:sldIdLst>
    <p:sldId id="297" r:id="rId5"/>
    <p:sldId id="259" r:id="rId6"/>
    <p:sldId id="274" r:id="rId7"/>
    <p:sldId id="275" r:id="rId8"/>
    <p:sldId id="276" r:id="rId9"/>
    <p:sldId id="288" r:id="rId10"/>
    <p:sldId id="289" r:id="rId11"/>
    <p:sldId id="296" r:id="rId12"/>
    <p:sldId id="277" r:id="rId13"/>
    <p:sldId id="278" r:id="rId14"/>
    <p:sldId id="290" r:id="rId15"/>
    <p:sldId id="291" r:id="rId16"/>
    <p:sldId id="292" r:id="rId17"/>
    <p:sldId id="302" r:id="rId18"/>
    <p:sldId id="304" r:id="rId19"/>
    <p:sldId id="303" r:id="rId20"/>
    <p:sldId id="30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1" autoAdjust="0"/>
    <p:restoredTop sz="74513" autoAdjust="0"/>
  </p:normalViewPr>
  <p:slideViewPr>
    <p:cSldViewPr snapToGrid="0" snapToObjects="1">
      <p:cViewPr varScale="1">
        <p:scale>
          <a:sx n="75" d="100"/>
          <a:sy n="75" d="100"/>
        </p:scale>
        <p:origin x="78" y="390"/>
      </p:cViewPr>
      <p:guideLst>
        <p:guide orient="horz" pos="16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07C0E-F95C-444D-8A36-0775B1E0BD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98C91-AF9A-E248-9205-49E5117A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037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97C9-9233-5F48-A68D-4F6A9BDB4D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29491-23A7-0A47-B36A-6DD22A42B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875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0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1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73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68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8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1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2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2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6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24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3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07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eaLnBrk="1" hangingPunct="1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15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A31B-77FE-4601-5EB0-15F76C0B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C169F-3C45-A74A-BDDB-40FC0525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2C0BE-547C-3EFD-825B-21CE0D080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6CCDD-D5AC-685B-C37F-061FF7DF0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F372-5112-D93D-A797-96577E1C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CC1EB-DBD5-199D-222C-4D6072172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E47FC-274F-B321-5888-D35C40E3C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2333-2634-70C8-00BA-309ECEF2E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73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7FB5-204D-0B66-EC76-AB8D22EE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E33F-C72A-4F3A-CE32-AC88B3428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3F190-1D34-7059-E445-86016EFD1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eaLnBrk="1" hangingPunct="1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8A9B-C074-185C-7414-CEF20B474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29491-23A7-0A47-B36A-6DD22A42B6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7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E96D-27CE-C24E-BB10-3E025EA57F29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C3F26-2056-574E-BD3E-77B54CFC67D3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3618-9EDD-5543-A1E2-A042BBF3E630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99F9-0E2C-CB4C-BD12-DA241898DD86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C60C-5792-3641-B948-3423C6992AC9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9CA8-A45D-B449-999A-1241D868538F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14640-F68D-D949-91FD-2AF2269212CC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73E5-BCFD-C643-985D-5A4F945FAFC3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77BAA-FB59-C340-88B7-5AACB52B7EB5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42E1-5EE8-144A-9117-200A6F69A478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2EC9-28B5-7A4D-934B-F85E9C6B5A1B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C345-C960-4241-8A85-1F21A9639AFC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5" r:id="rId10"/>
    <p:sldLayoutId id="2147493466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9.wmf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0.emf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2.png"/><Relationship Id="rId12" Type="http://schemas.openxmlformats.org/officeDocument/2006/relationships/oleObject" Target="../embeddings/oleObject2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19.emf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15.wmf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26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35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7.emf"/><Relationship Id="rId17" Type="http://schemas.openxmlformats.org/officeDocument/2006/relationships/oleObject" Target="../embeddings/oleObject42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6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8.wmf"/><Relationship Id="rId22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5.w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oleObject" Target="../embeddings/oleObject5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C108D53B-4577-7A49-3143-E0C93C86B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800100"/>
            <a:ext cx="5062538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Intervals (CI)</a:t>
            </a:r>
            <a:endParaRPr lang="en-US" altLang="en-US" sz="750" b="1" u="sng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75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" name="Text Box 5">
            <a:extLst>
              <a:ext uri="{FF2B5EF4-FFF2-40B4-BE49-F238E27FC236}">
                <a16:creationId xmlns:a16="http://schemas.microsoft.com/office/drawing/2014/main" id="{B5950C1B-81CA-7230-28DF-CC0360F28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57150"/>
            <a:ext cx="294189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50" b="1" u="sng" dirty="0">
                <a:latin typeface="Times New Roman" panose="02020603050405020304" pitchFamily="18" charset="0"/>
              </a:rPr>
              <a:t>BME 423 Lecture Notes  -  Session 17</a:t>
            </a:r>
          </a:p>
        </p:txBody>
      </p:sp>
      <p:sp>
        <p:nvSpPr>
          <p:cNvPr id="2052" name="Text Box 16">
            <a:extLst>
              <a:ext uri="{FF2B5EF4-FFF2-40B4-BE49-F238E27FC236}">
                <a16:creationId xmlns:a16="http://schemas.microsoft.com/office/drawing/2014/main" id="{D27AEE10-2C66-6C43-9B8F-3B5824A9E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50" y="1657351"/>
            <a:ext cx="551619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romanUcPeriod"/>
            </a:pPr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Size of Difference between two Means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    What Does Confidence Interval Mean?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AutoNum type="romanUcPeriod" startAt="3"/>
            </a:pPr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  CI to Test Hypothesis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IV.    CI for the Population Mean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AutoNum type="romanUcPeriod" startAt="5"/>
            </a:pPr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Size of Difference between two Proportions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buFontTx/>
              <a:buAutoNum type="romanUcPeriod" startAt="6"/>
            </a:pPr>
            <a:r>
              <a:rPr lang="en-US" altLang="en-US" sz="2100" dirty="0">
                <a:solidFill>
                  <a:srgbClr val="000000"/>
                </a:solidFill>
                <a:latin typeface="Times New Roman" panose="02020603050405020304" pitchFamily="18" charset="0"/>
              </a:rPr>
              <a:t>  CI for the Population Proportion</a:t>
            </a:r>
          </a:p>
          <a:p>
            <a:pPr eaLnBrk="1" hangingPunct="1"/>
            <a:endParaRPr lang="en-US" altLang="en-US" sz="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695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I. Size of Difference 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800" dirty="0">
                <a:latin typeface="Times New Roman"/>
                <a:cs typeface="Times New Roman"/>
              </a:rPr>
              <a:t> Two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sz="2000" i="1" dirty="0">
                <a:latin typeface="Times New Roman"/>
                <a:cs typeface="Times New Roman"/>
              </a:rPr>
              <a:t>t </a:t>
            </a:r>
            <a:r>
              <a:rPr lang="en-US" sz="2000" dirty="0">
                <a:latin typeface="Times New Roman"/>
                <a:cs typeface="Times New Roman"/>
              </a:rPr>
              <a:t>Test to evaluate the null hypothesis of “no difference” between two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2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953777"/>
              </p:ext>
            </p:extLst>
          </p:nvPr>
        </p:nvGraphicFramePr>
        <p:xfrm>
          <a:off x="3225800" y="2457450"/>
          <a:ext cx="19589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600" imgH="520700" progId="Equation.DSMT4">
                  <p:embed/>
                </p:oleObj>
              </mc:Choice>
              <mc:Fallback>
                <p:oleObj name="Equation" r:id="rId3" imgW="11176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457450"/>
                        <a:ext cx="1958975" cy="91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926010" y="4408340"/>
            <a:ext cx="5305221" cy="512706"/>
            <a:chOff x="2019390" y="4296272"/>
            <a:chExt cx="5305221" cy="512706"/>
          </a:xfrm>
        </p:grpSpPr>
        <p:graphicFrame>
          <p:nvGraphicFramePr>
            <p:cNvPr id="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773049"/>
                </p:ext>
              </p:extLst>
            </p:nvPr>
          </p:nvGraphicFramePr>
          <p:xfrm>
            <a:off x="2019390" y="4296272"/>
            <a:ext cx="1467849" cy="51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00100" imgH="279400" progId="Equation.3">
                    <p:embed/>
                  </p:oleObj>
                </mc:Choice>
                <mc:Fallback>
                  <p:oleObj name="Equation" r:id="rId5" imgW="8001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9390" y="4296272"/>
                          <a:ext cx="1467849" cy="51270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2"/>
            <p:cNvSpPr txBox="1">
              <a:spLocks noChangeArrowheads="1"/>
            </p:cNvSpPr>
            <p:nvPr/>
          </p:nvSpPr>
          <p:spPr bwMode="auto">
            <a:xfrm>
              <a:off x="3261420" y="4340391"/>
              <a:ext cx="319831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Times New Roman"/>
                  <a:cs typeface="Times New Roman"/>
                </a:rPr>
                <a:t>, then reject null hypothesis with </a:t>
              </a:r>
            </a:p>
          </p:txBody>
        </p:sp>
        <p:graphicFrame>
          <p:nvGraphicFramePr>
            <p:cNvPr id="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3244601"/>
                </p:ext>
              </p:extLst>
            </p:nvPr>
          </p:nvGraphicFramePr>
          <p:xfrm>
            <a:off x="6389071" y="4300005"/>
            <a:ext cx="93554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06080" imgH="177480" progId="Equation.DSMT4">
                    <p:embed/>
                  </p:oleObj>
                </mc:Choice>
                <mc:Fallback>
                  <p:oleObj name="Equation" r:id="rId7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9071" y="4300005"/>
                          <a:ext cx="935540" cy="409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602192"/>
              </p:ext>
            </p:extLst>
          </p:nvPr>
        </p:nvGraphicFramePr>
        <p:xfrm>
          <a:off x="3882717" y="3740665"/>
          <a:ext cx="1378566" cy="35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6240" imgH="228600" progId="Equation.DSMT4">
                  <p:embed/>
                </p:oleObj>
              </mc:Choice>
              <mc:Fallback>
                <p:oleObj name="Equation" r:id="rId9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2717" y="3740665"/>
                        <a:ext cx="1378566" cy="35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704457"/>
              </p:ext>
            </p:extLst>
          </p:nvPr>
        </p:nvGraphicFramePr>
        <p:xfrm>
          <a:off x="739775" y="2439988"/>
          <a:ext cx="12652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400" imgH="495300" progId="Equation.DSMT4">
                  <p:embed/>
                </p:oleObj>
              </mc:Choice>
              <mc:Fallback>
                <p:oleObj name="Equation" r:id="rId11" imgW="6604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2439988"/>
                        <a:ext cx="1265238" cy="95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487163"/>
              </p:ext>
            </p:extLst>
          </p:nvPr>
        </p:nvGraphicFramePr>
        <p:xfrm>
          <a:off x="6078629" y="2550734"/>
          <a:ext cx="2524342" cy="731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240" imgH="457200" progId="Equation.DSMT4">
                  <p:embed/>
                </p:oleObj>
              </mc:Choice>
              <mc:Fallback>
                <p:oleObj name="Equation" r:id="rId13" imgW="1587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629" y="2550734"/>
                        <a:ext cx="2524342" cy="731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480991"/>
              </p:ext>
            </p:extLst>
          </p:nvPr>
        </p:nvGraphicFramePr>
        <p:xfrm>
          <a:off x="3794399" y="1561717"/>
          <a:ext cx="1535512" cy="440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200" imgH="241300" progId="Equation.DSMT4">
                  <p:embed/>
                </p:oleObj>
              </mc:Choice>
              <mc:Fallback>
                <p:oleObj name="Equation" r:id="rId15" imgW="8382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399" y="1561717"/>
                        <a:ext cx="1535512" cy="440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249829" y="2731572"/>
            <a:ext cx="761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Times New Roman"/>
                <a:cs typeface="Times New Roman"/>
              </a:rPr>
              <a:t>where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401446" y="2731572"/>
            <a:ext cx="5180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Times New Roman"/>
                <a:cs typeface="Times New Roman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9911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0"/>
                <a:ext cx="8229600" cy="85725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2800" dirty="0">
                    <a:latin typeface="Times New Roman"/>
                    <a:cs typeface="Times New Roman"/>
                  </a:rPr>
                  <a:t>-Distribution Under H</a:t>
                </a:r>
                <a:r>
                  <a:rPr lang="en-US" sz="2800" baseline="-25000" dirty="0">
                    <a:latin typeface="Times New Roman"/>
                    <a:cs typeface="Times New Roman"/>
                  </a:rPr>
                  <a:t>0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0"/>
                <a:ext cx="8229600" cy="85725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3</a:t>
            </a:fld>
            <a:endParaRPr lang="en-US">
              <a:latin typeface="Times New Roman"/>
              <a:cs typeface="Times New Roman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149340" y="3709545"/>
            <a:ext cx="6661154" cy="439738"/>
            <a:chOff x="1562100" y="4724400"/>
            <a:chExt cx="6661154" cy="4397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562100" y="4733925"/>
                  <a:ext cx="4408203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US" sz="2000" dirty="0">
                      <a:latin typeface="Times New Roman"/>
                      <a:cs typeface="Times New Roman"/>
                    </a:rPr>
                    <a:t>95% of the values of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/>
                        </a:rPr>
                        <m:t>𝑡</m:t>
                      </m:r>
                    </m:oMath>
                  </a14:m>
                  <a:r>
                    <a:rPr lang="en-US" sz="2000" dirty="0">
                      <a:latin typeface="Times New Roman"/>
                      <a:cs typeface="Times New Roman"/>
                    </a:rPr>
                    <a:t> fall in the interval:</a:t>
                  </a:r>
                  <a:endParaRPr lang="en-US" sz="2000" u="sng" dirty="0">
                    <a:latin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6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62100" y="4733925"/>
                  <a:ext cx="4408203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437" t="-6061" r="-1149" b="-242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1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54647560"/>
                    </p:ext>
                  </p:extLst>
                </p:nvPr>
              </p:nvGraphicFramePr>
              <p:xfrm>
                <a:off x="7308854" y="4733925"/>
                <a:ext cx="914400" cy="411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5" imgW="507960" imgH="228600" progId="Equation.DSMT4">
                        <p:embed/>
                      </p:oleObj>
                    </mc:Choice>
                    <mc:Fallback>
                      <p:oleObj name="Equation" r:id="rId5" imgW="50796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08854" y="4733925"/>
                              <a:ext cx="914400" cy="4111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="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" name="Object 1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54647560"/>
                    </p:ext>
                  </p:extLst>
                </p:nvPr>
              </p:nvGraphicFramePr>
              <p:xfrm>
                <a:off x="7308854" y="4733925"/>
                <a:ext cx="914400" cy="411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507960" imgH="228600" progId="Equation.DSMT4">
                        <p:embed/>
                      </p:oleObj>
                    </mc:Choice>
                    <mc:Fallback>
                      <p:oleObj name="Equation" r:id="rId7" imgW="50796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08854" y="4733925"/>
                              <a:ext cx="914400" cy="4111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 xmlns="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9" name="Text Box 19"/>
            <p:cNvSpPr txBox="1">
              <a:spLocks noChangeArrowheads="1"/>
            </p:cNvSpPr>
            <p:nvPr/>
          </p:nvSpPr>
          <p:spPr bwMode="auto">
            <a:xfrm>
              <a:off x="6889754" y="4724400"/>
              <a:ext cx="39698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Times New Roman"/>
                  <a:cs typeface="Times New Roman"/>
                </a:rPr>
                <a:t>to</a:t>
              </a:r>
              <a:endParaRPr lang="en-US" sz="2000" u="sng" dirty="0">
                <a:latin typeface="Times New Roman"/>
                <a:cs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51666095"/>
                    </p:ext>
                  </p:extLst>
                </p:nvPr>
              </p:nvGraphicFramePr>
              <p:xfrm>
                <a:off x="5916617" y="4752975"/>
                <a:ext cx="1050925" cy="411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9" imgW="583920" imgH="228600" progId="Equation.DSMT4">
                        <p:embed/>
                      </p:oleObj>
                    </mc:Choice>
                    <mc:Fallback>
                      <p:oleObj name="Equation" r:id="rId9" imgW="58392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916617" y="4752975"/>
                              <a:ext cx="1050925" cy="4111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="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Object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51666095"/>
                    </p:ext>
                  </p:extLst>
                </p:nvPr>
              </p:nvGraphicFramePr>
              <p:xfrm>
                <a:off x="5916617" y="4752975"/>
                <a:ext cx="1050925" cy="4111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1" imgW="583920" imgH="228600" progId="Equation.DSMT4">
                        <p:embed/>
                      </p:oleObj>
                    </mc:Choice>
                    <mc:Fallback>
                      <p:oleObj name="Equation" r:id="rId11" imgW="58392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916617" y="4752975"/>
                              <a:ext cx="1050925" cy="41116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 xmlns="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95867"/>
              </p:ext>
            </p:extLst>
          </p:nvPr>
        </p:nvGraphicFramePr>
        <p:xfrm>
          <a:off x="441325" y="1638300"/>
          <a:ext cx="1697038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60400" imgH="495300" progId="Equation.3">
                  <p:embed/>
                </p:oleObj>
              </mc:Choice>
              <mc:Fallback>
                <p:oleObj name="Equation" r:id="rId13" imgW="6604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638300"/>
                        <a:ext cx="1697038" cy="127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978160"/>
              </p:ext>
            </p:extLst>
          </p:nvPr>
        </p:nvGraphicFramePr>
        <p:xfrm>
          <a:off x="2613017" y="4245801"/>
          <a:ext cx="37338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20480" imgH="228600" progId="Equation.DSMT4">
                  <p:embed/>
                </p:oleObj>
              </mc:Choice>
              <mc:Fallback>
                <p:oleObj name="Equation" r:id="rId15" imgW="1320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17" y="4245801"/>
                        <a:ext cx="37338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968184" y="1197698"/>
            <a:ext cx="5718616" cy="2158141"/>
            <a:chOff x="2968184" y="1197698"/>
            <a:chExt cx="5718616" cy="2158141"/>
          </a:xfrm>
        </p:grpSpPr>
        <p:pic>
          <p:nvPicPr>
            <p:cNvPr id="12" name="Picture 179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8184" y="1197698"/>
              <a:ext cx="5718616" cy="2158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 useBgFill="1">
          <p:nvSpPr>
            <p:cNvPr id="3" name="TextBox 2"/>
            <p:cNvSpPr txBox="1"/>
            <p:nvPr/>
          </p:nvSpPr>
          <p:spPr>
            <a:xfrm>
              <a:off x="2968184" y="1636015"/>
              <a:ext cx="691718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6746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i="1" dirty="0">
                <a:latin typeface="Times New Roman"/>
                <a:cs typeface="Times New Roman"/>
              </a:rPr>
              <a:t>t</a:t>
            </a:r>
            <a:r>
              <a:rPr lang="en-US" sz="2800" dirty="0">
                <a:latin typeface="Times New Roman"/>
                <a:cs typeface="Times New Roman"/>
              </a:rPr>
              <a:t>-Distribution When 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 ≠ 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725540"/>
              </p:ext>
            </p:extLst>
          </p:nvPr>
        </p:nvGraphicFramePr>
        <p:xfrm>
          <a:off x="1082675" y="873125"/>
          <a:ext cx="1843088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5100" imgH="533400" progId="Equation.DSMT4">
                  <p:embed/>
                </p:oleObj>
              </mc:Choice>
              <mc:Fallback>
                <p:oleObj name="Equation" r:id="rId3" imgW="14351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873125"/>
                        <a:ext cx="1843088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4953"/>
              </p:ext>
            </p:extLst>
          </p:nvPr>
        </p:nvGraphicFramePr>
        <p:xfrm>
          <a:off x="5181600" y="994424"/>
          <a:ext cx="2584311" cy="447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228600" progId="Equation.DSMT4">
                  <p:embed/>
                </p:oleObj>
              </mc:Choice>
              <mc:Fallback>
                <p:oleObj name="Equation" r:id="rId5" imgW="1320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94424"/>
                        <a:ext cx="2584311" cy="4474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019"/>
              </p:ext>
            </p:extLst>
          </p:nvPr>
        </p:nvGraphicFramePr>
        <p:xfrm>
          <a:off x="2613025" y="1754188"/>
          <a:ext cx="38830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1100" imgH="546100" progId="Equation.3">
                  <p:embed/>
                </p:oleObj>
              </mc:Choice>
              <mc:Fallback>
                <p:oleObj name="Equation" r:id="rId7" imgW="24511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1754188"/>
                        <a:ext cx="3883025" cy="865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3471180" y="4513241"/>
            <a:ext cx="2209800" cy="427037"/>
            <a:chOff x="3406320" y="4593696"/>
            <a:chExt cx="2209800" cy="427037"/>
          </a:xfrm>
        </p:grpSpPr>
        <p:sp>
          <p:nvSpPr>
            <p:cNvPr id="11" name="Text Box 26"/>
            <p:cNvSpPr txBox="1">
              <a:spLocks noChangeArrowheads="1"/>
            </p:cNvSpPr>
            <p:nvPr/>
          </p:nvSpPr>
          <p:spPr bwMode="auto">
            <a:xfrm>
              <a:off x="3406320" y="4593696"/>
              <a:ext cx="13890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Times New Roman"/>
                  <a:cs typeface="Times New Roman"/>
                </a:rPr>
                <a:t>95% CI for </a:t>
              </a:r>
              <a:endParaRPr lang="en-US" sz="2000" u="sng" dirty="0">
                <a:latin typeface="Times New Roman"/>
                <a:cs typeface="Times New Roman"/>
              </a:endParaRPr>
            </a:p>
          </p:txBody>
        </p:sp>
        <p:graphicFrame>
          <p:nvGraphicFramePr>
            <p:cNvPr id="12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8473889"/>
                </p:ext>
              </p:extLst>
            </p:nvPr>
          </p:nvGraphicFramePr>
          <p:xfrm>
            <a:off x="4701720" y="4631796"/>
            <a:ext cx="914400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96880" imgH="253800" progId="Equation.DSMT4">
                    <p:embed/>
                  </p:oleObj>
                </mc:Choice>
                <mc:Fallback>
                  <p:oleObj name="Equation" r:id="rId9" imgW="596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1720" y="4631796"/>
                          <a:ext cx="914400" cy="388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612780" y="3287332"/>
            <a:ext cx="7905720" cy="656326"/>
            <a:chOff x="612780" y="3590824"/>
            <a:chExt cx="7905720" cy="656326"/>
          </a:xfrm>
        </p:grpSpPr>
        <p:graphicFrame>
          <p:nvGraphicFramePr>
            <p:cNvPr id="1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2870148"/>
                </p:ext>
              </p:extLst>
            </p:nvPr>
          </p:nvGraphicFramePr>
          <p:xfrm>
            <a:off x="941388" y="3615017"/>
            <a:ext cx="7248525" cy="608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644900" imgH="304800" progId="Equation.3">
                    <p:embed/>
                  </p:oleObj>
                </mc:Choice>
                <mc:Fallback>
                  <p:oleObj name="Equation" r:id="rId11" imgW="36449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388" y="3615017"/>
                          <a:ext cx="7248525" cy="6080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612780" y="3590824"/>
              <a:ext cx="7905720" cy="656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Times New Roman"/>
                <a:cs typeface="Times New Roman"/>
              </a:endParaRP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3394980" y="4421960"/>
            <a:ext cx="2362200" cy="6095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334045" y="2866900"/>
            <a:ext cx="6547003" cy="400110"/>
            <a:chOff x="533400" y="4158426"/>
            <a:chExt cx="6547003" cy="400110"/>
          </a:xfrm>
        </p:grpSpPr>
        <p:sp>
          <p:nvSpPr>
            <p:cNvPr id="6" name="Text Box 13"/>
            <p:cNvSpPr txBox="1">
              <a:spLocks noChangeArrowheads="1"/>
            </p:cNvSpPr>
            <p:nvPr/>
          </p:nvSpPr>
          <p:spPr bwMode="auto">
            <a:xfrm>
              <a:off x="533400" y="4158426"/>
              <a:ext cx="113364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Times New Roman"/>
                  <a:cs typeface="Times New Roman"/>
                </a:rPr>
                <a:t>Solve for </a:t>
              </a:r>
              <a:endParaRPr lang="en-US" sz="2000" u="sng" dirty="0">
                <a:latin typeface="Times New Roman"/>
                <a:cs typeface="Times New Roman"/>
              </a:endParaRPr>
            </a:p>
          </p:txBody>
        </p:sp>
        <p:graphicFrame>
          <p:nvGraphicFramePr>
            <p:cNvPr id="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7954931"/>
                </p:ext>
              </p:extLst>
            </p:nvPr>
          </p:nvGraphicFramePr>
          <p:xfrm>
            <a:off x="1600200" y="4164012"/>
            <a:ext cx="91440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96880" imgH="253800" progId="Equation.DSMT4">
                    <p:embed/>
                  </p:oleObj>
                </mc:Choice>
                <mc:Fallback>
                  <p:oleObj name="Equation" r:id="rId13" imgW="596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4164012"/>
                          <a:ext cx="914400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Box 15"/>
            <p:cNvSpPr txBox="1"/>
            <p:nvPr/>
          </p:nvSpPr>
          <p:spPr>
            <a:xfrm>
              <a:off x="2438401" y="4173815"/>
              <a:ext cx="4642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/>
                  <a:cs typeface="Times New Roman"/>
                </a:rPr>
                <a:t>, the true difference of means of the populations:</a:t>
              </a:r>
            </a:p>
          </p:txBody>
        </p:sp>
      </p:grpSp>
      <p:sp>
        <p:nvSpPr>
          <p:cNvPr id="17" name="Right Arrow 16"/>
          <p:cNvSpPr/>
          <p:nvPr/>
        </p:nvSpPr>
        <p:spPr>
          <a:xfrm>
            <a:off x="3519418" y="1103858"/>
            <a:ext cx="1143000" cy="228600"/>
          </a:xfrm>
          <a:prstGeom prst="rightArrow">
            <a:avLst/>
          </a:prstGeom>
          <a:solidFill>
            <a:srgbClr val="00009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" name="Right Arrow 17"/>
          <p:cNvSpPr/>
          <p:nvPr/>
        </p:nvSpPr>
        <p:spPr>
          <a:xfrm rot="7913697">
            <a:off x="5943799" y="1582290"/>
            <a:ext cx="685800" cy="228600"/>
          </a:xfrm>
          <a:prstGeom prst="rightArrow">
            <a:avLst/>
          </a:prstGeom>
          <a:solidFill>
            <a:srgbClr val="00009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4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22" name="Line 29"/>
          <p:cNvSpPr>
            <a:spLocks noChangeShapeType="1"/>
          </p:cNvSpPr>
          <p:nvPr/>
        </p:nvSpPr>
        <p:spPr bwMode="auto">
          <a:xfrm flipV="1">
            <a:off x="4576080" y="396476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63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Confidence Interval for (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 – 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5</a:t>
            </a:fld>
            <a:endParaRPr lang="en-US">
              <a:latin typeface="Times New Roman"/>
              <a:cs typeface="Times New Roman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38675" y="1067354"/>
            <a:ext cx="4093637" cy="428666"/>
            <a:chOff x="1971675" y="949303"/>
            <a:chExt cx="4093637" cy="428666"/>
          </a:xfrm>
        </p:grpSpPr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1971675" y="949303"/>
              <a:ext cx="3275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Times New Roman"/>
                  <a:cs typeface="Times New Roman"/>
                </a:rPr>
                <a:t>In General: 100 (1-α)% CI for </a:t>
              </a:r>
              <a:endParaRPr lang="en-US" sz="2000" u="sng" dirty="0">
                <a:latin typeface="Times New Roman"/>
                <a:cs typeface="Times New Roman"/>
              </a:endParaRPr>
            </a:p>
          </p:txBody>
        </p:sp>
        <p:graphicFrame>
          <p:nvGraphicFramePr>
            <p:cNvPr id="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679825"/>
                </p:ext>
              </p:extLst>
            </p:nvPr>
          </p:nvGraphicFramePr>
          <p:xfrm>
            <a:off x="5150912" y="989031"/>
            <a:ext cx="91440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96880" imgH="253800" progId="Equation.DSMT4">
                    <p:embed/>
                  </p:oleObj>
                </mc:Choice>
                <mc:Fallback>
                  <p:oleObj name="Equation" r:id="rId3" imgW="5968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0912" y="989031"/>
                          <a:ext cx="914400" cy="388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4"/>
          <p:cNvGrpSpPr/>
          <p:nvPr/>
        </p:nvGrpSpPr>
        <p:grpSpPr>
          <a:xfrm>
            <a:off x="457200" y="1730476"/>
            <a:ext cx="8229600" cy="762000"/>
            <a:chOff x="457200" y="1635103"/>
            <a:chExt cx="8229600" cy="762000"/>
          </a:xfrm>
        </p:grpSpPr>
        <p:graphicFrame>
          <p:nvGraphicFramePr>
            <p:cNvPr id="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9293528"/>
                </p:ext>
              </p:extLst>
            </p:nvPr>
          </p:nvGraphicFramePr>
          <p:xfrm>
            <a:off x="871538" y="1690565"/>
            <a:ext cx="7399337" cy="652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454400" imgH="304800" progId="Equation.DSMT4">
                    <p:embed/>
                  </p:oleObj>
                </mc:Choice>
                <mc:Fallback>
                  <p:oleObj name="Equation" r:id="rId5" imgW="3454400" imgH="304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1538" y="1690565"/>
                          <a:ext cx="7399337" cy="6524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457200" y="1635103"/>
              <a:ext cx="82296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Times New Roman"/>
                <a:cs typeface="Times New Roman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667332" y="2882967"/>
            <a:ext cx="5718616" cy="2158141"/>
            <a:chOff x="1667332" y="2882967"/>
            <a:chExt cx="5718616" cy="2158141"/>
          </a:xfrm>
        </p:grpSpPr>
        <p:grpSp>
          <p:nvGrpSpPr>
            <p:cNvPr id="22" name="Group 21"/>
            <p:cNvGrpSpPr/>
            <p:nvPr/>
          </p:nvGrpSpPr>
          <p:grpSpPr>
            <a:xfrm>
              <a:off x="1667332" y="2882967"/>
              <a:ext cx="5718616" cy="2158141"/>
              <a:chOff x="1667332" y="2882967"/>
              <a:chExt cx="5718616" cy="2158141"/>
            </a:xfrm>
          </p:grpSpPr>
          <p:pic>
            <p:nvPicPr>
              <p:cNvPr id="17" name="Picture 179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7332" y="2882967"/>
                <a:ext cx="5718616" cy="2158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 useBgFill="1">
            <p:nvSpPr>
              <p:cNvPr id="19" name="TextBox 18"/>
              <p:cNvSpPr txBox="1"/>
              <p:nvPr/>
            </p:nvSpPr>
            <p:spPr>
              <a:xfrm>
                <a:off x="1667332" y="3289987"/>
                <a:ext cx="691718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 useBgFill="1">
            <p:nvSpPr>
              <p:cNvPr id="20" name="TextBox 19"/>
              <p:cNvSpPr txBox="1"/>
              <p:nvPr/>
            </p:nvSpPr>
            <p:spPr>
              <a:xfrm>
                <a:off x="1846956" y="4514563"/>
                <a:ext cx="1702349" cy="502918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 useBgFill="1">
            <p:nvSpPr>
              <p:cNvPr id="21" name="TextBox 20"/>
              <p:cNvSpPr txBox="1"/>
              <p:nvPr/>
            </p:nvSpPr>
            <p:spPr>
              <a:xfrm>
                <a:off x="5446611" y="4510946"/>
                <a:ext cx="1702349" cy="502918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9070947"/>
                </p:ext>
              </p:extLst>
            </p:nvPr>
          </p:nvGraphicFramePr>
          <p:xfrm>
            <a:off x="2078767" y="4404951"/>
            <a:ext cx="1149980" cy="558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500" imgH="215900" progId="Equation.DSMT4">
                    <p:embed/>
                  </p:oleObj>
                </mc:Choice>
                <mc:Fallback>
                  <p:oleObj name="Equation" r:id="rId8" imgW="444500" imgH="2159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78767" y="4404951"/>
                          <a:ext cx="1149980" cy="558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726602"/>
                </p:ext>
              </p:extLst>
            </p:nvPr>
          </p:nvGraphicFramePr>
          <p:xfrm>
            <a:off x="6112568" y="4404951"/>
            <a:ext cx="920750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5600" imgH="215900" progId="Equation.3">
                    <p:embed/>
                  </p:oleObj>
                </mc:Choice>
                <mc:Fallback>
                  <p:oleObj name="Equation" r:id="rId10" imgW="355600" imgH="2159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112568" y="4404951"/>
                          <a:ext cx="920750" cy="557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81505"/>
              </p:ext>
            </p:extLst>
          </p:nvPr>
        </p:nvGraphicFramePr>
        <p:xfrm>
          <a:off x="4182483" y="1211257"/>
          <a:ext cx="174170" cy="232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200" imgH="101600" progId="Equation.3">
                  <p:embed/>
                </p:oleObj>
              </mc:Choice>
              <mc:Fallback>
                <p:oleObj name="Equation" r:id="rId12" imgW="76200" imgH="101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82483" y="1211257"/>
                        <a:ext cx="174170" cy="232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273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 – </a:t>
            </a:r>
            <a:r>
              <a:rPr lang="en-US" sz="2800" i="1" dirty="0">
                <a:latin typeface="Times New Roman"/>
                <a:cs typeface="Times New Roman"/>
              </a:rPr>
              <a:t>μ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) Confidence Interval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6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2082802" y="846190"/>
            <a:ext cx="4978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u="sng" dirty="0">
                <a:latin typeface="Times New Roman"/>
                <a:cs typeface="Times New Roman"/>
              </a:rPr>
              <a:t>Urine Production with Placebo versus Diuretic</a:t>
            </a:r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528675"/>
              </p:ext>
            </p:extLst>
          </p:nvPr>
        </p:nvGraphicFramePr>
        <p:xfrm>
          <a:off x="1466215" y="3652877"/>
          <a:ext cx="691515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6100" imgH="889000" progId="Equation.DSMT4">
                  <p:embed/>
                </p:oleObj>
              </mc:Choice>
              <mc:Fallback>
                <p:oleObj name="Equation" r:id="rId3" imgW="43561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215" y="3652877"/>
                        <a:ext cx="6915150" cy="1409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840252"/>
              </p:ext>
            </p:extLst>
          </p:nvPr>
        </p:nvGraphicFramePr>
        <p:xfrm>
          <a:off x="2791619" y="1335088"/>
          <a:ext cx="35607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900" imgH="241300" progId="Equation.DSMT4">
                  <p:embed/>
                </p:oleObj>
              </mc:Choice>
              <mc:Fallback>
                <p:oleObj name="Equation" r:id="rId5" imgW="23749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619" y="1335088"/>
                        <a:ext cx="3560763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58766"/>
              </p:ext>
            </p:extLst>
          </p:nvPr>
        </p:nvGraphicFramePr>
        <p:xfrm>
          <a:off x="2734469" y="1774825"/>
          <a:ext cx="36750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1100" imgH="266700" progId="Equation.DSMT4">
                  <p:embed/>
                </p:oleObj>
              </mc:Choice>
              <mc:Fallback>
                <p:oleObj name="Equation" r:id="rId7" imgW="24511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469" y="1774825"/>
                        <a:ext cx="3675063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526130"/>
              </p:ext>
            </p:extLst>
          </p:nvPr>
        </p:nvGraphicFramePr>
        <p:xfrm>
          <a:off x="4397375" y="2392363"/>
          <a:ext cx="43068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60600" imgH="546100" progId="Equation.DSMT4">
                  <p:embed/>
                </p:oleObj>
              </mc:Choice>
              <mc:Fallback>
                <p:oleObj name="Equation" r:id="rId9" imgW="22606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2392363"/>
                        <a:ext cx="430688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383728"/>
              </p:ext>
            </p:extLst>
          </p:nvPr>
        </p:nvGraphicFramePr>
        <p:xfrm>
          <a:off x="682445" y="2329894"/>
          <a:ext cx="309245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63800" imgH="863600" progId="Equation.3">
                  <p:embed/>
                </p:oleObj>
              </mc:Choice>
              <mc:Fallback>
                <p:oleObj name="Equation" r:id="rId11" imgW="24638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45" y="2329894"/>
                        <a:ext cx="3092450" cy="1084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A17C38-01FB-8637-6B0D-4BC574106C49}"/>
              </a:ext>
            </a:extLst>
          </p:cNvPr>
          <p:cNvSpPr txBox="1"/>
          <p:nvPr/>
        </p:nvSpPr>
        <p:spPr>
          <a:xfrm>
            <a:off x="985520" y="4599088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95% CI</a:t>
            </a:r>
          </a:p>
        </p:txBody>
      </p:sp>
    </p:spTree>
    <p:extLst>
      <p:ext uri="{BB962C8B-B14F-4D97-AF65-F5344CB8AC3E}">
        <p14:creationId xmlns:p14="http://schemas.microsoft.com/office/powerpoint/2010/main" val="162839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II. What does Confidence Interval mean?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7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3" name="Picture 2" descr="Fig7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39" y="709772"/>
            <a:ext cx="2922601" cy="443289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454139"/>
            <a:ext cx="4379759" cy="3394472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2000" dirty="0">
                <a:latin typeface="Times New Roman"/>
                <a:cs typeface="Times New Roman"/>
              </a:rPr>
              <a:t>95% of all possible </a:t>
            </a:r>
            <a:r>
              <a:rPr lang="en-US" sz="2000" i="1" dirty="0">
                <a:latin typeface="Times New Roman"/>
                <a:cs typeface="Times New Roman"/>
              </a:rPr>
              <a:t>95% Confidence Intervals</a:t>
            </a:r>
            <a:r>
              <a:rPr lang="en-US" sz="2000" dirty="0">
                <a:latin typeface="Times New Roman"/>
                <a:cs typeface="Times New Roman"/>
              </a:rPr>
              <a:t> will contain the </a:t>
            </a:r>
            <a:r>
              <a:rPr lang="en-US" sz="2000" u="sng" dirty="0">
                <a:latin typeface="Times New Roman"/>
                <a:cs typeface="Times New Roman"/>
              </a:rPr>
              <a:t>true</a:t>
            </a:r>
            <a:r>
              <a:rPr lang="en-US" sz="2000" dirty="0">
                <a:latin typeface="Times New Roman"/>
                <a:cs typeface="Times New Roman"/>
              </a:rPr>
              <a:t> difference of the means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2000" dirty="0">
                <a:latin typeface="Times New Roman"/>
                <a:cs typeface="Times New Roman"/>
              </a:rPr>
              <a:t>There is a 95% chance that the </a:t>
            </a:r>
            <a:r>
              <a:rPr lang="en-US" sz="2000" i="1" dirty="0">
                <a:latin typeface="Times New Roman"/>
                <a:cs typeface="Times New Roman"/>
              </a:rPr>
              <a:t>95% Confidence Interval</a:t>
            </a:r>
            <a:r>
              <a:rPr lang="en-US" sz="2000" dirty="0">
                <a:latin typeface="Times New Roman"/>
                <a:cs typeface="Times New Roman"/>
              </a:rPr>
              <a:t> will contain the true difference of the means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604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III. Use of CI to Test Null Hypothesis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8</a:t>
            </a:fld>
            <a:endParaRPr lang="en-US">
              <a:latin typeface="Times New Roman"/>
              <a:cs typeface="Times New Roman"/>
            </a:endParaRPr>
          </a:p>
        </p:txBody>
      </p:sp>
      <p:pic>
        <p:nvPicPr>
          <p:cNvPr id="3" name="Picture 2" descr="Fig7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39" y="709772"/>
            <a:ext cx="2922601" cy="443289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608346"/>
            <a:ext cx="4379759" cy="2056511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2000" dirty="0">
                <a:latin typeface="Times New Roman"/>
                <a:cs typeface="Times New Roman"/>
              </a:rPr>
              <a:t>If the </a:t>
            </a:r>
            <a:r>
              <a:rPr lang="en-US" sz="2000" i="1" dirty="0">
                <a:latin typeface="Times New Roman"/>
                <a:cs typeface="Times New Roman"/>
              </a:rPr>
              <a:t>100 (1-α)% Confidence Interval</a:t>
            </a:r>
            <a:r>
              <a:rPr lang="en-US" sz="2000" dirty="0">
                <a:latin typeface="Times New Roman"/>
                <a:cs typeface="Times New Roman"/>
              </a:rPr>
              <a:t> includes 0.0, do not reject H</a:t>
            </a:r>
            <a:r>
              <a:rPr lang="en-US" sz="2000" baseline="-25000" dirty="0">
                <a:latin typeface="Times New Roman"/>
                <a:cs typeface="Times New Roman"/>
              </a:rPr>
              <a:t>0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sz="2000" baseline="-25000" dirty="0">
              <a:latin typeface="Times New Roman"/>
              <a:cs typeface="Times New Roman"/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sz="2000" dirty="0">
                <a:latin typeface="Times New Roman"/>
                <a:cs typeface="Times New Roman"/>
              </a:rPr>
              <a:t>If the </a:t>
            </a:r>
            <a:r>
              <a:rPr lang="en-US" sz="2000" i="1" dirty="0">
                <a:latin typeface="Times New Roman"/>
                <a:cs typeface="Times New Roman"/>
              </a:rPr>
              <a:t>100 (1-α)% Confidence Interval</a:t>
            </a:r>
            <a:r>
              <a:rPr lang="en-US" sz="2000" dirty="0">
                <a:latin typeface="Times New Roman"/>
                <a:cs typeface="Times New Roman"/>
              </a:rPr>
              <a:t> does not include 0.0, reject H</a:t>
            </a:r>
            <a:r>
              <a:rPr lang="en-US" sz="2000" baseline="-25000" dirty="0">
                <a:latin typeface="Times New Roman"/>
                <a:cs typeface="Times New Roman"/>
              </a:rPr>
              <a:t>0</a:t>
            </a:r>
            <a:r>
              <a:rPr lang="en-US" sz="2000" dirty="0">
                <a:latin typeface="Times New Roman"/>
                <a:cs typeface="Times New Roman"/>
              </a:rPr>
              <a:t> with </a:t>
            </a:r>
            <a:endParaRPr lang="en-US" sz="2000" baseline="-25000" dirty="0">
              <a:latin typeface="Times New Roman"/>
              <a:cs typeface="Times New Roman"/>
            </a:endParaRP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sz="2000" dirty="0">
              <a:latin typeface="Times New Roman"/>
              <a:cs typeface="Times New Roman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909965"/>
              </p:ext>
            </p:extLst>
          </p:nvPr>
        </p:nvGraphicFramePr>
        <p:xfrm>
          <a:off x="1826857" y="1714701"/>
          <a:ext cx="181997" cy="24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200" imgH="101600" progId="Equation.3">
                  <p:embed/>
                </p:oleObj>
              </mc:Choice>
              <mc:Fallback>
                <p:oleObj name="Equation" r:id="rId4" imgW="76200" imgH="101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6857" y="1714701"/>
                        <a:ext cx="181997" cy="242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31031"/>
              </p:ext>
            </p:extLst>
          </p:nvPr>
        </p:nvGraphicFramePr>
        <p:xfrm>
          <a:off x="1731221" y="3139923"/>
          <a:ext cx="685463" cy="300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177480" progId="Equation.DSMT4">
                  <p:embed/>
                </p:oleObj>
              </mc:Choice>
              <mc:Fallback>
                <p:oleObj name="Equation" r:id="rId6" imgW="4060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221" y="3139923"/>
                        <a:ext cx="685463" cy="300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017027"/>
              </p:ext>
            </p:extLst>
          </p:nvPr>
        </p:nvGraphicFramePr>
        <p:xfrm>
          <a:off x="1826857" y="2707191"/>
          <a:ext cx="181997" cy="24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200" imgH="101600" progId="Equation.3">
                  <p:embed/>
                </p:oleObj>
              </mc:Choice>
              <mc:Fallback>
                <p:oleObj name="Equation" r:id="rId8" imgW="76200" imgH="101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6857" y="2707191"/>
                        <a:ext cx="181997" cy="242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802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807" y="0"/>
            <a:ext cx="8519685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IV. Confidence Interval for the Population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9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736238"/>
              </p:ext>
            </p:extLst>
          </p:nvPr>
        </p:nvGraphicFramePr>
        <p:xfrm>
          <a:off x="996950" y="1471613"/>
          <a:ext cx="7119938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16500" imgH="2082800" progId="Equation.DSMT4">
                  <p:embed/>
                </p:oleObj>
              </mc:Choice>
              <mc:Fallback>
                <p:oleObj name="Equation" r:id="rId3" imgW="5016500" imgH="208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471613"/>
                        <a:ext cx="7119938" cy="2944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984086" y="3997629"/>
            <a:ext cx="3148959" cy="45328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28600" y="838200"/>
            <a:ext cx="39742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/>
                <a:cs typeface="Times New Roman"/>
              </a:rPr>
              <a:t>Hypothesis test for population mean: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00807" y="4611604"/>
            <a:ext cx="5326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/>
                <a:cs typeface="Times New Roman"/>
              </a:rPr>
              <a:t>Therefore, can construct a CI for population mean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813672"/>
              </p:ext>
            </p:extLst>
          </p:nvPr>
        </p:nvGraphicFramePr>
        <p:xfrm>
          <a:off x="529917" y="1197007"/>
          <a:ext cx="3371630" cy="444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8800" imgH="241300" progId="Equation.DSMT4">
                  <p:embed/>
                </p:oleObj>
              </mc:Choice>
              <mc:Fallback>
                <p:oleObj name="Equation" r:id="rId5" imgW="1828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17" y="1197007"/>
                        <a:ext cx="3371630" cy="444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687652"/>
              </p:ext>
            </p:extLst>
          </p:nvPr>
        </p:nvGraphicFramePr>
        <p:xfrm>
          <a:off x="3586542" y="2959100"/>
          <a:ext cx="194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54000" progId="Equation.3">
                  <p:embed/>
                </p:oleObj>
              </mc:Choice>
              <mc:Fallback>
                <p:oleObj name="Equation" r:id="rId7" imgW="1143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542" y="2959100"/>
                        <a:ext cx="1943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Curved Connector 15"/>
          <p:cNvCxnSpPr>
            <a:stCxn id="9" idx="3"/>
          </p:cNvCxnSpPr>
          <p:nvPr/>
        </p:nvCxnSpPr>
        <p:spPr>
          <a:xfrm flipV="1">
            <a:off x="5627230" y="4350884"/>
            <a:ext cx="598950" cy="460775"/>
          </a:xfrm>
          <a:prstGeom prst="curvedConnector3">
            <a:avLst>
              <a:gd name="adj1" fmla="val 239515"/>
            </a:avLst>
          </a:prstGeom>
          <a:ln>
            <a:solidFill>
              <a:schemeClr val="tx1"/>
            </a:solidFill>
            <a:headEnd type="none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/>
          <p:nvPr/>
        </p:nvCxnSpPr>
        <p:spPr>
          <a:xfrm rot="5400000">
            <a:off x="4388632" y="2332225"/>
            <a:ext cx="989079" cy="460784"/>
          </a:xfrm>
          <a:prstGeom prst="curvedConnector3">
            <a:avLst>
              <a:gd name="adj1" fmla="val -4546"/>
            </a:avLst>
          </a:prstGeom>
          <a:ln>
            <a:solidFill>
              <a:schemeClr val="tx1"/>
            </a:solidFill>
            <a:headEnd type="none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4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Population Mean CI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2688"/>
            <a:ext cx="8229600" cy="383457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sz="2400" u="sng" dirty="0">
                <a:latin typeface="Times New Roman"/>
                <a:cs typeface="Times New Roman"/>
              </a:rPr>
              <a:t>95% CI for </a:t>
            </a:r>
            <a:r>
              <a:rPr lang="en-US" sz="2400" i="1" u="sng" dirty="0" err="1">
                <a:latin typeface="Times New Roman"/>
                <a:cs typeface="Times New Roman"/>
              </a:rPr>
              <a:t>μ</a:t>
            </a:r>
            <a:r>
              <a:rPr lang="en-US" sz="2400" i="1" u="sng" baseline="-25000" dirty="0" err="1">
                <a:latin typeface="Times New Roman"/>
                <a:cs typeface="Times New Roman"/>
              </a:rPr>
              <a:t>HR</a:t>
            </a:r>
            <a:r>
              <a:rPr lang="en-US" sz="2400" u="sng" dirty="0">
                <a:latin typeface="Times New Roman"/>
                <a:cs typeface="Times New Roman"/>
              </a:rPr>
              <a:t> for BME 423 students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10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13128"/>
              </p:ext>
            </p:extLst>
          </p:nvPr>
        </p:nvGraphicFramePr>
        <p:xfrm>
          <a:off x="1428750" y="1709738"/>
          <a:ext cx="62865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760" imgH="241200" progId="Equation.DSMT4">
                  <p:embed/>
                </p:oleObj>
              </mc:Choice>
              <mc:Fallback>
                <p:oleObj name="Equation" r:id="rId3" imgW="4190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709738"/>
                        <a:ext cx="62865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624575"/>
              </p:ext>
            </p:extLst>
          </p:nvPr>
        </p:nvGraphicFramePr>
        <p:xfrm>
          <a:off x="1276350" y="2325688"/>
          <a:ext cx="6591300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94160" imgH="1612800" progId="Equation.DSMT4">
                  <p:embed/>
                </p:oleObj>
              </mc:Choice>
              <mc:Fallback>
                <p:oleObj name="Equation" r:id="rId5" imgW="4394160" imgH="161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2325688"/>
                        <a:ext cx="6591300" cy="2419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9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Size of Difference between two Proportions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11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127251"/>
              </p:ext>
            </p:extLst>
          </p:nvPr>
        </p:nvGraphicFramePr>
        <p:xfrm>
          <a:off x="167782" y="1554228"/>
          <a:ext cx="4686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24200" imgH="533400" progId="Equation.DSMT4">
                  <p:embed/>
                </p:oleObj>
              </mc:Choice>
              <mc:Fallback>
                <p:oleObj name="Equation" r:id="rId3" imgW="31242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82" y="1554228"/>
                        <a:ext cx="46863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045359"/>
              </p:ext>
            </p:extLst>
          </p:nvPr>
        </p:nvGraphicFramePr>
        <p:xfrm>
          <a:off x="2464401" y="2850714"/>
          <a:ext cx="3735070" cy="41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7100" imgH="241300" progId="Equation.DSMT4">
                  <p:embed/>
                </p:oleObj>
              </mc:Choice>
              <mc:Fallback>
                <p:oleObj name="Equation" r:id="rId5" imgW="2197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401" y="2850714"/>
                        <a:ext cx="3735070" cy="4102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228600" y="2458548"/>
            <a:ext cx="5026655" cy="382140"/>
            <a:chOff x="685800" y="3481388"/>
            <a:chExt cx="5026655" cy="382140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85800" y="3481388"/>
              <a:ext cx="359755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Times New Roman"/>
                  <a:cs typeface="Times New Roman"/>
                </a:rPr>
                <a:t>95% of the values of </a:t>
              </a:r>
              <a:r>
                <a:rPr lang="en-US" sz="1600" i="1" dirty="0">
                  <a:latin typeface="Times New Roman"/>
                  <a:cs typeface="Times New Roman"/>
                </a:rPr>
                <a:t>z</a:t>
              </a:r>
              <a:r>
                <a:rPr lang="en-US" sz="1600" dirty="0">
                  <a:latin typeface="Times New Roman"/>
                  <a:cs typeface="Times New Roman"/>
                </a:rPr>
                <a:t> fall in the interval:</a:t>
              </a:r>
              <a:endParaRPr lang="en-US" sz="1600" u="sng" dirty="0">
                <a:latin typeface="Times New Roman"/>
                <a:cs typeface="Times New Roman"/>
              </a:endParaRPr>
            </a:p>
          </p:txBody>
        </p:sp>
        <p:graphicFrame>
          <p:nvGraphicFramePr>
            <p:cNvPr id="1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9118448"/>
                </p:ext>
              </p:extLst>
            </p:nvPr>
          </p:nvGraphicFramePr>
          <p:xfrm>
            <a:off x="4207505" y="3482528"/>
            <a:ext cx="15049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03300" imgH="254000" progId="Equation.3">
                    <p:embed/>
                  </p:oleObj>
                </mc:Choice>
                <mc:Fallback>
                  <p:oleObj name="Equation" r:id="rId7" imgW="1003300" imgH="254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7505" y="3482528"/>
                          <a:ext cx="15049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831273" y="4055055"/>
            <a:ext cx="7377004" cy="914400"/>
            <a:chOff x="831273" y="4055055"/>
            <a:chExt cx="7377004" cy="914400"/>
          </a:xfrm>
        </p:grpSpPr>
        <p:graphicFrame>
          <p:nvGraphicFramePr>
            <p:cNvPr id="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913684"/>
                </p:ext>
              </p:extLst>
            </p:nvPr>
          </p:nvGraphicFramePr>
          <p:xfrm>
            <a:off x="887575" y="4172530"/>
            <a:ext cx="7264400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251200" imgH="304800" progId="Equation.DSMT4">
                    <p:embed/>
                  </p:oleObj>
                </mc:Choice>
                <mc:Fallback>
                  <p:oleObj name="Equation" r:id="rId9" imgW="3251200" imgH="304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7575" y="4172530"/>
                          <a:ext cx="7264400" cy="679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831273" y="4055055"/>
              <a:ext cx="7377004" cy="9144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23807"/>
              </p:ext>
            </p:extLst>
          </p:nvPr>
        </p:nvGraphicFramePr>
        <p:xfrm>
          <a:off x="1592127" y="1021374"/>
          <a:ext cx="11620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74700" imgH="241300" progId="Equation.DSMT4">
                  <p:embed/>
                </p:oleObj>
              </mc:Choice>
              <mc:Fallback>
                <p:oleObj name="Equation" r:id="rId11" imgW="7747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127" y="1021374"/>
                        <a:ext cx="11620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11693" y="3507585"/>
            <a:ext cx="9213125" cy="418379"/>
            <a:chOff x="138688" y="3715395"/>
            <a:chExt cx="9213125" cy="418379"/>
          </a:xfrm>
        </p:grpSpPr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138688" y="3730143"/>
              <a:ext cx="301717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latin typeface="Times New Roman"/>
                  <a:cs typeface="Times New Roman"/>
                </a:rPr>
                <a:t>In General, </a:t>
              </a:r>
              <a:r>
                <a:rPr lang="en-US" dirty="0">
                  <a:latin typeface="Times New Roman"/>
                  <a:cs typeface="Times New Roman"/>
                </a:rPr>
                <a:t>100 (1-α)% CI for </a:t>
              </a:r>
              <a:endParaRPr lang="en-US" u="sng" dirty="0">
                <a:latin typeface="Times New Roman"/>
                <a:cs typeface="Times New Roman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3055217" y="3715395"/>
              <a:ext cx="6296596" cy="418379"/>
              <a:chOff x="3207623" y="3740796"/>
              <a:chExt cx="6296596" cy="418379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3207623" y="3740796"/>
                <a:ext cx="5852160" cy="41837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/>
                  <a:cs typeface="Times New Roman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3243185" y="3753473"/>
                <a:ext cx="6261034" cy="393025"/>
                <a:chOff x="3256575" y="3773357"/>
                <a:chExt cx="6261034" cy="393025"/>
              </a:xfrm>
            </p:grpSpPr>
            <p:graphicFrame>
              <p:nvGraphicFramePr>
                <p:cNvPr id="13" name="Object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5925540"/>
                    </p:ext>
                  </p:extLst>
                </p:nvPr>
              </p:nvGraphicFramePr>
              <p:xfrm>
                <a:off x="3256575" y="3777444"/>
                <a:ext cx="914400" cy="3889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3" imgW="596880" imgH="253800" progId="Equation.DSMT4">
                        <p:embed/>
                      </p:oleObj>
                    </mc:Choice>
                    <mc:Fallback>
                      <p:oleObj name="Equation" r:id="rId13" imgW="596880" imgH="2538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56575" y="3777444"/>
                              <a:ext cx="914400" cy="3889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=""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=""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=""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" name="TextBox 15"/>
                <p:cNvSpPr txBox="1"/>
                <p:nvPr/>
              </p:nvSpPr>
              <p:spPr>
                <a:xfrm>
                  <a:off x="4062514" y="3773357"/>
                  <a:ext cx="5455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/>
                      <a:cs typeface="Times New Roman"/>
                    </a:rPr>
                    <a:t>, the true difference of proportions of the populations  is:</a:t>
                  </a:r>
                </a:p>
              </p:txBody>
            </p:sp>
          </p:grpSp>
        </p:grpSp>
      </p:grpSp>
      <p:grpSp>
        <p:nvGrpSpPr>
          <p:cNvPr id="21" name="Group 20"/>
          <p:cNvGrpSpPr/>
          <p:nvPr/>
        </p:nvGrpSpPr>
        <p:grpSpPr>
          <a:xfrm>
            <a:off x="5532709" y="1358928"/>
            <a:ext cx="3470202" cy="844350"/>
            <a:chOff x="5398147" y="2310787"/>
            <a:chExt cx="3470202" cy="844350"/>
          </a:xfrm>
        </p:grpSpPr>
        <p:graphicFrame>
          <p:nvGraphicFramePr>
            <p:cNvPr id="1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488184"/>
                </p:ext>
              </p:extLst>
            </p:nvPr>
          </p:nvGraphicFramePr>
          <p:xfrm>
            <a:off x="5398147" y="2645485"/>
            <a:ext cx="851796" cy="4748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74360" imgH="431640" progId="Equation.DSMT4">
                    <p:embed/>
                  </p:oleObj>
                </mc:Choice>
                <mc:Fallback>
                  <p:oleObj name="Equation" r:id="rId15" imgW="7743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8147" y="2645485"/>
                          <a:ext cx="851796" cy="4748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8658411"/>
                </p:ext>
              </p:extLst>
            </p:nvPr>
          </p:nvGraphicFramePr>
          <p:xfrm>
            <a:off x="7681141" y="2610637"/>
            <a:ext cx="1187208" cy="5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079280" imgH="495000" progId="Equation.DSMT4">
                    <p:embed/>
                  </p:oleObj>
                </mc:Choice>
                <mc:Fallback>
                  <p:oleObj name="Equation" r:id="rId17" imgW="107928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1141" y="2610637"/>
                          <a:ext cx="1187208" cy="5445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767224"/>
                </p:ext>
              </p:extLst>
            </p:nvPr>
          </p:nvGraphicFramePr>
          <p:xfrm>
            <a:off x="6490768" y="2743248"/>
            <a:ext cx="949548" cy="279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63225" imgH="253890" progId="Equation.DSMT4">
                    <p:embed/>
                  </p:oleObj>
                </mc:Choice>
                <mc:Fallback>
                  <p:oleObj name="Equation" r:id="rId19" imgW="863225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0768" y="2743248"/>
                          <a:ext cx="949548" cy="27927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6448115" y="2310787"/>
              <a:ext cx="10820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Times New Roman"/>
                  <a:cs typeface="Times New Roman"/>
                </a:rPr>
                <a:t>Remember:</a:t>
              </a:r>
            </a:p>
          </p:txBody>
        </p:sp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28600" y="699484"/>
            <a:ext cx="3889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/>
                <a:cs typeface="Times New Roman"/>
              </a:rPr>
              <a:t>Hypothesis test for two proportions: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82459"/>
              </p:ext>
            </p:extLst>
          </p:nvPr>
        </p:nvGraphicFramePr>
        <p:xfrm>
          <a:off x="1488600" y="3647623"/>
          <a:ext cx="174170" cy="232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200" imgH="101600" progId="Equation.3">
                  <p:embed/>
                </p:oleObj>
              </mc:Choice>
              <mc:Fallback>
                <p:oleObj name="Equation" r:id="rId21" imgW="76200" imgH="101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88600" y="3647623"/>
                        <a:ext cx="174170" cy="232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86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(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baseline="-25000" dirty="0">
                <a:latin typeface="Times New Roman"/>
                <a:cs typeface="Times New Roman"/>
              </a:rPr>
              <a:t>1</a:t>
            </a:r>
            <a:r>
              <a:rPr lang="en-US" sz="2800" dirty="0">
                <a:latin typeface="Times New Roman"/>
                <a:cs typeface="Times New Roman"/>
              </a:rPr>
              <a:t> – </a:t>
            </a:r>
            <a:r>
              <a:rPr lang="en-US" sz="2800" i="1" dirty="0">
                <a:latin typeface="Times New Roman"/>
                <a:cs typeface="Times New Roman"/>
              </a:rPr>
              <a:t>p</a:t>
            </a:r>
            <a:r>
              <a:rPr lang="en-US" sz="2800" baseline="-25000" dirty="0">
                <a:latin typeface="Times New Roman"/>
                <a:cs typeface="Times New Roman"/>
              </a:rPr>
              <a:t>2</a:t>
            </a:r>
            <a:r>
              <a:rPr lang="en-US" sz="2800" dirty="0">
                <a:latin typeface="Times New Roman"/>
                <a:cs typeface="Times New Roman"/>
              </a:rPr>
              <a:t>) Confidence Interval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9207"/>
            <a:ext cx="8229600" cy="339447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sz="2000" u="sng" dirty="0">
                <a:latin typeface="Times New Roman"/>
                <a:cs typeface="Times New Roman"/>
              </a:rPr>
              <a:t>Incidence of Thrombosis with Aspirin versus Placebo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12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091143"/>
              </p:ext>
            </p:extLst>
          </p:nvPr>
        </p:nvGraphicFramePr>
        <p:xfrm>
          <a:off x="2024063" y="3017838"/>
          <a:ext cx="5097462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749300" progId="Equation.DSMT4">
                  <p:embed/>
                </p:oleObj>
              </mc:Choice>
              <mc:Fallback>
                <p:oleObj name="Equation" r:id="rId3" imgW="28321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3017838"/>
                        <a:ext cx="5097462" cy="1347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143000" y="1211263"/>
            <a:ext cx="3471863" cy="1213934"/>
            <a:chOff x="1143000" y="1303623"/>
            <a:chExt cx="3471863" cy="1213934"/>
          </a:xfrm>
        </p:grpSpPr>
        <p:graphicFrame>
          <p:nvGraphicFramePr>
            <p:cNvPr id="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439153"/>
                </p:ext>
              </p:extLst>
            </p:nvPr>
          </p:nvGraphicFramePr>
          <p:xfrm>
            <a:off x="2233613" y="1303623"/>
            <a:ext cx="2362200" cy="628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74800" imgH="419100" progId="Equation.DSMT4">
                    <p:embed/>
                  </p:oleObj>
                </mc:Choice>
                <mc:Fallback>
                  <p:oleObj name="Equation" r:id="rId5" imgW="15748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613" y="1303623"/>
                          <a:ext cx="2362200" cy="628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0926498"/>
                </p:ext>
              </p:extLst>
            </p:nvPr>
          </p:nvGraphicFramePr>
          <p:xfrm>
            <a:off x="2233613" y="1888907"/>
            <a:ext cx="2381250" cy="628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87500" imgH="419100" progId="Equation.DSMT4">
                    <p:embed/>
                  </p:oleObj>
                </mc:Choice>
                <mc:Fallback>
                  <p:oleObj name="Equation" r:id="rId7" imgW="15875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613" y="1888907"/>
                          <a:ext cx="2381250" cy="628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1143000" y="1433794"/>
              <a:ext cx="915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Times New Roman"/>
                  <a:cs typeface="Times New Roman"/>
                </a:rPr>
                <a:t>Placebo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143000" y="2020667"/>
              <a:ext cx="882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Times New Roman"/>
                  <a:cs typeface="Times New Roman"/>
                </a:rPr>
                <a:t>Aspirin</a:t>
              </a:r>
            </a:p>
          </p:txBody>
        </p:sp>
      </p:grp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744220" y="4462468"/>
            <a:ext cx="56653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Times New Roman"/>
                <a:cs typeface="Times New Roman"/>
              </a:rPr>
              <a:t>95% confident that aspirin reduces incidence of thrombosis</a:t>
            </a:r>
          </a:p>
          <a:p>
            <a:pPr eaLnBrk="1" hangingPunct="1"/>
            <a:r>
              <a:rPr lang="en-US" dirty="0">
                <a:latin typeface="Times New Roman"/>
                <a:cs typeface="Times New Roman"/>
              </a:rPr>
              <a:t>between 11% and 69% compared to placebo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339393"/>
              </p:ext>
            </p:extLst>
          </p:nvPr>
        </p:nvGraphicFramePr>
        <p:xfrm>
          <a:off x="5699124" y="1575761"/>
          <a:ext cx="1338444" cy="43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253800" progId="Equation.DSMT4">
                  <p:embed/>
                </p:oleObj>
              </mc:Choice>
              <mc:Fallback>
                <p:oleObj name="Equation" r:id="rId9" imgW="787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4" y="1575761"/>
                        <a:ext cx="1338444" cy="431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541384"/>
              </p:ext>
            </p:extLst>
          </p:nvPr>
        </p:nvGraphicFramePr>
        <p:xfrm>
          <a:off x="1488323" y="2429457"/>
          <a:ext cx="617220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9000" imgH="304800" progId="Equation.DSMT4">
                  <p:embed/>
                </p:oleObj>
              </mc:Choice>
              <mc:Fallback>
                <p:oleObj name="Equation" r:id="rId11" imgW="34290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323" y="2429457"/>
                        <a:ext cx="6172200" cy="548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505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VI. CI for the Population Proportion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13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228600" y="635000"/>
            <a:ext cx="5360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/>
                <a:cs typeface="Times New Roman"/>
              </a:rPr>
              <a:t>Hypothesis test for population proportion: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797572"/>
              </p:ext>
            </p:extLst>
          </p:nvPr>
        </p:nvGraphicFramePr>
        <p:xfrm>
          <a:off x="1806314" y="1582738"/>
          <a:ext cx="5281612" cy="292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01920" imgH="1828800" progId="Equation.DSMT4">
                  <p:embed/>
                </p:oleObj>
              </mc:Choice>
              <mc:Fallback>
                <p:oleObj name="Equation" r:id="rId3" imgW="330192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314" y="1582738"/>
                        <a:ext cx="5281612" cy="292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794000" y="4016665"/>
            <a:ext cx="3291417" cy="4651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505614"/>
              </p:ext>
            </p:extLst>
          </p:nvPr>
        </p:nvGraphicFramePr>
        <p:xfrm>
          <a:off x="1803400" y="1112838"/>
          <a:ext cx="13525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266400" progId="Equation.DSMT4">
                  <p:embed/>
                </p:oleObj>
              </mc:Choice>
              <mc:Fallback>
                <p:oleObj name="Equation" r:id="rId5" imgW="9014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1112838"/>
                        <a:ext cx="13525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92706" y="4673353"/>
            <a:ext cx="7555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/>
                <a:cs typeface="Times New Roman"/>
              </a:rPr>
              <a:t>Therefore, can construct a CI for true population proportion</a:t>
            </a:r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6136014" y="4185734"/>
            <a:ext cx="440276" cy="566052"/>
          </a:xfrm>
          <a:prstGeom prst="curvedConnector3">
            <a:avLst>
              <a:gd name="adj1" fmla="val -102095"/>
            </a:avLst>
          </a:prstGeom>
          <a:ln>
            <a:solidFill>
              <a:schemeClr val="tx1"/>
            </a:solidFill>
            <a:headEnd type="none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7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171A-999F-16B8-F703-71DD7C27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F325-E56A-F730-72F6-B3B8C611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Example CI for the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AC408-170E-4464-F351-10D244DD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14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1DC239-52C7-623C-12FF-59F7F0755D35}"/>
              </a:ext>
            </a:extLst>
          </p:cNvPr>
          <p:cNvSpPr txBox="1"/>
          <p:nvPr/>
        </p:nvSpPr>
        <p:spPr>
          <a:xfrm>
            <a:off x="241300" y="768350"/>
            <a:ext cx="84455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One question on a survey of college students was “Did you take a non-prescribed stimulant  in the last year?” Of the 500 students who responded, 177 said “yes.” </a:t>
            </a:r>
          </a:p>
          <a:p>
            <a:pPr marL="0" marR="0">
              <a:buNone/>
            </a:pPr>
            <a:endParaRPr lang="en-US" sz="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0">
              <a:spcBef>
                <a:spcPts val="300"/>
              </a:spcBef>
            </a:pPr>
            <a:r>
              <a:rPr lang="en-US" sz="20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Is the proportion of students who took stimulants non-medically in the last year significantly different from 0.5?</a:t>
            </a:r>
            <a:endParaRPr lang="en-US" sz="20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F3556-49AE-7424-DDBC-07DC451722FE}"/>
                  </a:ext>
                </a:extLst>
              </p:cNvPr>
              <p:cNvSpPr txBox="1"/>
              <p:nvPr/>
            </p:nvSpPr>
            <p:spPr>
              <a:xfrm>
                <a:off x="0" y="2551426"/>
                <a:ext cx="9144000" cy="1615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</m:t>
                      </m:r>
                      <m:acc>
                        <m:accPr>
                          <m:chr m:val="̂"/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2000" dirty="0">
                  <a:effectLst/>
                  <a:latin typeface="+mn-lt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n-US" sz="2000" dirty="0">
                    <a:effectLst/>
                    <a:latin typeface="+mn-lt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>
                  <a:buNone/>
                </a:pPr>
                <a:r>
                  <a:rPr lang="en-US" sz="2000" dirty="0">
                    <a:effectLst/>
                    <a:latin typeface="+mn-lt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177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500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=0.354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acc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MS Mincho" panose="02020609040205080304" pitchFamily="49" charset="-128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  <m:t>0.354</m:t>
                            </m:r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MS Mincho" panose="02020609040205080304" pitchFamily="49" charset="-128"/>
                                    <a:cs typeface="Times New Roman" panose="02020603050405020304" pitchFamily="18" charset="0"/>
                                  </a:rPr>
                                  <m:t>1−0.354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  <a:cs typeface="Times New Roman" panose="02020603050405020304" pitchFamily="18" charset="0"/>
                              </a:rPr>
                              <m:t>500</m:t>
                            </m:r>
                          </m:den>
                        </m:f>
                      </m:e>
                    </m:ra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=0.021386</m:t>
                    </m:r>
                  </m:oMath>
                </a14:m>
                <a:endParaRPr lang="en-US" sz="14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F3556-49AE-7424-DDBC-07DC45172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51426"/>
                <a:ext cx="9144000" cy="16158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04BF0-5BDF-8247-7F81-068D2303CE1B}"/>
                  </a:ext>
                </a:extLst>
              </p:cNvPr>
              <p:cNvSpPr txBox="1"/>
              <p:nvPr/>
            </p:nvSpPr>
            <p:spPr>
              <a:xfrm>
                <a:off x="171450" y="4375150"/>
                <a:ext cx="8801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sz="2400" dirty="0">
                    <a:effectLst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</a:t>
                </a:r>
                <a:r>
                  <a:rPr lang="en-US" sz="2400" dirty="0">
                    <a:effectLst/>
                    <a:ea typeface="MS Mincho" panose="02020609040205080304" pitchFamily="49" charset="-128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sz="2400" dirty="0">
                    <a:effectLst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05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05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=1.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96</m:t>
                    </m:r>
                  </m:oMath>
                </a14:m>
                <a:r>
                  <a:rPr lang="en-US" sz="2400" dirty="0">
                    <a:effectLst/>
                    <a:ea typeface="MS Mincho" panose="02020609040205080304" pitchFamily="49" charset="-128"/>
                    <a:cs typeface="Times New Roman" panose="02020603050405020304" pitchFamily="18" charset="0"/>
                  </a:rPr>
                  <a:t> (from 2-tailed t table)</a:t>
                </a:r>
                <a:endParaRPr lang="en-US" sz="1600" dirty="0"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D04BF0-5BDF-8247-7F81-068D2303C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4375150"/>
                <a:ext cx="8801100" cy="461665"/>
              </a:xfrm>
              <a:prstGeom prst="rect">
                <a:avLst/>
              </a:prstGeom>
              <a:blipFill>
                <a:blip r:embed="rId4"/>
                <a:stretch>
                  <a:fillRect t="-1200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011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EAD3-80AF-A884-48AD-80BC5911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9662-6A0E-13DE-9567-32142504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Example CI for the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39B94-ADF2-3578-A8D0-65710E60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15</a:t>
            </a:fld>
            <a:endParaRPr lang="en-US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F59EBC-E5E7-0375-2023-0A4A056DFBA4}"/>
                  </a:ext>
                </a:extLst>
              </p:cNvPr>
              <p:cNvSpPr txBox="1"/>
              <p:nvPr/>
            </p:nvSpPr>
            <p:spPr>
              <a:xfrm>
                <a:off x="552450" y="1483667"/>
                <a:ext cx="8134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.354−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96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0.021386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&lt;0.354+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1.96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0.021386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F59EBC-E5E7-0375-2023-0A4A056DF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1483667"/>
                <a:ext cx="8134350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FF57F2-3549-A464-54DE-40FD8D8D6C8E}"/>
                  </a:ext>
                </a:extLst>
              </p:cNvPr>
              <p:cNvSpPr txBox="1"/>
              <p:nvPr/>
            </p:nvSpPr>
            <p:spPr>
              <a:xfrm>
                <a:off x="2197100" y="857250"/>
                <a:ext cx="4572000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</m:t>
                      </m:r>
                      <m:acc>
                        <m:accPr>
                          <m:chr m:val="̂"/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FF57F2-3549-A464-54DE-40FD8D8D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100" y="857250"/>
                <a:ext cx="4572000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F7065A-B322-E4DA-2962-842F8792A85D}"/>
                  </a:ext>
                </a:extLst>
              </p:cNvPr>
              <p:cNvSpPr txBox="1"/>
              <p:nvPr/>
            </p:nvSpPr>
            <p:spPr>
              <a:xfrm>
                <a:off x="101600" y="2226530"/>
                <a:ext cx="8794750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sz="2400" dirty="0">
                    <a:effectLst/>
                    <a:latin typeface="+mn-lt"/>
                    <a:ea typeface="MS Mincho" panose="02020609040205080304" pitchFamily="49" charset="-128"/>
                    <a:cs typeface="Times New Roman" panose="02020603050405020304" pitchFamily="18" charset="0"/>
                  </a:rPr>
                  <a:t>95% CI for proportion of college students who took stimulants non-medically in the last year</a:t>
                </a:r>
                <a:endParaRPr lang="en-US" sz="2400" dirty="0"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endParaRPr lang="en-US" sz="2400" dirty="0">
                  <a:effectLst/>
                  <a:latin typeface="+mn-lt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0.31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&lt;0.396</m:t>
                      </m:r>
                    </m:oMath>
                  </m:oMathPara>
                </a14:m>
                <a:endParaRPr lang="en-US" sz="2400" dirty="0">
                  <a:effectLst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n-US" sz="2400" dirty="0">
                    <a:effectLst/>
                    <a:latin typeface="+mn-lt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/>
                  <a:t>This 95% confidence interval </a:t>
                </a:r>
                <a:r>
                  <a:rPr lang="en-US" sz="2400" u="sng" dirty="0"/>
                  <a:t>does not</a:t>
                </a:r>
                <a:r>
                  <a:rPr lang="en-US" sz="2400" dirty="0"/>
                  <a:t> contain 0.5, so we are 95% confident that the true population proportion is different from 0.5.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F7065A-B322-E4DA-2962-842F8792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2226530"/>
                <a:ext cx="8794750" cy="2677656"/>
              </a:xfrm>
              <a:prstGeom prst="rect">
                <a:avLst/>
              </a:prstGeom>
              <a:blipFill>
                <a:blip r:embed="rId5"/>
                <a:stretch>
                  <a:fillRect l="-1110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04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1BE6-A05F-1CC4-972E-A428F218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3466-DA1A-D175-83E7-BB24C57D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Example CI for the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553E7-143D-58AA-946F-C2DDDC87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>
                <a:latin typeface="Times New Roman"/>
                <a:cs typeface="Times New Roman"/>
              </a:rPr>
              <a:t>16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AC2E0C34-25EF-C5A6-5B93-F25F9D754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12281"/>
            <a:ext cx="5360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/>
                <a:cs typeface="Times New Roman"/>
              </a:rPr>
              <a:t>Hypothesis test for population proportion: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DC5C0796-E659-E68D-23B6-06A2131082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037489"/>
              </p:ext>
            </p:extLst>
          </p:nvPr>
        </p:nvGraphicFramePr>
        <p:xfrm>
          <a:off x="1968301" y="1602872"/>
          <a:ext cx="4387850" cy="266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1663560" progId="Equation.DSMT4">
                  <p:embed/>
                </p:oleObj>
              </mc:Choice>
              <mc:Fallback>
                <p:oleObj name="Equation" r:id="rId3" imgW="2743200" imgH="166356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AC566973-8D3D-4F4F-C39E-E1308C230B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301" y="1602872"/>
                        <a:ext cx="4387850" cy="266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74878D4C-1253-36EF-794E-59A1F3823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983" y="3864265"/>
            <a:ext cx="3014134" cy="4651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490F55A3-7018-A7BC-4EBD-76E094118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830514"/>
              </p:ext>
            </p:extLst>
          </p:nvPr>
        </p:nvGraphicFramePr>
        <p:xfrm>
          <a:off x="1870075" y="1195388"/>
          <a:ext cx="12192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41200" progId="Equation.DSMT4">
                  <p:embed/>
                </p:oleObj>
              </mc:Choice>
              <mc:Fallback>
                <p:oleObj name="Equation" r:id="rId5" imgW="812520" imgH="24120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E7428BED-A0CA-B328-E6E4-0FFFE6F41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1195388"/>
                        <a:ext cx="12192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2EB7806A-23E3-EA2E-A911-E426EA029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06" y="4680874"/>
            <a:ext cx="74796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/>
                <a:cs typeface="Times New Roman"/>
              </a:rPr>
              <a:t>Therefore, can construct a CI for true population proportion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553EBCD5-762A-524F-BD97-62A42955B595}"/>
              </a:ext>
            </a:extLst>
          </p:cNvPr>
          <p:cNvCxnSpPr/>
          <p:nvPr/>
        </p:nvCxnSpPr>
        <p:spPr>
          <a:xfrm rot="10800000">
            <a:off x="5816496" y="4126396"/>
            <a:ext cx="440276" cy="566052"/>
          </a:xfrm>
          <a:prstGeom prst="curvedConnector3">
            <a:avLst>
              <a:gd name="adj1" fmla="val -102095"/>
            </a:avLst>
          </a:prstGeom>
          <a:ln>
            <a:solidFill>
              <a:schemeClr val="tx1"/>
            </a:solidFill>
            <a:headEnd type="none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535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D0A58-B7CF-E2F2-41DD-AF10BAFC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17</a:t>
            </a:fld>
            <a:endParaRPr lang="en-US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197836B-0769-662E-F186-9D4DDB0B7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89" y="0"/>
            <a:ext cx="37873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 Lecture 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A609F-7A18-9C2D-8527-A17F4F977782}"/>
              </a:ext>
            </a:extLst>
          </p:cNvPr>
          <p:cNvSpPr txBox="1"/>
          <p:nvPr/>
        </p:nvSpPr>
        <p:spPr>
          <a:xfrm>
            <a:off x="533400" y="856601"/>
            <a:ext cx="795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 drug is purported to reduce fasting blood glucose levels in pre-diabetic patients.</a:t>
            </a: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In a trial of 1700 subjects, the following results were obtained.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B55CD81B-C9FC-E3E5-5EEC-91FE22D1A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696" y="1468490"/>
            <a:ext cx="45320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u="sng" dirty="0">
                <a:latin typeface="Times New Roman"/>
                <a:cs typeface="Times New Roman"/>
              </a:rPr>
              <a:t>Plasma Glucose with Placebo versus Drug</a:t>
            </a:r>
          </a:p>
        </p:txBody>
      </p:sp>
      <p:graphicFrame>
        <p:nvGraphicFramePr>
          <p:cNvPr id="11" name="Object 19">
            <a:extLst>
              <a:ext uri="{FF2B5EF4-FFF2-40B4-BE49-F238E27FC236}">
                <a16:creationId xmlns:a16="http://schemas.microsoft.com/office/drawing/2014/main" id="{119516E7-9C55-5294-5B79-6EE90F735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5" y="2295525"/>
          <a:ext cx="44926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000" imgH="241200" progId="Equation.DSMT4">
                  <p:embed/>
                </p:oleObj>
              </mc:Choice>
              <mc:Fallback>
                <p:oleObj name="Equation" r:id="rId2" imgW="2997000" imgH="241200" progId="Equation.DSMT4">
                  <p:embed/>
                  <p:pic>
                    <p:nvPicPr>
                      <p:cNvPr id="16" name="Object 19">
                        <a:extLst>
                          <a:ext uri="{FF2B5EF4-FFF2-40B4-BE49-F238E27FC236}">
                            <a16:creationId xmlns:a16="http://schemas.microsoft.com/office/drawing/2014/main" id="{55A66529-225B-21B5-6243-F30984F09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2295525"/>
                        <a:ext cx="44926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FD75BC7-3C1E-2FE6-82A9-EF2152B91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2182" y="1899490"/>
          <a:ext cx="44545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54737" imgH="362679" progId="Equation.DSMT4">
                  <p:embed/>
                </p:oleObj>
              </mc:Choice>
              <mc:Fallback>
                <p:oleObj name="Equation" r:id="rId4" imgW="4454737" imgH="362679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3C04619E-B70C-8D6D-8E5D-8BF99CF2E1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2182" y="1899490"/>
                        <a:ext cx="4454525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991EC7F-7EF4-F239-D3A4-20942FBBDBF2}"/>
              </a:ext>
            </a:extLst>
          </p:cNvPr>
          <p:cNvSpPr txBox="1"/>
          <p:nvPr/>
        </p:nvSpPr>
        <p:spPr>
          <a:xfrm>
            <a:off x="457200" y="2790395"/>
            <a:ext cx="7702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300"/>
              </a:spcBef>
              <a:buFont typeface="+mj-lt"/>
              <a:buAutoNum type="alphaLcParenR"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Compute the 95% confidence interval for the population difference in mean fasting blood glucose levels between the </a:t>
            </a:r>
            <a:r>
              <a:rPr lang="en-US" dirty="0">
                <a:ea typeface="MS Mincho" panose="02020609040205080304" pitchFamily="49" charset="-128"/>
                <a:cs typeface="Times New Roman" panose="02020603050405020304" pitchFamily="18" charset="0"/>
              </a:rPr>
              <a:t>placebo and 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drug groups.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A4BF9-5B25-76FA-184E-C0269800CCF6}"/>
              </a:ext>
            </a:extLst>
          </p:cNvPr>
          <p:cNvSpPr txBox="1"/>
          <p:nvPr/>
        </p:nvSpPr>
        <p:spPr>
          <a:xfrm>
            <a:off x="457200" y="3550838"/>
            <a:ext cx="779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</a:rPr>
              <a:t> b)  Is there a statistically significant difference between the two groups </a:t>
            </a:r>
          </a:p>
          <a:p>
            <a:r>
              <a:rPr lang="en-US" dirty="0">
                <a:ea typeface="MS Mincho" panose="02020609040205080304" pitchFamily="49" charset="-128"/>
              </a:rPr>
              <a:t>      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</a:rPr>
              <a:t>at a significance level of 0.05? Answer this question without doing a t test.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95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1755</TotalTime>
  <Words>706</Words>
  <Application>Microsoft Office PowerPoint</Application>
  <PresentationFormat>On-screen Show (16:9)</PresentationFormat>
  <Paragraphs>115</Paragraphs>
  <Slides>17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MS Mincho</vt:lpstr>
      <vt:lpstr>Arial</vt:lpstr>
      <vt:lpstr>Calibri</vt:lpstr>
      <vt:lpstr>Cambria</vt:lpstr>
      <vt:lpstr>Cambria Math</vt:lpstr>
      <vt:lpstr>Times New Roman</vt:lpstr>
      <vt:lpstr>Office Theme</vt:lpstr>
      <vt:lpstr>Equation</vt:lpstr>
      <vt:lpstr>PowerPoint Presentation</vt:lpstr>
      <vt:lpstr>I. Size of Difference between Two Means</vt:lpstr>
      <vt:lpstr>t-Distribution Under H0</vt:lpstr>
      <vt:lpstr>t-Distribution When μ1 ≠ μ2 </vt:lpstr>
      <vt:lpstr>Confidence Interval for (μ1 – μ2)</vt:lpstr>
      <vt:lpstr>(μ1 – μ2) Confidence Interval Example</vt:lpstr>
      <vt:lpstr>II. What does Confidence Interval mean?</vt:lpstr>
      <vt:lpstr>III. Use of CI to Test Null Hypothesis</vt:lpstr>
      <vt:lpstr>IV. Confidence Interval for the Population Mean</vt:lpstr>
      <vt:lpstr>Population Mean CI Example </vt:lpstr>
      <vt:lpstr>V. Size of Difference between two Proportions</vt:lpstr>
      <vt:lpstr>(p1 – p2) Confidence Interval Example</vt:lpstr>
      <vt:lpstr>VI. CI for the Population Proportion</vt:lpstr>
      <vt:lpstr>Example CI for the Population Proportion</vt:lpstr>
      <vt:lpstr>Example CI for the Population Proportion</vt:lpstr>
      <vt:lpstr>Example CI for the Population Proportion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DZD</cp:lastModifiedBy>
  <cp:revision>271</cp:revision>
  <dcterms:created xsi:type="dcterms:W3CDTF">2010-04-12T23:12:02Z</dcterms:created>
  <dcterms:modified xsi:type="dcterms:W3CDTF">2026-10-19T16:27:30Z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