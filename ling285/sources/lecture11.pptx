
<file path=[Content_Types].xml><?xml version="1.0" encoding="utf-8"?>
<Types xmlns="http://schemas.openxmlformats.org/package/2006/content-types">
  <Default Extension="jpeg" ContentType="image/jpeg"/>
  <Default Extension="mp4" ContentType="video/mp4"/>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423" r:id="rId6"/>
    <p:sldId id="260" r:id="rId7"/>
    <p:sldId id="261" r:id="rId8"/>
    <p:sldId id="262" r:id="rId9"/>
    <p:sldId id="263" r:id="rId10"/>
    <p:sldId id="422" r:id="rId11"/>
    <p:sldId id="264" r:id="rId1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7FFF9"/>
    <a:srgbClr val="DDFFEE"/>
    <a:srgbClr val="EBEBEB"/>
    <a:srgbClr val="B8B618"/>
    <a:srgbClr val="F6A79E"/>
    <a:srgbClr val="FFD0D9"/>
    <a:srgbClr val="FFEFF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31348"/>
    <p:restoredTop sz="94744"/>
  </p:normalViewPr>
  <p:slideViewPr>
    <p:cSldViewPr snapToGrid="0">
      <p:cViewPr varScale="1">
        <p:scale>
          <a:sx n="96" d="100"/>
          <a:sy n="96" d="100"/>
        </p:scale>
        <p:origin x="192" y="6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FB4B262-1B8B-4A4C-819C-0B7118916BFD}" type="datetimeFigureOut">
              <a:t>10/6/26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78C66DEC-9F58-194B-86B9-A0870E5C215A}" type="slidenum">
              <a:t>‹#›</a:t>
            </a:fld>
            <a:endParaRPr lang="en-US"/>
          </a:p>
        </p:txBody>
      </p:sp>
    </p:spTree>
    <p:extLst>
      <p:ext uri="{BB962C8B-B14F-4D97-AF65-F5344CB8AC3E}">
        <p14:creationId xmlns:p14="http://schemas.microsoft.com/office/powerpoint/2010/main" val="152654933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The transverse panel appears automatically after 3 seconds.</a:t>
            </a: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r>
              <a:t>MODEL: Single longitudinal spring has total stiffness K. Each of the two pre-tensioned transverse segments has small-displacement restoring coefficient K/2, giving equal total stiffness and matching 0.5 Hz motion. No damping. Transverse amplitudes are visually enlarged; this is the linearized idealization, not a finite-amplitude zero-tension spring model.</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r>
              <a:t>All three rows run simultaneously. Reference: m, K, f=0.5 Hz. Larger mass: 4m, K, f=0.25 Hz. Stiffer system: m, 4K, f=1 Hz. f=(1/2pi)sqrt(K/m). K is total stiffness in the displayed motion direction. On the transverse side K comes from pre-tension and geometry; increasing axial spring constant alone at unchanged tension would not necessarily raise transverse frequency. Thick springs schematically indicate larger effective restoring stiffness. Blocks on a frictionless table, undamped motion.</a:t>
            </a:r>
          </a:p>
        </p:txBody>
      </p:sp>
      <p:sp>
        <p:nvSpPr>
          <p:cNvPr id="4" name="Slide Number Placeholder 3"/>
          <p:cNvSpPr>
            <a:spLocks noGrp="1"/>
          </p:cNvSpPr>
          <p:nvPr>
            <p:ph type="sldNum" sz="quarter" idx="5"/>
          </p:nvPr>
        </p:nvSpPr>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Both systems now have FIXED ENDS and three equal coupling elements. In the longitudinal chain, K=k[[2,-1],[-1,2]]. For the transverse chain each pre-tensioned segment has matching linearized transverse coupling T/l=k. Mode 1 is (1,1), frequency 0.4 Hz. Mode 2 is (1,-1), frequency sqrt(3)*0.4 Hz. Bottom row is the exact sum of the two cosines, each with reduced display amplitude to avoid overlap. Colors identify masses. There is no single normal-mode frequency for the mixed row.</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Both chains have three equal masses, four equal coupling elements, and FIXED ENDS. Eigenvectors v_j(i)=sin(ij*pi/4). Frequencies proportional to 2sin(j*pi/8), j=1,2,3. Lowest frequency is 0.32 Hz; ratios 1,1.847759,2.414214. Mode 1: (1/sqrt(2),1,1/sqrt(2)); Mode 2: (1,0,-1); Mode 3: (1/sqrt(2),-1,1/sqrt(2)). Bottom row sums three cosine modes with equal coefficients. Middle mass is motionless only in mode 2. Transverse systems use the ideal small-displacement pre-tensioned model, visually enlarged.</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a:p>
            <a:endParaRPr/>
          </a:p>
          <a:p>
            <a:r>
              <a:t>SLIDE 5: TRANSVERSE NORMAL-MODE ATLAS. Row N has N equal masses, N+1 identical pre-tensioned coupling elements, and two fixed endpoints. Column j shows normal mode j, for j=1,...,N. The modal vector is v_i=sin(ij*pi/(N+1)); it is scaled to the same maximum displayed displacement. f_j=1.1*sin(j*pi/(2(N+1))) Hz, so mass and effective segment coupling remain equal across rows and columns. This is the linearized transverse model. Discrete-chain frequencies are generally NOT integer multiples of the lowest frequency. All 21 systems run automatically and simultaneously. The empty upper-right triangle is intentional. Colors identify mode number, not mass identity. Amplitudes are enlarged for visibility.</a:t>
            </a:r>
          </a:p>
        </p:txBody>
      </p:sp>
      <p:sp>
        <p:nvSpPr>
          <p:cNvPr id="4" name="Slide Number Placeholder 3"/>
          <p:cNvSpPr>
            <a:spLocks noGrp="1"/>
          </p:cNvSpPr>
          <p:nvPr>
            <p:ph type="sldNum" sz="quarter" idx="5"/>
          </p:nvPr>
        </p:nvSpPr>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FIXED–FIXED STRING: Physical mode frequencies 100, 200, 300, 400, 500 Hz. Display frequencies are 0.4, 0.8, 1.2, 1.6, 2.0 Hz, uniformly slowed by a factor of 250. The pickup remains x/L=0.17. Modal coefficients are C_j=0.095/abs(sin(j*pi*0.17)), so the five measured displacement peaks have exactly equal amplitude 0.095. The combined field is the exact sum of the five individual modes. These are consecutive harmonics, including both odd and even orders.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MEMBRANE: Illustrative harmonic frequencies 100, 200, 300, 400, 500 Hz are intentionally assigned for teaching, as requested; they are not the natural eigenfrequencies of this rectangular membrane. The animation and mode labels use those same frequencies, uniformly slowed by 250. Modal coefficients are 0.55/abs(phi_mn(pickup)), giving five equal-height measured spectral peaks at the marked point. The aspect ratio Lx/Ly=1.15; shapes are (1,1),(2,1),(1,2),(2,2),(3,1), with phi_mn=sin(m*pi*x/Lx)sin(n*pi*y/Ly). All edges are fixed. The pickup is (x/Lx,y/Ly)=(0.23,0.31). Combined surface is vertically reduced to fit, at 0.057/0.24 of the magnification used in individual panels. The combined field is the exact sum of the five illustrated motions.</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60 seconds.</a:t>
            </a:r>
          </a:p>
        </p:txBody>
      </p:sp>
      <p:sp>
        <p:nvSpPr>
          <p:cNvPr id="4" name="Slide Number Placeholder 3"/>
          <p:cNvSpPr>
            <a:spLocks noGrp="1"/>
          </p:cNvSpPr>
          <p:nvPr>
            <p:ph type="sldNum" sz="quarter" idx="5"/>
          </p:nvPr>
        </p:nvSpPr>
        <p:spPr/>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FIXED–FREE STRING: s=0 at bottom and s=L at top. phi_j(s)=sin((2j-1)*pi*s/(2L)), j=1..4. The displacement vanishes at the bottom; the spatial derivative vanishes at the top, which is a displacement antinode. Frequencies 100,300,500,700 Hz are shown at 0.4,1.2,2.0,2.8 Hz (1/250 speed). Equal modal coefficients give equal spectral peaks for the four-mode mixture measured at the free end. The four panels show the modes separately. The ideal free transverse boundary can be realized by a frictionless sliding endpoint while maintaining tension. These are separately tuned examples: for identical length and wave speed, changing a fixed–fixed string to fixed–free halves its fundamental; setting both examples to 100 Hz implies retuning length or wave speed.</a:t>
            </a:r>
          </a:p>
          <a:p>
            <a:endParaRPr/>
          </a:p>
          <a:p>
            <a:r>
              <a:t>PLAYBACK: This slide contains a self-contained H.264 MP4 video, set to start automatically in Slide Show and repeat until the slide is advanced. Right arrow advances. Clicking the video can pause/resume it. Static thumbnails and document previews show only the poster frame. The demonstration repeats every 20 seconds.</a:t>
            </a:r>
          </a:p>
          <a:p>
            <a:endParaRPr/>
          </a:p>
          <a:p>
            <a:endParaRPr/>
          </a:p>
        </p:txBody>
      </p:sp>
      <p:sp>
        <p:nvSpPr>
          <p:cNvPr id="4" name="Slide Number Placeholder 3"/>
          <p:cNvSpPr>
            <a:spLocks noGrp="1"/>
          </p:cNvSpPr>
          <p:nvPr>
            <p:ph type="sldNum" sz="quarter" idx="5"/>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CB033E-B3E4-D8BF-B72B-3F99C8E4EBFD}"/>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E8FD9EF3-5FE3-C61F-98D6-E8FD88A41F1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a:extLst>
              <a:ext uri="{FF2B5EF4-FFF2-40B4-BE49-F238E27FC236}">
                <a16:creationId xmlns:a16="http://schemas.microsoft.com/office/drawing/2014/main" id="{3186192D-F152-FAA0-B4DC-84915309E29C}"/>
              </a:ext>
            </a:extLst>
          </p:cNvPr>
          <p:cNvSpPr>
            <a:spLocks noGrp="1"/>
          </p:cNvSpPr>
          <p:nvPr>
            <p:ph type="dt" sz="half" idx="10"/>
          </p:nvPr>
        </p:nvSpPr>
        <p:spPr/>
        <p:txBody>
          <a:body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5191B1A3-698B-7644-26F4-7E25AAA22CF6}"/>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B2E689BC-ABA8-801D-6039-2BCAF27375A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5052091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73D340-2A5D-9FB2-EE63-A5A7BE044056}"/>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43BCB61D-74C6-3CE1-EB04-9CB162B2CAD4}"/>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BCA2CCA-CE9B-F23C-A59D-29C7370D5CB7}"/>
              </a:ext>
            </a:extLst>
          </p:cNvPr>
          <p:cNvSpPr>
            <a:spLocks noGrp="1"/>
          </p:cNvSpPr>
          <p:nvPr>
            <p:ph type="dt" sz="half" idx="10"/>
          </p:nvPr>
        </p:nvSpPr>
        <p:spPr/>
        <p:txBody>
          <a:body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BA7091C1-7A87-2073-0250-B7D55D8B302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361BC2CF-7EB1-F436-0711-D29B9E2CA57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8023480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7F61481-777C-F700-6715-6054DE70F4C5}"/>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a:extLst>
              <a:ext uri="{FF2B5EF4-FFF2-40B4-BE49-F238E27FC236}">
                <a16:creationId xmlns:a16="http://schemas.microsoft.com/office/drawing/2014/main" id="{339D9CBD-F458-29FA-8E35-4AA82B861F7E}"/>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F552357B-2F6B-3B74-1166-DA395732C899}"/>
              </a:ext>
            </a:extLst>
          </p:cNvPr>
          <p:cNvSpPr>
            <a:spLocks noGrp="1"/>
          </p:cNvSpPr>
          <p:nvPr>
            <p:ph type="dt" sz="half" idx="10"/>
          </p:nvPr>
        </p:nvSpPr>
        <p:spPr/>
        <p:txBody>
          <a:body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2076B74B-EF09-9330-B5EF-CD3382F32CB3}"/>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20A4A8CE-01F8-FA16-5B9F-2862FEEC538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26687226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28A4AEF-07C2-1ADC-16F8-ABC7717A9F93}"/>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AECE002D-5A6D-9C8C-3421-75B9117A1DF8}"/>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a:extLst>
              <a:ext uri="{FF2B5EF4-FFF2-40B4-BE49-F238E27FC236}">
                <a16:creationId xmlns:a16="http://schemas.microsoft.com/office/drawing/2014/main" id="{234A8773-94D3-8AB1-FB00-B17AA969BF4A}"/>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C10059AB-2836-81D1-C0BE-2E656A19AE9B}"/>
              </a:ext>
            </a:extLst>
          </p:cNvPr>
          <p:cNvSpPr>
            <a:spLocks noGrp="1"/>
          </p:cNvSpPr>
          <p:nvPr>
            <p:ph type="dt" sz="half" idx="10"/>
          </p:nvPr>
        </p:nvSpPr>
        <p:spPr/>
        <p:txBody>
          <a:bodyPr/>
          <a:lstStyle/>
          <a:p>
            <a:fld id="{37646F92-438E-6F40-B57C-2225BFA3E3AC}" type="datetimeFigureOut">
              <a:t>10/6/26</a:t>
            </a:fld>
            <a:endParaRPr lang="en-US"/>
          </a:p>
        </p:txBody>
      </p:sp>
      <p:sp>
        <p:nvSpPr>
          <p:cNvPr id="6" name="Footer Placeholder 5">
            <a:extLst>
              <a:ext uri="{FF2B5EF4-FFF2-40B4-BE49-F238E27FC236}">
                <a16:creationId xmlns:a16="http://schemas.microsoft.com/office/drawing/2014/main" id="{4364C135-8FE2-FA2E-C91D-EE1B1B05DDB9}"/>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31054F4-CE46-86B3-21E3-5B6ABC966BE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19661955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D438AE6-1C38-FA87-7D05-081716617478}"/>
              </a:ext>
            </a:extLst>
          </p:cNvPr>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a:extLst>
              <a:ext uri="{FF2B5EF4-FFF2-40B4-BE49-F238E27FC236}">
                <a16:creationId xmlns:a16="http://schemas.microsoft.com/office/drawing/2014/main" id="{929F5E04-953C-6026-E6B7-CD1557147B52}"/>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61890B6-7E39-0F59-D422-B34787C22CBC}"/>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a:extLst>
              <a:ext uri="{FF2B5EF4-FFF2-40B4-BE49-F238E27FC236}">
                <a16:creationId xmlns:a16="http://schemas.microsoft.com/office/drawing/2014/main" id="{169CB19E-1F65-EA6B-1DE7-C4617E23230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73C98FD-BF81-6C18-5296-BCEB3619564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C292DB79-8863-0DA7-F8E4-229B6561C45C}"/>
              </a:ext>
            </a:extLst>
          </p:cNvPr>
          <p:cNvSpPr>
            <a:spLocks noGrp="1"/>
          </p:cNvSpPr>
          <p:nvPr>
            <p:ph type="dt" sz="half" idx="10"/>
          </p:nvPr>
        </p:nvSpPr>
        <p:spPr/>
        <p:txBody>
          <a:bodyPr/>
          <a:lstStyle/>
          <a:p>
            <a:fld id="{37646F92-438E-6F40-B57C-2225BFA3E3AC}" type="datetimeFigureOut">
              <a:t>10/6/26</a:t>
            </a:fld>
            <a:endParaRPr lang="en-US"/>
          </a:p>
        </p:txBody>
      </p:sp>
      <p:sp>
        <p:nvSpPr>
          <p:cNvPr id="8" name="Footer Placeholder 7">
            <a:extLst>
              <a:ext uri="{FF2B5EF4-FFF2-40B4-BE49-F238E27FC236}">
                <a16:creationId xmlns:a16="http://schemas.microsoft.com/office/drawing/2014/main" id="{8612CC33-1C75-C6A3-8803-22C0B52CB4C6}"/>
              </a:ext>
            </a:extLst>
          </p:cNvPr>
          <p:cNvSpPr>
            <a:spLocks noGrp="1"/>
          </p:cNvSpPr>
          <p:nvPr>
            <p:ph type="ftr" sz="quarter" idx="11"/>
          </p:nvPr>
        </p:nvSpPr>
        <p:spPr/>
        <p:txBody>
          <a:bodyPr/>
          <a:lstStyle/>
          <a:p>
            <a:endParaRPr lang="en-US"/>
          </a:p>
        </p:txBody>
      </p:sp>
      <p:sp>
        <p:nvSpPr>
          <p:cNvPr id="9" name="Slide Number Placeholder 8">
            <a:extLst>
              <a:ext uri="{FF2B5EF4-FFF2-40B4-BE49-F238E27FC236}">
                <a16:creationId xmlns:a16="http://schemas.microsoft.com/office/drawing/2014/main" id="{DC9EE189-3744-D268-6860-5C0D0810630B}"/>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4202841815"/>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4F5E1F1-7BAE-6DF2-0597-710BB175021B}"/>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F4C64002-DECD-1DD5-370C-36935B736486}"/>
              </a:ext>
            </a:extLst>
          </p:cNvPr>
          <p:cNvSpPr>
            <a:spLocks noGrp="1"/>
          </p:cNvSpPr>
          <p:nvPr>
            <p:ph type="dt" sz="half" idx="10"/>
          </p:nvPr>
        </p:nvSpPr>
        <p:spPr/>
        <p:txBody>
          <a:bodyPr/>
          <a:lstStyle/>
          <a:p>
            <a:fld id="{37646F92-438E-6F40-B57C-2225BFA3E3AC}" type="datetimeFigureOut">
              <a:t>10/6/26</a:t>
            </a:fld>
            <a:endParaRPr lang="en-US"/>
          </a:p>
        </p:txBody>
      </p:sp>
      <p:sp>
        <p:nvSpPr>
          <p:cNvPr id="4" name="Footer Placeholder 3">
            <a:extLst>
              <a:ext uri="{FF2B5EF4-FFF2-40B4-BE49-F238E27FC236}">
                <a16:creationId xmlns:a16="http://schemas.microsoft.com/office/drawing/2014/main" id="{428C536A-1252-F499-406F-883794863F4D}"/>
              </a:ext>
            </a:extLst>
          </p:cNvPr>
          <p:cNvSpPr>
            <a:spLocks noGrp="1"/>
          </p:cNvSpPr>
          <p:nvPr>
            <p:ph type="ftr" sz="quarter" idx="11"/>
          </p:nvPr>
        </p:nvSpPr>
        <p:spPr/>
        <p:txBody>
          <a:bodyPr/>
          <a:lstStyle/>
          <a:p>
            <a:endParaRPr lang="en-US"/>
          </a:p>
        </p:txBody>
      </p:sp>
      <p:sp>
        <p:nvSpPr>
          <p:cNvPr id="5" name="Slide Number Placeholder 4">
            <a:extLst>
              <a:ext uri="{FF2B5EF4-FFF2-40B4-BE49-F238E27FC236}">
                <a16:creationId xmlns:a16="http://schemas.microsoft.com/office/drawing/2014/main" id="{DE22F046-1AC9-B7E5-7053-BFA9C3480092}"/>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06614515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A608825C-C265-5CAB-7AC0-23439495E732}"/>
              </a:ext>
            </a:extLst>
          </p:cNvPr>
          <p:cNvSpPr>
            <a:spLocks noGrp="1"/>
          </p:cNvSpPr>
          <p:nvPr>
            <p:ph type="dt" sz="half" idx="10"/>
          </p:nvPr>
        </p:nvSpPr>
        <p:spPr/>
        <p:txBody>
          <a:bodyPr/>
          <a:lstStyle/>
          <a:p>
            <a:fld id="{37646F92-438E-6F40-B57C-2225BFA3E3AC}" type="datetimeFigureOut">
              <a:t>10/6/26</a:t>
            </a:fld>
            <a:endParaRPr lang="en-US"/>
          </a:p>
        </p:txBody>
      </p:sp>
      <p:sp>
        <p:nvSpPr>
          <p:cNvPr id="3" name="Footer Placeholder 2">
            <a:extLst>
              <a:ext uri="{FF2B5EF4-FFF2-40B4-BE49-F238E27FC236}">
                <a16:creationId xmlns:a16="http://schemas.microsoft.com/office/drawing/2014/main" id="{179341E9-CE1B-FFF8-0DFF-7374EA2A16E4}"/>
              </a:ext>
            </a:extLst>
          </p:cNvPr>
          <p:cNvSpPr>
            <a:spLocks noGrp="1"/>
          </p:cNvSpPr>
          <p:nvPr>
            <p:ph type="ftr" sz="quarter" idx="11"/>
          </p:nvPr>
        </p:nvSpPr>
        <p:spPr/>
        <p:txBody>
          <a:bodyPr/>
          <a:lstStyle/>
          <a:p>
            <a:endParaRPr lang="en-US"/>
          </a:p>
        </p:txBody>
      </p:sp>
      <p:sp>
        <p:nvSpPr>
          <p:cNvPr id="4" name="Slide Number Placeholder 3">
            <a:extLst>
              <a:ext uri="{FF2B5EF4-FFF2-40B4-BE49-F238E27FC236}">
                <a16:creationId xmlns:a16="http://schemas.microsoft.com/office/drawing/2014/main" id="{E64EB226-0556-2DD2-A2F4-E84E8F99B64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96573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E58E27F-0FE7-B99E-99CA-715FE1B10C6F}"/>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a:extLst>
              <a:ext uri="{FF2B5EF4-FFF2-40B4-BE49-F238E27FC236}">
                <a16:creationId xmlns:a16="http://schemas.microsoft.com/office/drawing/2014/main" id="{441A9ADE-C28A-1C3D-D71D-F439E74F8A4B}"/>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a:extLst>
              <a:ext uri="{FF2B5EF4-FFF2-40B4-BE49-F238E27FC236}">
                <a16:creationId xmlns:a16="http://schemas.microsoft.com/office/drawing/2014/main" id="{B64A4577-3B61-9617-C828-92398BAF783A}"/>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BA225C-6E8F-3199-5A3B-C315D2BA567E}"/>
              </a:ext>
            </a:extLst>
          </p:cNvPr>
          <p:cNvSpPr>
            <a:spLocks noGrp="1"/>
          </p:cNvSpPr>
          <p:nvPr>
            <p:ph type="dt" sz="half" idx="10"/>
          </p:nvPr>
        </p:nvSpPr>
        <p:spPr/>
        <p:txBody>
          <a:bodyPr/>
          <a:lstStyle/>
          <a:p>
            <a:fld id="{37646F92-438E-6F40-B57C-2225BFA3E3AC}" type="datetimeFigureOut">
              <a:t>10/6/26</a:t>
            </a:fld>
            <a:endParaRPr lang="en-US"/>
          </a:p>
        </p:txBody>
      </p:sp>
      <p:sp>
        <p:nvSpPr>
          <p:cNvPr id="6" name="Footer Placeholder 5">
            <a:extLst>
              <a:ext uri="{FF2B5EF4-FFF2-40B4-BE49-F238E27FC236}">
                <a16:creationId xmlns:a16="http://schemas.microsoft.com/office/drawing/2014/main" id="{ABF5E875-97F1-4B2A-5AC0-2708F95A8F94}"/>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F9913F0-2055-E8BD-7B35-7E894E49B2C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3399518717"/>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86A4-D083-E51D-7524-E16AB094471E}"/>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a:extLst>
              <a:ext uri="{FF2B5EF4-FFF2-40B4-BE49-F238E27FC236}">
                <a16:creationId xmlns:a16="http://schemas.microsoft.com/office/drawing/2014/main" id="{A509D880-38EE-237D-3B88-94692F1002C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a:extLst>
              <a:ext uri="{FF2B5EF4-FFF2-40B4-BE49-F238E27FC236}">
                <a16:creationId xmlns:a16="http://schemas.microsoft.com/office/drawing/2014/main" id="{3E3C8615-1F31-7C21-7C9F-42E9CAF533C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5BA19CCF-F8C3-71E1-3349-C5899E5CF156}"/>
              </a:ext>
            </a:extLst>
          </p:cNvPr>
          <p:cNvSpPr>
            <a:spLocks noGrp="1"/>
          </p:cNvSpPr>
          <p:nvPr>
            <p:ph type="dt" sz="half" idx="10"/>
          </p:nvPr>
        </p:nvSpPr>
        <p:spPr/>
        <p:txBody>
          <a:bodyPr/>
          <a:lstStyle/>
          <a:p>
            <a:fld id="{37646F92-438E-6F40-B57C-2225BFA3E3AC}" type="datetimeFigureOut">
              <a:t>10/6/26</a:t>
            </a:fld>
            <a:endParaRPr lang="en-US"/>
          </a:p>
        </p:txBody>
      </p:sp>
      <p:sp>
        <p:nvSpPr>
          <p:cNvPr id="6" name="Footer Placeholder 5">
            <a:extLst>
              <a:ext uri="{FF2B5EF4-FFF2-40B4-BE49-F238E27FC236}">
                <a16:creationId xmlns:a16="http://schemas.microsoft.com/office/drawing/2014/main" id="{3B00CE98-EA24-C4F2-2E03-187AED28F7B3}"/>
              </a:ext>
            </a:extLst>
          </p:cNvPr>
          <p:cNvSpPr>
            <a:spLocks noGrp="1"/>
          </p:cNvSpPr>
          <p:nvPr>
            <p:ph type="ftr" sz="quarter" idx="11"/>
          </p:nvPr>
        </p:nvSpPr>
        <p:spPr/>
        <p:txBody>
          <a:bodyPr/>
          <a:lstStyle/>
          <a:p>
            <a:endParaRPr lang="en-US"/>
          </a:p>
        </p:txBody>
      </p:sp>
      <p:sp>
        <p:nvSpPr>
          <p:cNvPr id="7" name="Slide Number Placeholder 6">
            <a:extLst>
              <a:ext uri="{FF2B5EF4-FFF2-40B4-BE49-F238E27FC236}">
                <a16:creationId xmlns:a16="http://schemas.microsoft.com/office/drawing/2014/main" id="{24080172-B8E6-505C-52B3-AE108F4AA2CE}"/>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27392418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E2CC4F2-4109-BD4B-6D8C-A57D0513ACC7}"/>
              </a:ext>
            </a:extLst>
          </p:cNvPr>
          <p:cNvSpPr>
            <a:spLocks noGrp="1"/>
          </p:cNvSpPr>
          <p:nvPr>
            <p:ph type="title"/>
          </p:nvPr>
        </p:nvSpPr>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0457E555-8D2E-C3F2-9CA2-43C5006F1E11}"/>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746D83CD-08CA-0D74-7CDD-56087C9B77FB}"/>
              </a:ext>
            </a:extLst>
          </p:cNvPr>
          <p:cNvSpPr>
            <a:spLocks noGrp="1"/>
          </p:cNvSpPr>
          <p:nvPr>
            <p:ph type="dt" sz="half" idx="10"/>
          </p:nvPr>
        </p:nvSpPr>
        <p:spPr/>
        <p:txBody>
          <a:body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EB06D11C-63FE-4B11-B038-2FE264562AC8}"/>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EB5DCBD-EC9E-3896-73AC-1D10CD393189}"/>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97617562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AF5FED0E-7240-2A07-6730-FCED2E24E218}"/>
              </a:ext>
            </a:extLst>
          </p:cNvPr>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a:extLst>
              <a:ext uri="{FF2B5EF4-FFF2-40B4-BE49-F238E27FC236}">
                <a16:creationId xmlns:a16="http://schemas.microsoft.com/office/drawing/2014/main" id="{6B0051B0-D11C-F6BC-941E-5F6EA59DD734}"/>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3258A2D8-5FF9-4174-9DEA-697BE8BEE516}"/>
              </a:ext>
            </a:extLst>
          </p:cNvPr>
          <p:cNvSpPr>
            <a:spLocks noGrp="1"/>
          </p:cNvSpPr>
          <p:nvPr>
            <p:ph type="dt" sz="half" idx="10"/>
          </p:nvPr>
        </p:nvSpPr>
        <p:spPr/>
        <p:txBody>
          <a:body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B0EFEC65-256E-FCF4-185C-ED1C94475929}"/>
              </a:ext>
            </a:extLst>
          </p:cNvPr>
          <p:cNvSpPr>
            <a:spLocks noGrp="1"/>
          </p:cNvSpPr>
          <p:nvPr>
            <p:ph type="ftr" sz="quarter" idx="11"/>
          </p:nvPr>
        </p:nvSpPr>
        <p:spPr/>
        <p:txBody>
          <a:bodyPr/>
          <a:lstStyle/>
          <a:p>
            <a:endParaRPr lang="en-US"/>
          </a:p>
        </p:txBody>
      </p:sp>
      <p:sp>
        <p:nvSpPr>
          <p:cNvPr id="6" name="Slide Number Placeholder 5">
            <a:extLst>
              <a:ext uri="{FF2B5EF4-FFF2-40B4-BE49-F238E27FC236}">
                <a16:creationId xmlns:a16="http://schemas.microsoft.com/office/drawing/2014/main" id="{D4A277BC-7B02-B700-CCD6-342F9BF435C6}"/>
              </a:ext>
            </a:extLst>
          </p:cNvPr>
          <p:cNvSpPr>
            <a:spLocks noGrp="1"/>
          </p:cNvSpPr>
          <p:nvPr>
            <p:ph type="sldNum" sz="quarter" idx="12"/>
          </p:nvPr>
        </p:nvSpPr>
        <p:spPr/>
        <p:txBody>
          <a:bodyPr/>
          <a:lstStyle/>
          <a:p>
            <a:fld id="{D1837906-23E7-C341-9F29-2E2CC23DE015}" type="slidenum">
              <a:t>‹#›</a:t>
            </a:fld>
            <a:endParaRPr lang="en-US"/>
          </a:p>
        </p:txBody>
      </p:sp>
    </p:spTree>
    <p:extLst>
      <p:ext uri="{BB962C8B-B14F-4D97-AF65-F5344CB8AC3E}">
        <p14:creationId xmlns:p14="http://schemas.microsoft.com/office/powerpoint/2010/main" val="1314118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7FFF9"/>
        </a:solid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069B67B5-93D6-11CF-76A0-070C5F42A478}"/>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a:extLst>
              <a:ext uri="{FF2B5EF4-FFF2-40B4-BE49-F238E27FC236}">
                <a16:creationId xmlns:a16="http://schemas.microsoft.com/office/drawing/2014/main" id="{F90E95ED-9CA4-E2D1-3B66-C39D948081A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F15462-D29C-2E3A-787F-43D9CCDE4214}"/>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37646F92-438E-6F40-B57C-2225BFA3E3AC}" type="datetimeFigureOut">
              <a:t>10/6/26</a:t>
            </a:fld>
            <a:endParaRPr lang="en-US"/>
          </a:p>
        </p:txBody>
      </p:sp>
      <p:sp>
        <p:nvSpPr>
          <p:cNvPr id="5" name="Footer Placeholder 4">
            <a:extLst>
              <a:ext uri="{FF2B5EF4-FFF2-40B4-BE49-F238E27FC236}">
                <a16:creationId xmlns:a16="http://schemas.microsoft.com/office/drawing/2014/main" id="{9E8167E5-E6D2-5D53-ED01-171102C4058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a:extLst>
              <a:ext uri="{FF2B5EF4-FFF2-40B4-BE49-F238E27FC236}">
                <a16:creationId xmlns:a16="http://schemas.microsoft.com/office/drawing/2014/main" id="{24BB2A63-327D-25E4-F362-1FC7B3E17DFF}"/>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D1837906-23E7-C341-9F29-2E2CC23DE015}" type="slidenum">
              <a:t>‹#›</a:t>
            </a:fld>
            <a:endParaRPr lang="en-US"/>
          </a:p>
        </p:txBody>
      </p:sp>
    </p:spTree>
    <p:extLst>
      <p:ext uri="{BB962C8B-B14F-4D97-AF65-F5344CB8AC3E}">
        <p14:creationId xmlns:p14="http://schemas.microsoft.com/office/powerpoint/2010/main" val="351959418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1.mp4"/><Relationship Id="rId1" Type="http://schemas.microsoft.com/office/2007/relationships/media" Target="../media/media1.mp4"/><Relationship Id="rId5" Type="http://schemas.openxmlformats.org/officeDocument/2006/relationships/image" Target="../media/image1.png"/><Relationship Id="rId4" Type="http://schemas.openxmlformats.org/officeDocument/2006/relationships/notesSlide" Target="../notesSlides/notesSlide1.xml"/></Relationships>
</file>

<file path=ppt/slides/_rels/slide3.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2.mp4"/><Relationship Id="rId1" Type="http://schemas.microsoft.com/office/2007/relationships/media" Target="../media/media2.mp4"/><Relationship Id="rId5" Type="http://schemas.openxmlformats.org/officeDocument/2006/relationships/image" Target="../media/image2.png"/><Relationship Id="rId4"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3.mp4"/><Relationship Id="rId1" Type="http://schemas.microsoft.com/office/2007/relationships/media" Target="../media/media3.mp4"/><Relationship Id="rId5" Type="http://schemas.openxmlformats.org/officeDocument/2006/relationships/image" Target="../media/image3.png"/><Relationship Id="rId4" Type="http://schemas.openxmlformats.org/officeDocument/2006/relationships/notesSlide" Target="../notesSlides/notesSlide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4.mp4"/><Relationship Id="rId1" Type="http://schemas.microsoft.com/office/2007/relationships/media" Target="../media/media4.mp4"/><Relationship Id="rId5" Type="http://schemas.openxmlformats.org/officeDocument/2006/relationships/image" Target="../media/image4.png"/><Relationship Id="rId4" Type="http://schemas.openxmlformats.org/officeDocument/2006/relationships/notesSlide" Target="../notesSlides/notesSlide4.xml"/></Relationships>
</file>

<file path=ppt/slides/_rels/slide7.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5.mp4"/><Relationship Id="rId1" Type="http://schemas.microsoft.com/office/2007/relationships/media" Target="../media/media5.mp4"/><Relationship Id="rId5" Type="http://schemas.openxmlformats.org/officeDocument/2006/relationships/image" Target="../media/image5.png"/><Relationship Id="rId4" Type="http://schemas.openxmlformats.org/officeDocument/2006/relationships/notesSlide" Target="../notesSlides/notesSlide5.xml"/></Relationships>
</file>

<file path=ppt/slides/_rels/slide8.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6.mp4"/><Relationship Id="rId1" Type="http://schemas.microsoft.com/office/2007/relationships/media" Target="../media/media6.mp4"/><Relationship Id="rId5" Type="http://schemas.openxmlformats.org/officeDocument/2006/relationships/image" Target="../media/image6.png"/><Relationship Id="rId4" Type="http://schemas.openxmlformats.org/officeDocument/2006/relationships/notesSlide" Target="../notesSlides/notesSlide6.xml"/></Relationships>
</file>

<file path=ppt/slides/_rels/slide9.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7.mp4"/><Relationship Id="rId1" Type="http://schemas.microsoft.com/office/2007/relationships/media" Target="../media/media7.mp4"/><Relationship Id="rId5" Type="http://schemas.openxmlformats.org/officeDocument/2006/relationships/image" Target="../media/image7.png"/><Relationship Id="rId4" Type="http://schemas.openxmlformats.org/officeDocument/2006/relationships/notesSlide" Target="../notesSlides/notesSlide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slideLayout" Target="../slideLayouts/slideLayout7.xml"/><Relationship Id="rId2" Type="http://schemas.openxmlformats.org/officeDocument/2006/relationships/video" Target="../media/media8.mp4"/><Relationship Id="rId1" Type="http://schemas.microsoft.com/office/2007/relationships/media" Target="../media/media8.mp4"/><Relationship Id="rId5" Type="http://schemas.openxmlformats.org/officeDocument/2006/relationships/image" Target="../media/image8.png"/><Relationship Id="rId4" Type="http://schemas.openxmlformats.org/officeDocument/2006/relationships/notesSlide" Target="../notesSlides/notesSlide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03E54E-FC70-7D3C-FB87-2A4422261FA4}"/>
              </a:ext>
            </a:extLst>
          </p:cNvPr>
          <p:cNvSpPr>
            <a:spLocks noGrp="1"/>
          </p:cNvSpPr>
          <p:nvPr>
            <p:ph type="ctrTitle"/>
          </p:nvPr>
        </p:nvSpPr>
        <p:spPr>
          <a:xfrm>
            <a:off x="1524000" y="1831023"/>
            <a:ext cx="9144000" cy="2387600"/>
          </a:xfrm>
        </p:spPr>
        <p:txBody>
          <a:bodyPr>
            <a:normAutofit fontScale="90000"/>
          </a:bodyPr>
          <a:lstStyle/>
          <a:p>
            <a:r>
              <a:rPr lang="en-US" sz="4400"/>
              <a:t>Ling 285</a:t>
            </a:r>
            <a:br>
              <a:rPr lang="en-US" sz="4400"/>
            </a:br>
            <a:r>
              <a:rPr lang="en-US" sz="4400"/>
              <a:t>Human Language and Technology</a:t>
            </a:r>
            <a:br>
              <a:rPr lang="en-US" sz="4400"/>
            </a:br>
            <a:r>
              <a:rPr lang="en-US" sz="4400"/>
              <a:t>Lecture 11</a:t>
            </a:r>
            <a:br>
              <a:rPr lang="en-US" sz="4400"/>
            </a:br>
            <a:br>
              <a:rPr lang="en-US" sz="4400"/>
            </a:br>
            <a:r>
              <a:rPr lang="en-US" sz="4400"/>
              <a:t>Masses and Springs</a:t>
            </a:r>
            <a:br>
              <a:rPr lang="en-US" sz="4400"/>
            </a:br>
            <a:r>
              <a:rPr lang="en-US" sz="4400"/>
              <a:t>Theory and Prediction</a:t>
            </a:r>
            <a:br>
              <a:rPr lang="en-US" sz="4400"/>
            </a:br>
            <a:endParaRPr lang="en-US" sz="4400"/>
          </a:p>
        </p:txBody>
      </p:sp>
      <p:sp>
        <p:nvSpPr>
          <p:cNvPr id="3" name="Subtitle 2">
            <a:extLst>
              <a:ext uri="{FF2B5EF4-FFF2-40B4-BE49-F238E27FC236}">
                <a16:creationId xmlns:a16="http://schemas.microsoft.com/office/drawing/2014/main" id="{117E1F82-DB91-1E57-EE5B-ECA1A523FBD4}"/>
              </a:ext>
            </a:extLst>
          </p:cNvPr>
          <p:cNvSpPr>
            <a:spLocks noGrp="1"/>
          </p:cNvSpPr>
          <p:nvPr>
            <p:ph type="subTitle" idx="1"/>
          </p:nvPr>
        </p:nvSpPr>
        <p:spPr>
          <a:xfrm>
            <a:off x="1409700" y="4459288"/>
            <a:ext cx="9144000" cy="1655762"/>
          </a:xfrm>
        </p:spPr>
        <p:txBody>
          <a:bodyPr/>
          <a:lstStyle/>
          <a:p>
            <a:r>
              <a:rPr lang="en-US"/>
              <a:t>Khalil Iskarous</a:t>
            </a:r>
          </a:p>
          <a:p>
            <a:r>
              <a:rPr lang="en-US"/>
              <a:t>Department of Linguistics</a:t>
            </a:r>
          </a:p>
          <a:p>
            <a:r>
              <a:rPr lang="en-US"/>
              <a:t>University of Southern California</a:t>
            </a:r>
          </a:p>
        </p:txBody>
      </p:sp>
    </p:spTree>
    <p:extLst>
      <p:ext uri="{BB962C8B-B14F-4D97-AF65-F5344CB8AC3E}">
        <p14:creationId xmlns:p14="http://schemas.microsoft.com/office/powerpoint/2010/main" val="158151901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1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2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3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17CA9A0-7B5D-B644-1471-FC012DB29817}"/>
              </a:ext>
            </a:extLst>
          </p:cNvPr>
          <p:cNvSpPr txBox="1"/>
          <p:nvPr/>
        </p:nvSpPr>
        <p:spPr>
          <a:xfrm>
            <a:off x="4925038" y="2445027"/>
            <a:ext cx="2341923" cy="769441"/>
          </a:xfrm>
          <a:prstGeom prst="rect">
            <a:avLst/>
          </a:prstGeom>
          <a:noFill/>
        </p:spPr>
        <p:txBody>
          <a:bodyPr wrap="none" rtlCol="0">
            <a:spAutoFit/>
          </a:bodyPr>
          <a:lstStyle/>
          <a:p>
            <a:pPr algn="ctr"/>
            <a:r>
              <a:rPr lang="en-US" sz="4400"/>
              <a:t>Pop Quiz</a:t>
            </a:r>
          </a:p>
        </p:txBody>
      </p:sp>
    </p:spTree>
    <p:extLst>
      <p:ext uri="{BB962C8B-B14F-4D97-AF65-F5344CB8AC3E}">
        <p14:creationId xmlns:p14="http://schemas.microsoft.com/office/powerpoint/2010/main" val="10211532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4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5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6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7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3273DAF-1BE4-0B3F-AE38-F119A0C1583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5A45A8D-2331-6205-A5D0-45DA5AB49DC3}"/>
              </a:ext>
            </a:extLst>
          </p:cNvPr>
          <p:cNvSpPr>
            <a:spLocks noGrp="1"/>
          </p:cNvSpPr>
          <p:nvPr>
            <p:ph type="title"/>
          </p:nvPr>
        </p:nvSpPr>
        <p:spPr>
          <a:xfrm>
            <a:off x="518160" y="353758"/>
            <a:ext cx="10515600" cy="1325563"/>
          </a:xfrm>
        </p:spPr>
        <p:txBody>
          <a:bodyPr/>
          <a:lstStyle/>
          <a:p>
            <a:r>
              <a:rPr lang="en-US"/>
              <a:t>Theory, Prediction, and Experiment</a:t>
            </a:r>
          </a:p>
        </p:txBody>
      </p:sp>
      <p:sp>
        <p:nvSpPr>
          <p:cNvPr id="3" name="Content Placeholder 2">
            <a:extLst>
              <a:ext uri="{FF2B5EF4-FFF2-40B4-BE49-F238E27FC236}">
                <a16:creationId xmlns:a16="http://schemas.microsoft.com/office/drawing/2014/main" id="{BBAA29FD-0AD8-CCA0-D37C-08CBD5C226D9}"/>
              </a:ext>
            </a:extLst>
          </p:cNvPr>
          <p:cNvSpPr>
            <a:spLocks noGrp="1"/>
          </p:cNvSpPr>
          <p:nvPr>
            <p:ph idx="1"/>
          </p:nvPr>
        </p:nvSpPr>
        <p:spPr>
          <a:xfrm>
            <a:off x="838200" y="1825625"/>
            <a:ext cx="10195560" cy="4351338"/>
          </a:xfrm>
        </p:spPr>
        <p:txBody>
          <a:bodyPr>
            <a:normAutofit fontScale="62500" lnSpcReduction="20000"/>
          </a:bodyPr>
          <a:lstStyle/>
          <a:p>
            <a:endParaRPr lang="en-US"/>
          </a:p>
          <a:p>
            <a:endParaRPr lang="en-US" sz="3400"/>
          </a:p>
          <a:p>
            <a:endParaRPr lang="en-US" sz="3400"/>
          </a:p>
          <a:p>
            <a:r>
              <a:rPr lang="en-US" sz="3400"/>
              <a:t>The Scientific Method depends on the statement of very clear theories about how the world is like, usually in the form of differential equations.</a:t>
            </a:r>
          </a:p>
          <a:p>
            <a:r>
              <a:rPr lang="en-US" sz="3400"/>
              <a:t>We then solve these differential equations, and the result is a </a:t>
            </a:r>
            <a:r>
              <a:rPr lang="en-US" sz="3400" i="1"/>
              <a:t>prediction</a:t>
            </a:r>
            <a:r>
              <a:rPr lang="en-US" sz="3400"/>
              <a:t> of what the world is like when we actually measure it!</a:t>
            </a:r>
          </a:p>
          <a:p>
            <a:r>
              <a:rPr lang="en-US" sz="3400"/>
              <a:t>Theory: The vocal folds are a membrane, so when it vibrates, the wave of vibration will have equidistant peaks in the spectrum (which we call harmonics). </a:t>
            </a:r>
          </a:p>
          <a:p>
            <a:r>
              <a:rPr lang="en-US" sz="3400"/>
              <a:t>The differential equations are many of the type we have already seen, but slightly more complicated</a:t>
            </a:r>
          </a:p>
          <a:p>
            <a:r>
              <a:rPr lang="en-US" sz="3400"/>
              <a:t>Prediction: if I measure any of your laryngeal vibration signals, they will have a spectrum with equidistant harmonics.</a:t>
            </a:r>
          </a:p>
          <a:p>
            <a:r>
              <a:rPr lang="en-US" sz="3400"/>
              <a:t>Let’s do an experiment to find out if this is true!!!!!</a:t>
            </a:r>
          </a:p>
        </p:txBody>
      </p:sp>
    </p:spTree>
    <p:extLst>
      <p:ext uri="{BB962C8B-B14F-4D97-AF65-F5344CB8AC3E}">
        <p14:creationId xmlns:p14="http://schemas.microsoft.com/office/powerpoint/2010/main" val="405555857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
                                            <p:txEl>
                                              <p:pRg st="3" end="3"/>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3">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
                                            <p:txEl>
                                              <p:pRg st="5" end="5"/>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3">
                                            <p:txEl>
                                              <p:pRg st="6" end="6"/>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xEl>
                                              <p:pRg st="7" end="7"/>
                                            </p:txEl>
                                          </p:spTgt>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 grpId="0" build="p"/>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Slide 8 — embedded looping animation">
            <a:hlinkClick r:id="" action="ppaction://media"/>
          </p:cNvPr>
          <p:cNvPicPr>
            <a:picLocks noChangeAspect="1"/>
          </p:cNvPicPr>
          <p:nvPr>
            <a:videoFile r:link="rId2"/>
            <p:extLst>
              <p:ext uri="{DAA4B4D4-6D71-4841-9C94-3DE7FCFB9230}">
                <p14:media xmlns:p14="http://schemas.microsoft.com/office/powerpoint/2010/main" r:embed="rId1"/>
              </p:ext>
            </p:extLst>
          </p:nvPr>
        </p:nvPicPr>
        <p:blipFill>
          <a:blip r:embed="rId5"/>
          <a:stretch>
            <a:fillRect/>
          </a:stretch>
        </p:blipFill>
        <p:spPr>
          <a:xfrm>
            <a:off x="0" y="0"/>
            <a:ext cx="12191999" cy="6858000"/>
          </a:xfrm>
          <a:prstGeom prst="rect">
            <a:avLst/>
          </a:prstGeom>
        </p:spPr>
      </p:pic>
    </p:spTree>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 presetClass="mediacall" presetSubtype="0" fill="hold" nodeType="afterEffect">
                                  <p:stCondLst>
                                    <p:cond delay="0"/>
                                  </p:stCondLst>
                                  <p:childTnLst>
                                    <p:cmd type="call" cmd="playFrom(0.0)">
                                      <p:cBhvr>
                                        <p:cTn id="6" dur="1" fill="hold"/>
                                        <p:tgtEl>
                                          <p:spTgt spid="2"/>
                                        </p:tgtEl>
                                      </p:cBhvr>
                                    </p:cmd>
                                  </p:childTnLst>
                                </p:cTn>
                              </p:par>
                            </p:childTnLst>
                          </p:cTn>
                        </p:par>
                      </p:childTnLst>
                    </p:cTn>
                  </p:par>
                </p:childTnLst>
              </p:cTn>
              <p:prevCondLst>
                <p:cond evt="onPrev" delay="0">
                  <p:tgtEl>
                    <p:sldTgt/>
                  </p:tgtEl>
                </p:cond>
              </p:prevCondLst>
              <p:nextCondLst>
                <p:cond evt="onNext" delay="0">
                  <p:tgtEl>
                    <p:sldTgt/>
                  </p:tgtEl>
                </p:cond>
              </p:nextCondLst>
            </p:seq>
            <p:video>
              <p:cMediaNode vol="0" mute="1">
                <p:cTn id="7" repeatCount="indefinite" restart="always" fill="hold" display="0">
                  <p:stCondLst>
                    <p:cond delay="indefinite"/>
                  </p:stCondLst>
                </p:cTn>
                <p:tgtEl>
                  <p:spTgt spid="2"/>
                </p:tgtEl>
              </p:cMediaNode>
            </p:video>
          </p:childTnLst>
        </p:cTn>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2768</TotalTime>
  <Words>1626</Words>
  <Application>Microsoft Macintosh PowerPoint</Application>
  <PresentationFormat>Widescreen</PresentationFormat>
  <Paragraphs>40</Paragraphs>
  <Slides>11</Slides>
  <Notes>8</Notes>
  <HiddenSlides>0</HiddenSlides>
  <MMClips>8</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Aptos</vt:lpstr>
      <vt:lpstr>Aptos Display</vt:lpstr>
      <vt:lpstr>Arial</vt:lpstr>
      <vt:lpstr>Office Theme</vt:lpstr>
      <vt:lpstr>Ling 285 Human Language and Technology Lecture 11  Masses and Springs Theory and Prediction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Theory, Prediction, and Experiment</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Khalil Iskarous</dc:creator>
  <cp:lastModifiedBy>Khalil Iskarous</cp:lastModifiedBy>
  <cp:revision>119</cp:revision>
  <dcterms:created xsi:type="dcterms:W3CDTF">2026-08-23T15:08:49Z</dcterms:created>
  <dcterms:modified xsi:type="dcterms:W3CDTF">2026-10-06T16:16:28Z</dcterms:modified>
</cp:coreProperties>
</file>