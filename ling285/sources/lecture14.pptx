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63" r:id="rId3"/>
    <p:sldId id="264" r:id="rId4"/>
    <p:sldId id="257" r:id="rId5"/>
    <p:sldId id="428" r:id="rId6"/>
    <p:sldId id="438" r:id="rId7"/>
    <p:sldId id="444" r:id="rId8"/>
    <p:sldId id="392" r:id="rId9"/>
    <p:sldId id="435" r:id="rId10"/>
    <p:sldId id="434" r:id="rId11"/>
    <p:sldId id="429" r:id="rId12"/>
    <p:sldId id="430" r:id="rId13"/>
    <p:sldId id="431" r:id="rId14"/>
    <p:sldId id="436" r:id="rId15"/>
    <p:sldId id="441" r:id="rId16"/>
    <p:sldId id="442" r:id="rId17"/>
    <p:sldId id="258" r:id="rId18"/>
    <p:sldId id="259" r:id="rId19"/>
    <p:sldId id="437" r:id="rId20"/>
    <p:sldId id="443" r:id="rId21"/>
    <p:sldId id="449" r:id="rId22"/>
    <p:sldId id="445" r:id="rId23"/>
    <p:sldId id="446" r:id="rId24"/>
    <p:sldId id="447" r:id="rId25"/>
    <p:sldId id="44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A79E"/>
    <a:srgbClr val="F7FFF9"/>
    <a:srgbClr val="DDFFEE"/>
    <a:srgbClr val="EBEBEB"/>
    <a:srgbClr val="B8B618"/>
    <a:srgbClr val="FFD0D9"/>
    <a:srgbClr val="FF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44"/>
  </p:normalViewPr>
  <p:slideViewPr>
    <p:cSldViewPr snapToGrid="0">
      <p:cViewPr varScale="1">
        <p:scale>
          <a:sx n="96" d="100"/>
          <a:sy n="96" d="100"/>
        </p:scale>
        <p:origin x="192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45:14.3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1063 2760 24575,'-31'3'0,"-5"4"0,-13 4 0,-11 6 0,-3 1 0,-10-1 0,0-1 0,-1-3 0,1-4 0,5-4 0,8-5 0,8-2 0,10-4 0,7-7 0,6-7 0,6-6 0,1-6 0,1-5 0,1-5 0,0 0 0,2-3 0,0-3 0,2-2 0,0-2 0,2 1 0,0 3 0,3 1 0,1 3 0,4 3 0,1 2 0,2 5 0,2 8 0,-2 9 0,2 7 0,0 4 0,0-2 0,1-14 0,0-18 0,0-31 0,0-22 0,0-6 0,0 47 0,0 1 0,0-43 0,0 6 0,0 2 0,0 4 0,0-1 0,0-5 0,0-2 0,0 1 0,0 4 0,0 8 0,0 4 0,1 8 0,3 1 0,1 0 0,3 5 0,0 6 0,-1 12 0,0 13 0,-2 9 0,-1 8 0,-1 4 0,4-1 0,4-3 0,7-9 0,7-5 0,3-3 0,1 1 0,-2 6 0,-5 4 0,-2 5 0,-2 4 0,3 1 0,3 2 0,2-2 0,3-1 0,0-2 0,-2-1 0,-2 1 0,-3 2 0,-2 1 0,1 0 0,0-1 0,2-1 0,2 1 0,1 0 0,1 2 0,0 2 0,0 2 0,1 1 0,1 1 0,1 0 0,1 0 0,0 0 0,1 0 0,2 0 0,2 0 0,2 0 0,2 0 0,1 0 0,-2 0 0,-7 0 0,2 0 0,4 0 0,6 0 0,9-2 0,-3-1 0,0 0 0,-2 0 0,0 2 0,-1 1 0,2 0 0,2 0 0,0 2 0,2 4 0,0 4 0,0 3 0,1 1 0,-1 4 0,-4 1 0,-4 2 0,-6 0 0,-4-1 0,-4 1 0,-3 1 0,-3 2 0,-2 6 0,-2 7 0,-1 8 0,-2 6 0,-2 4 0,-2 1 0,0 0 0,-1 3 0,-2 7 0,1 12 0,0 11 0,-7-39 0,-1 0 0,0 2 0,-1 1 0,0 2 0,-2 1 0,0-2 0,-1-1 0,1-2 0,-2 0 0,1 46 0,0-7 0,0-3 0,0 0 0,0-3 0,0 1 0,-3-4 0,-4-9 0,-3-12 0,-2-14 0,1-14 0,2-9 0,0-5 0,-2 0 0,-5 3 0,-6 6 0,-8 7 0,-6 8 0,-7 6 0,-3 4 0,-3 1 0,0 0 0,0-4 0,-1-4 0,0-3 0,3-5 0,3-6 0,5-4 0,4-6 0,2-2 0,5-3 0,0-1 0,0 2 0,-2 3 0,-6 4 0,0 0 0,2 1 0,6-4 0,7-4 0,11-8 0,4-4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45:27.1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497 295 24575,'19'0'0,"5"0"0,8 0 0,5 0 0,1-2 0,2-1 0,0-1 0,5-2 0,7 2 0,7-2 0,6-1 0,2-2 0,-2-2 0,-2-1 0,-5-1 0,-3 0 0,4 0 0,7-1 0,12-2 0,8-1 0,4-1 0,-2 0 0,-5 2 0,-5 0 0,-4 2 0,-3 1 0,-1 0 0,-1 2 0,-2 2 0,-2 2 0,-3 2 0,-6 2 0,-6 2 0,-2 1 0,3 0 0,2 0 0,6 0 0,2 5 0,-1 5 0,-6 6 0,-11 3 0,-7 0 0,-5 4 0,2 2 0,3 5 0,0 4 0,-3 4 0,0 7 0,-1 12 0,0 13 0,-3 10 0,-4 6 0,-4 6 0,-4 6 0,-8-46 0,-1 1 0,-1 2 0,-1 0 0,-1 2 0,-1 1 0,-1 2 0,-1-1 0,-1 4 0,1-1 0,-1 0 0,1-1 0,1-2 0,2 0 0,2-2 0,2-2 0,1-3 0,2-1 0,3-1 0,0 0 0,15 43 0,2 1 0,-15-44 0,-1 0 0,-1-1 0,0 1 0,-1 0 0,0 1 0,7 43 0,-4-6 0,-4-11 0,-3-11 0,-2-16 0,-3-12 0,-2-13 0,-2-9 0,-2-5 0,-4-6 0,-6-2 0,-6-2 0,-7 0 0,-3 2 0,-7 0 0,-7 0 0,-14-2 0,-14-3 0,-7-3 0,-4-8 0,1-4 0,4-1 0,-3 1 0,-5 4 0,0 1 0,-9 1 0,-2 0 0,3-2 0,0 0 0,7-2 0,2 2 0,0 2 0,1 2 0,1 2 0,3-1 0,4-1 0,4-3 0,-2-1 0,-1 3 0,-2 2 0,-2 5 0,0 3 0,2 3 0,6 4 0,5 5 0,6-1 0,1-3 0,-4-6 0,-1-2 0,-7-2 0,-7-4 0,-1-5 0,-5-4 0,1-1 0,1-1 0,-1 1 0,1 1 0,3 3 0,9 5 0,11 2 0,14 2 0,13 2 0,10 1 0,5 3 0,3 4 0,0 5 0,1 2 0,1 0 0,1-4 0,1-6 0,0-22 0,1-43 0,4 7 0,1-7 0,0-23 0,0-7 0,1 23 0,1-2 0,0-1 0,1-5 0,0 0 0,1 1 0,0 5 0,1 0 0,0 3 0,2-19 0,0 5 0,-2 18 0,0 5 0,-1-13 0,-3 27 0,0 19 0,0-1 0,0-14 0,0-21 0,0-15 0,0 1 0,-3 13 0,-4 19 0,-1 19 0,1 13 0,4-2 0,2-15 0,1-19 0,0-16 0,-2-3 0,-4 14 0,-1 17 0,1 18 0,2 11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46:32.8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44 252 24575,'26'0'0,"10"-4"0,18-6 0,22-9 0,12-4 0,-37 10 0,1 0 0,-2 2 0,0-1 0,46-8 0,-3 0 0,-17 4 0,-7 1 0,-11 2 0,-6 0 0,-1 2 0,0 0 0,4 2 0,-1 1 0,-1 2 0,-6 3 0,-6 2 0,-5 1 0,-6 0 0,-5 0 0,-5 0 0,-5 0 0,-3 3 0,1 5 0,4 11 0,5 14 0,7 17 0,5 12 0,3 6 0,3 6 0,-3-3 0,-4 0 0,-5-4 0,-9-5 0,-5-1 0,-6 1 0,-4 5 0,-3 5 0,-1 3 0,-3-4 0,-4-4 0,-6-10 0,-4-6 0,-4-5 0,-7 4 0,-11 9 0,-14 12 0,-7 6 0,28-39 0,-1 0 0,-34 30 0,5-11 0,9-14 0,10-16 0,8-10 0,5-7 0,1 1 0,3-1 0,3-1 0,1 0 0,-1 0 0,1 2 0,0-2 0,1 0 0,-1-1 0,-4 0 0,-6 2 0,-8 4 0,-9 3 0,-5 2 0,-2-1 0,3-2 0,6-5 0,6-4 0,4-4 0,2-3 0,0 0 0,-1-2 0,-2-2 0,-1-4 0,0-4 0,1-3 0,1-5 0,4-7 0,0-11 0,2-11 0,3-16 0,1-8 0,4-4 0,2-2 0,2 6 0,2-6 0,3-8 0,5-7 0,5-2 0,7 8 0,3 14 0,3 15 0,3 17 0,-2 16 0,-3 11 0,-2 6 0,-1-1 0,1-8 0,4-14 0,1-15 0,0-7 0,-4-1 0,-3 24 0,-3 10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46:36.6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1890 1502 24575,'-12'0'0,"-6"0"0,-9 0 0,-12 0 0,-18 0 0,-15 0 0,-8 0 0,-10 0 0,2 0 0,1 0 0,1 0 0,8-1 0,5-2 0,9-2 0,7 0 0,3 1 0,-1 1 0,-3 0 0,-2-2 0,2-5 0,3-2 0,10-3 0,10-3 0,9-1 0,8-1 0,4-7 0,0-6 0,0-7 0,-3-8 0,-1-4 0,-2-6 0,-5-7 0,-5-15 0,12 34 0,-2-3 0,-1-2 0,-1-1 0,-3-3 0,-1 0 0,0 2 0,0-1 0,1 2 0,1 1 0,2 2 0,2 1 0,-9-34 0,9 18 0,8 21 0,5 16 0,5 14 0,2 6 0,0 3 0,0-3 0,4-7 0,10-9 0,14-7 0,5 3 0,-1 12 0,-9 10 0,-8 9 0,-2 1 0,0 1 0,-1-1 0,3 0 0,2 0 0,4 0 0,4 2 0,3 2 0,3 1 0,2 1 0,2 4 0,6 2 0,4 4 0,5 5 0,-2 0 0,-1 0 0,-3-3 0,-2-1 0,6 3 0,8 2 0,13 5 0,10 2 0,5-2 0,0-4 0,-4-4 0,-7-5 0,-6-4 0,-7-5 0,-8-2 0,-6-3 0,-8-1 0,-6-2 0,-5 0 0,-4-1 0,-3-1 0,-2 0 0,0 0 0,1 1 0,2 0 0,1 1 0,1 1 0,0-2 0,-2 1 0,0-1 0,-4 0 0,-2 0 0,-3 0 0,1 0 0,3 1 0,2 3 0,3 3 0,1 3 0,0 4 0,3 4 0,1 4 0,0 4 0,-2 0 0,-4 0 0,-7-1 0,-4-1 0,-6-1 0,-1 2 0,-3 1 0,-5 7 0,-4 4 0,-7 7 0,-4 6 0,2 0 0,2-1 0,3-7 0,3-10 0,3-7 0,3-8 0,3-5 0,0-5 0,2-2 0,-2-2 0,1 2 0,0 4 0,-1 3 0,-1 1 0,-3 2 0,-2-1 0,-4 2 0,-5 0 0,-7 3 0,-14 6 0,-19 10 0,24-15 0,-3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46:44.3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41 24575,'18'0'0,"4"0"0,5 0 0,9 0 0,5 0 0,5-1 0,2-2 0,0-1 0,-2-2 0,0 1 0,1 1 0,-1-1 0,1 1 0,-1 0 0,-3 2 0,1 0 0,-2 1 0,-1 1 0,1 0 0,-3 0 0,1 0 0,-1 0 0,5 0 0,11 4 0,14 3 0,18 5 0,-36-5 0,3 1 0,3 1 0,1 0 0,1 0 0,0 0 0,-2-1 0,-1 0 0,43 7 0,-14-4 0,-16-2 0,-18-1 0,-16-3 0,-14 0 0,-10-1 0,-4-2 0,-2 1 0,2 0 0,7 3 0,8 2 0,7 2 0,3 2 0,-4 0 0,-3 1 0,-5 1 0,-2 2 0,-1 3 0,2 7 0,4 12 0,4 9 0,0 8 0,-1 2 0,-2-1 0,0 0 0,-2-2 0,0-1 0,-3-5 0,-3-2 0,-1-2 0,-1-2 0,0-2 0,-2-5 0,-2-4 0,-4-4 0,-4-4 0,-2-6 0,0-4 0,0-3 0,0-2 0,-3 0 0,-5 2 0,-8 3 0,-6 1 0,-3 3 0,-2 2 0,-1 1 0,-4-2 0,-4-1 0,-4-3 0,-4-4 0,-1-4 0,-1-2 0,0-4 0,-1 0 0,1 0 0,3-2 0,5-2 0,8-1 0,5-1 0,4 2 0,3 2 0,1 0 0,1 1 0,-2 1 0,-2 0 0,-3 1 0,-3 0 0,-5 3 0,-4 2 0,-3 0 0,-1 0 0,-2-1 0,1-1 0,1-1 0,2-2 0,0 1 0,1-2 0,-2 0 0,-1 0 0,-5 0 0,-6 0 0,-4 0 0,-4 0 0,-1 0 0,2 0 0,0 0 0,1 0 0,0 0 0,-3 0 0,-2 0 0,-1 0 0,0 0 0,1 0 0,4 0 0,2 0 0,3 0 0,6-2 0,5 0 0,7-1 0,9-1 0,7-1 0,7-1 0,5-1 0,3-3 0,2-2 0,1-2 0,0-8 0,-3-16 0,-5-27 0,1 17 0,-1-4 0,0-12 0,-1-3 0,0-8 0,0-2 0,2-1 0,1 2 0,1 5 0,2 2 0,1 9 0,0 4 0,2-29 0,0 27 0,-1 25 0,-1 17 0,-1 10 0,1 5 0,-1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46:47.9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377 254 24575,'0'44'0,"0"25"0,0-21 0,-2 5 0,0 16 0,-2 5 0,0 6 0,-1 1 0,-1-3 0,1 0 0,0-6 0,0-4 0,2-16 0,0-4 0,-1 23 0,1-24 0,1-20 0,1-11 0,1-7 0,0-3 0,0 3 0,0 2 0,0 4 0,-1 2 0,0-1 0,0-2 0,0-4 0,1-2 0,0 1 0,2 1 0,4 4 0,0 2 0,3-1 0,-1-2 0,3-2 0,5-1 0,7 1 0,11-1 0,10 0 0,10 0 0,3-2 0,1-2 0,-2-3 0,-3-2 0,2-1 0,4 0 0,14-5 0,11-4 0,13-5 0,-46 6 0,0 0 0,45-7 0,-3 2 0,-8 2 0,-4 2 0,-6 1 0,-8 2 0,-3 0 0,4 1 0,8 1 0,7-1 0,7 0 0,1-3 0,-6-4 0,-5 0 0,-17-2 0,-13 3 0,-15 2 0,-12 3 0,-7 2 0,-5 1 0,-5-1 0,-3-2 0,-2-8 0,-1-18 0,-4-25 0,-7-28 0,1 31 0,-1-4 0,-3-7 0,-1-2 0,-1-5 0,0-1 0,1-3 0,-1 1 0,2-1 0,0 2 0,2 5 0,1 3 0,1 7 0,0 3 0,-7-36 0,5 26 0,1 19 0,3 21 0,2 13 0,0 7 0,1 4 0,0 1 0,0 1 0,-1 1 0,-5 2 0,-7 1 0,-10 4 0,-11 2 0,-11 2 0,-13 1 0,-9 1 0,-15 1 0,-2 1 0,-4 1 0,2-1 0,10 0 0,4-1 0,9 0 0,4 0 0,4 0 0,3-4 0,3-3 0,2-4 0,3-3 0,-3-1 0,-6 0 0,-5 0 0,-7 2 0,-4-1 0,2 1 0,0 0 0,5-2 0,4 1 0,5 2 0,6 2 0,3 0 0,4 0 0,2-1 0,5 0 0,3 0 0,1 0 0,1-1 0,0-2 0,5 0 0,6 1 0,8 0 0,7-1 0,5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46:51.3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77 1 24575,'0'28'0,"0"24"0,0-1 0,0 6 0,0 19 0,0 5 0,0 14 0,0 1 0,0 0 0,0-3 0,0-14 0,0-3 0,0-14 0,0-5 0,0 22 0,0-22 0,0-21 0,0-10 0,0-3 0,0-1 0,0-1 0,1 0 0,3-2 0,3-3 0,5-4 0,5-6 0,11-3 0,15-2 0,25-1 0,30-2 0,-34 0 0,4 0 0,13-1 0,4 1 0,10 0 0,3 0-204,-27 1 1,0 0 0,1 2 203,2 0 0,1 1 0,-1 1 0,1 2 0,-1 1 0,0 1 0,0 2 0,-1 2 0,-1 1 0,28 6 0,-4 3 0,-11-2 0,-3 2 0,-13-3 0,-4-1 0,-14-2 0,-5-1 0,23 8 0,-27-7 0,-23-9 0,-12-9 610,-9-14-610,-7-16 0,-7-18 0,-5-21 0,0-14 0,12 34 0,1-3 0,2-7 0,2-3 0,1-5 0,2-3 0,0-5 0,1-1 0,0 3 0,0 0 0,0 7 0,2 3 0,0 9 0,1 5 0,4-24 0,2 25 0,-2 20 0,-2 9 0,0-5 0,0-6 0,1-4 0,0 5 0,-1 8 0,-2 10 0,-3 7 0,-6 3 0,-16 3 0,-25 6 0,-26 4 0,-19 4 0,41-7 0,-2 0 0,-1-2 0,0-1 0,-1-1 0,0-1 0,-2-1 0,-1-1 0,1 0 0,-2 0 0,-2-1 0,-1 0 0,-3 0 0,0 0 0,-4 1 0,0-1 0,4 1 0,1 0 0,4 1 0,2 0 0,5 1 0,2-2 0,-34 0 0,9-1 0,10 0 0,9 1 0,3 1 0,1 1 0,0 5 0,-2 4 0,-4 5 0,1 0 0,-1-3 0,3-6 0,8-3 0,9-3 0,13 0 0,9 0 0,9-1 0,3-2 0,0-3 0,3 2 0,-2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48:11.0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24575,'0'29'0,"0"22"0,0 35 0,0-20 0,0 5 0,0 14 0,0 5 0,0 9 0,0 1 0,0-32 0,0 0 0,1-2 0,3 26 0,3-3 0,4-10 0,5-4 0,5-10 0,5-6 0,3-9 0,3-5 0,33 25 0,-4-21 0,-10-15 0,-12-10 0,-12-8 0,-9-4 0,-4 0 0,1-1 0,6 3 0,18 0 0,24 4 0,35 1 0,-37-9 0,3-1 0,6 1 0,2-1 0,3 0 0,0 0 0,-7-1 0,-1 0 0,-5 0 0,-3 0 0,-8 0 0,-3-1 0,29 5 0,-11-4 0,-9-4 0,2-4 0,8-9 0,10-13 0,1-13 0,-3-12 0,-1-9 0,-3-7 0,-36 28 0,0-2 0,1-2 0,-1-1 0,-2 0 0,-1-2 0,0-1 0,-1-1 0,-2 1 0,-1-1 0,-2-1 0,-2 0 0,16-44 0,-13 5 0,-10 0 0,-10 8 0,-4-1 0,-6 2 0,-6 3 0,-9 1 0,-5 1 0,-4 5 0,0 7 0,0 9 0,0 9 0,1 8 0,-1 7 0,-2 5 0,-5 4 0,-11 4 0,-15 0 0,-24 4 0,28 5 0,-4 0 0,-15 2 0,-4 2 0,15 2 0,-3 1 0,-2 1-353,-8 1 1,-2 1-1,-1 1 353,-3 1 0,0 1 0,0 0 0,2-1 0,1 1 0,2-1 0,-23 0 0,5-1 0,17-4 0,4 0 0,17-3 0,4 1 0,-23 9 0,37-7 0,19 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4B262-1B8B-4A4C-819C-0B7118916BFD}" type="datetimeFigureOut">
              <a:t>10/20/26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66DEC-9F58-194B-86B9-A0870E5C21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49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MEMBRANE: Illustrative harmonic frequencies 100, 200, 300, 400, 500 Hz are intentionally assigned for teaching, as requested; they are not the natural eigenfrequencies of this rectangular membrane. The animation and mode labels use those same frequencies, uniformly slowed by 250. Modal coefficients are 0.55/abs(phi_mn(pickup)), giving five equal-height measured spectral peaks at the marked point. The aspect ratio Lx/Ly=1.15; shapes are (1,1),(2,1),(1,2),(2,2),(3,1), with phi_mn=sin(m*pi*x/Lx)sin(n*pi*y/Ly). All edges are fixed. The pickup is (x/Lx,y/Ly)=(0.23,0.31). Combined surface is vertically reduced to fit, at 0.057/0.24 of the magnification used in individual panels. The combined field is the exact sum of the five illustrated motions.</a:t>
            </a:r>
          </a:p>
          <a:p>
            <a:endParaRPr/>
          </a:p>
          <a:p>
            <a:r>
              <a:t>PLAYBACK: This slide contains a self-contained H.264 MP4 video, set to start automatically in Slide Show and repeat until the slide is advanced. Right arrow advances. Clicking the video can pause/resume it. Static thumbnails and document previews show only the poster frame. The demonstration repeats every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FIXED–FREE STRING: s=0 at bottom and s=L at top. phi_j(s)=sin((2j-1)*pi*s/(2L)), j=1..4. The displacement vanishes at the bottom; the spatial derivative vanishes at the top, which is a displacement antinode. Frequencies 100,300,500,700 Hz are shown at 0.4,1.2,2.0,2.8 Hz (1/250 speed). Equal modal coefficients give equal spectral peaks for the four-mode mixture measured at the free end. The four panels show the modes separately. The ideal free transverse boundary can be realized by a frictionless sliding endpoint while maintaining tension. These are separately tuned examples: for identical length and wave speed, changing a fixed–fixed string to fixed–free halves its fundamental; setting both examples to 100 Hz implies retuning length or wave speed.</a:t>
            </a:r>
          </a:p>
          <a:p>
            <a:endParaRPr/>
          </a:p>
          <a:p>
            <a:r>
              <a:t>PLAYBACK: This slide contains a self-contained H.264 MP4 video, set to start automatically in Slide Show and repeat until the slide is advanced. Right arrow advances. Clicking the video can pause/resume it. Static thumbnails and document previews show only the poster frame. The demonstration repeats every 20 seconds.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Fixed-free string modes. The bottom is fixed and the top is free. Video loops while the teacher clicks. Each click reveals one quarter-wavelength packet in every mode that contains it. The four modes contain 1, 3, 5, and 7 quarter-wave packets respectively, matching odd harmonics.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 maps the spectrum frequency axis to the spectrogram vertical axis. Click 2 maps spectrum amplitude to darkness in the spectrogram.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purely linear feed-forward network: 2 inputs, hidden layers of 3, 2 and 4 neurons, and 5 output neurons, one per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training, every weight is a random number between −1 and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Plays automatically in Slide Show and loops until you advance: dots carry the input forward, layer by layer; the output distribution [.5, .1, .1, .1, .2] appears; then the smiley.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nn.Linear(in, out) holds an out × in weight matrix; bias=False removes the bias so each layer is a pure linear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033E-B3E4-D8BF-B72B-3F99C8E4E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D9EF3-5FE3-C61F-98D6-E8FD88A41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6192D-F152-FAA0-B4DC-84915309E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1B1A3-698B-7644-26F4-7E25AAA22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689BC-ABA8-801D-6039-2BCAF273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09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D340-2A5D-9FB2-EE63-A5A7BE044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CB61D-74C6-3CE1-EB04-9CB162B2C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A2CCA-CE9B-F23C-A59D-29C7370D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091C1-7A87-2073-0250-B7D55D8B3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BC2CF-7EB1-F436-0711-D29B9E2C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3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61481-777C-F700-6715-6054DE70F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D9CBD-F458-29FA-8E35-4AA82B861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2357B-2F6B-3B74-1166-DA395732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6B74B-EF09-9330-B5EF-CD3382F32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4A8CE-01F8-FA16-5B9F-2862FEEC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22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4AEF-07C2-1ADC-16F8-ABC7717A9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002D-5A6D-9C8C-3421-75B9117A1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A8773-94D3-8AB1-FB00-B17AA969B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059AB-2836-81D1-C0BE-2E656A19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4C135-8FE2-FA2E-C91D-EE1B1B0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054F4-CE46-86B3-21E3-5B6ABC96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19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8AE6-1C38-FA87-7D05-081716617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F5E04-953C-6026-E6B7-CD1557147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890B6-7E39-0F59-D422-B34787C22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CB19E-1F65-EA6B-1DE7-C4617E232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3C98FD-BF81-6C18-5296-BCEB36195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92DB79-8863-0DA7-F8E4-229B6561C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10/20/26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12CC33-1C75-C6A3-8803-22C0B52C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EE189-3744-D268-6860-5C0D0810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41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5E1F1-7BAE-6DF2-0597-710BB1750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64002-DECD-1DD5-370C-36935B73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10/20/26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8C536A-1252-F499-406F-88379486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2F046-1AC9-B7E5-7053-BFA9C3480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45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08825C-C265-5CAB-7AC0-23439495E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10/20/26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341E9-CE1B-FFF8-0DFF-7374EA2A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EB226-0556-2DD2-A2F4-E84E8F99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7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E27F-0FE7-B99E-99CA-715FE1B1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A9ADE-C28A-1C3D-D71D-F439E74F8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A4577-3B61-9617-C828-92398BAF7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A225C-6E8F-3199-5A3B-C315D2BA5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5E875-97F1-4B2A-5AC0-2708F95A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913F0-2055-E8BD-7B35-7E894E49B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1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86A4-D083-E51D-7524-E16AB094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09D880-38EE-237D-3B88-94692F100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C8615-1F31-7C21-7C9F-42E9CAF53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19CCF-F8C3-71E1-3349-C5899E5CF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0CE98-EA24-C4F2-2E03-187AED28F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80172-B8E6-505C-52B3-AE108F4AA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2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C4F2-4109-BD4B-6D8C-A57D0513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7E555-8D2E-C3F2-9CA2-43C5006F1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D83CD-08CA-0D74-7CDD-56087C9B7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6D11C-63FE-4B11-B038-2FE264562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5DCBD-EC9E-3896-73AC-1D10CD39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7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5FED0E-7240-2A07-6730-FCED2E24E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051B0-D11C-F6BC-941E-5F6EA59DD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8A2D8-5FF9-4174-9DEA-697BE8BE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FEC65-256E-FCF4-185C-ED1C9447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277BC-7B02-B700-CCD6-342F9BF4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52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ONLY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381000"/>
            <a:ext cx="10096500" cy="533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09600" y="990600"/>
            <a:ext cx="100965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68088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9B67B5-93D6-11CF-76A0-070C5F42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E95ED-9CA4-E2D1-3B66-C39D94808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15462-D29C-2E3A-787F-43D9CCDE4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46F92-438E-6F40-B57C-2225BFA3E3AC}" type="datetimeFigureOut"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167E5-E6D2-5D53-ED01-171102C40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B2A63-327D-25E4-F362-1FC7B3E1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94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5.png"/><Relationship Id="rId18" Type="http://schemas.openxmlformats.org/officeDocument/2006/relationships/customXml" Target="../ink/ink7.xml"/><Relationship Id="rId3" Type="http://schemas.openxmlformats.org/officeDocument/2006/relationships/slideLayout" Target="../slideLayouts/slideLayout7.xml"/><Relationship Id="rId21" Type="http://schemas.openxmlformats.org/officeDocument/2006/relationships/image" Target="../media/image19.png"/><Relationship Id="rId7" Type="http://schemas.openxmlformats.org/officeDocument/2006/relationships/image" Target="../media/image12.png"/><Relationship Id="rId12" Type="http://schemas.openxmlformats.org/officeDocument/2006/relationships/customXml" Target="../ink/ink4.xml"/><Relationship Id="rId17" Type="http://schemas.openxmlformats.org/officeDocument/2006/relationships/image" Target="../media/image17.png"/><Relationship Id="rId2" Type="http://schemas.openxmlformats.org/officeDocument/2006/relationships/video" Target="../media/media2.mp4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microsoft.com/office/2007/relationships/media" Target="../media/media2.mp4"/><Relationship Id="rId6" Type="http://schemas.openxmlformats.org/officeDocument/2006/relationships/customXml" Target="../ink/ink1.xml"/><Relationship Id="rId11" Type="http://schemas.openxmlformats.org/officeDocument/2006/relationships/image" Target="../media/image14.png"/><Relationship Id="rId5" Type="http://schemas.openxmlformats.org/officeDocument/2006/relationships/image" Target="../media/image2.png"/><Relationship Id="rId15" Type="http://schemas.openxmlformats.org/officeDocument/2006/relationships/image" Target="../media/image16.png"/><Relationship Id="rId10" Type="http://schemas.openxmlformats.org/officeDocument/2006/relationships/customXml" Target="../ink/ink3.xml"/><Relationship Id="rId19" Type="http://schemas.openxmlformats.org/officeDocument/2006/relationships/image" Target="../media/image18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3.png"/><Relationship Id="rId14" Type="http://schemas.openxmlformats.org/officeDocument/2006/relationships/customXml" Target="../ink/ink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E54E-FC70-7D3C-FB87-2A4422261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102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4400"/>
              <a:t>Ling 285</a:t>
            </a:r>
            <a:br>
              <a:rPr lang="en-US" sz="4400"/>
            </a:br>
            <a:r>
              <a:rPr lang="en-US" sz="4400"/>
              <a:t>Human Language and Technology</a:t>
            </a:r>
            <a:br>
              <a:rPr lang="en-US" sz="4400"/>
            </a:br>
            <a:r>
              <a:rPr lang="en-US" sz="4400"/>
              <a:t>Lecture 14</a:t>
            </a:r>
            <a:br>
              <a:rPr lang="en-US" sz="4400"/>
            </a:br>
            <a:br>
              <a:rPr lang="en-US" sz="4400"/>
            </a:br>
            <a:r>
              <a:rPr lang="en-US" sz="4400"/>
              <a:t>Speech </a:t>
            </a:r>
            <a:r>
              <a:rPr lang="en-US" sz="4400">
                <a:sym typeface="Wingdings" pitchFamily="2" charset="2"/>
              </a:rPr>
              <a:t> Neural Networks</a:t>
            </a:r>
            <a:br>
              <a:rPr lang="en-US" sz="4400"/>
            </a:br>
            <a:endParaRPr lang="en-US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E1F82-DB91-1E57-EE5B-ECA1A523F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9700" y="4459288"/>
            <a:ext cx="9144000" cy="1655762"/>
          </a:xfrm>
        </p:spPr>
        <p:txBody>
          <a:bodyPr/>
          <a:lstStyle/>
          <a:p>
            <a:r>
              <a:rPr lang="en-US"/>
              <a:t>Khalil Iskarous</a:t>
            </a:r>
          </a:p>
          <a:p>
            <a:r>
              <a:rPr lang="en-US"/>
              <a:t>Department of Linguistics</a:t>
            </a:r>
          </a:p>
          <a:p>
            <a:r>
              <a:rPr lang="en-US"/>
              <a:t>University of Southern California</a:t>
            </a:r>
          </a:p>
        </p:txBody>
      </p:sp>
    </p:spTree>
    <p:extLst>
      <p:ext uri="{BB962C8B-B14F-4D97-AF65-F5344CB8AC3E}">
        <p14:creationId xmlns:p14="http://schemas.microsoft.com/office/powerpoint/2010/main" val="158151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 — embedded looping animation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restart="always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 — embedded looping animation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672F10F-4CCD-A9CA-07C6-34AB5F69A688}"/>
                  </a:ext>
                </a:extLst>
              </p14:cNvPr>
              <p14:cNvContentPartPr/>
              <p14:nvPr/>
            </p14:nvContentPartPr>
            <p14:xfrm>
              <a:off x="4487311" y="3661876"/>
              <a:ext cx="862560" cy="1091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672F10F-4CCD-A9CA-07C6-34AB5F69A68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69671" y="3644236"/>
                <a:ext cx="898200" cy="11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AA6FCDE-A708-C76D-CDE3-C7E741E8BAAF}"/>
                  </a:ext>
                </a:extLst>
              </p14:cNvPr>
              <p14:cNvContentPartPr/>
              <p14:nvPr/>
            </p14:nvContentPartPr>
            <p14:xfrm>
              <a:off x="4145671" y="2546956"/>
              <a:ext cx="1313280" cy="1026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AA6FCDE-A708-C76D-CDE3-C7E741E8BAA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27671" y="2529316"/>
                <a:ext cx="1348920" cy="10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4FA4B48-178D-2495-8F1F-EF78E71040F0}"/>
                  </a:ext>
                </a:extLst>
              </p14:cNvPr>
              <p14:cNvContentPartPr/>
              <p14:nvPr/>
            </p14:nvContentPartPr>
            <p14:xfrm>
              <a:off x="7327159" y="4041666"/>
              <a:ext cx="646920" cy="713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4FA4B48-178D-2495-8F1F-EF78E71040F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09159" y="4024026"/>
                <a:ext cx="682560" cy="74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BA25882-E222-12D4-D2B3-8C031B2B5EFF}"/>
                  </a:ext>
                </a:extLst>
              </p14:cNvPr>
              <p14:cNvContentPartPr/>
              <p14:nvPr/>
            </p14:nvContentPartPr>
            <p14:xfrm>
              <a:off x="7225639" y="3484386"/>
              <a:ext cx="769680" cy="541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BA25882-E222-12D4-D2B3-8C031B2B5EF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07999" y="3466386"/>
                <a:ext cx="805320" cy="5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46888F6-1BAF-EFAB-A9DA-72EFB0D0BD8C}"/>
                  </a:ext>
                </a:extLst>
              </p14:cNvPr>
              <p14:cNvContentPartPr/>
              <p14:nvPr/>
            </p14:nvContentPartPr>
            <p14:xfrm>
              <a:off x="6991639" y="3018546"/>
              <a:ext cx="906480" cy="458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46888F6-1BAF-EFAB-A9DA-72EFB0D0BD8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973999" y="3000546"/>
                <a:ext cx="94212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98CC50E-BDAD-A2B2-95C9-32ED3A29CB0E}"/>
                  </a:ext>
                </a:extLst>
              </p14:cNvPr>
              <p14:cNvContentPartPr/>
              <p14:nvPr/>
            </p14:nvContentPartPr>
            <p14:xfrm>
              <a:off x="6907759" y="2372706"/>
              <a:ext cx="924840" cy="576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98CC50E-BDAD-A2B2-95C9-32ED3A29CB0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90119" y="2354706"/>
                <a:ext cx="960480" cy="61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1527D3C-520D-051E-5199-7BE38A205F1A}"/>
                  </a:ext>
                </a:extLst>
              </p14:cNvPr>
              <p14:cNvContentPartPr/>
              <p14:nvPr/>
            </p14:nvContentPartPr>
            <p14:xfrm>
              <a:off x="7106839" y="1861146"/>
              <a:ext cx="884160" cy="564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1527D3C-520D-051E-5199-7BE38A205F1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88839" y="1843506"/>
                <a:ext cx="919800" cy="60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3C6C76A-C8DC-D150-D747-FB1E6A9D71A7}"/>
                  </a:ext>
                </a:extLst>
              </p14:cNvPr>
              <p14:cNvContentPartPr/>
              <p14:nvPr/>
            </p14:nvContentPartPr>
            <p14:xfrm>
              <a:off x="4148714" y="1709793"/>
              <a:ext cx="936720" cy="6674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3C6C76A-C8DC-D150-D747-FB1E6A9D71A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131074" y="1691793"/>
                <a:ext cx="972360" cy="703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restart="always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VIE_fixed_free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REVEAL_QUARTER_1" descr="/mnt/data/mode_slides_assets/fq_quarter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REVEAL_QUARTER_2" descr="/mnt/data/mode_slides_assets/fq_quarter_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REVEAL_QUARTER_3" descr="/mnt/data/mode_slides_assets/fq_quarter_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REVEAL_QUARTER_4" descr="/mnt/data/mode_slides_assets/fq_quarter_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REVEAL_QUARTER_5" descr="/mnt/data/mode_slides_assets/fq_quarter_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REVEAL_QUARTER_6" descr="/mnt/data/mode_slides_assets/fq_quarter_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REVEAL_QUARTER_7" descr="/mnt/data/mode_slides_assets/fq_quarter_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3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3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3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3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3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3" dur="3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6" dur="3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27" repeatCount="indefinite" restart="always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VIE_base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6" repeatCount="indefinite" restart="always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8F1A3-1F8B-1D8A-1797-006ED1CAF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chwaF13_86781478-4D12-4316-931B-51D7BD47440D.mp4">
            <a:hlinkClick r:id="" action="ppaction://media"/>
            <a:extLst>
              <a:ext uri="{FF2B5EF4-FFF2-40B4-BE49-F238E27FC236}">
                <a16:creationId xmlns:a16="http://schemas.microsoft.com/office/drawing/2014/main" id="{1B956CF1-083F-DDD9-BEBD-6214A953873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84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9F63F-FB69-9EE8-EBE3-A82D30F73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Pop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664EA-251A-2AF6-522C-FB2B4E9AA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schwaF13_86781478-4D12-4316-931B-51D7BD47440D.mp4">
            <a:hlinkClick r:id="" action="ppaction://media"/>
            <a:extLst>
              <a:ext uri="{FF2B5EF4-FFF2-40B4-BE49-F238E27FC236}">
                <a16:creationId xmlns:a16="http://schemas.microsoft.com/office/drawing/2014/main" id="{E20DEA75-D03E-D103-D266-46BAED2FD60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33530" y="0"/>
            <a:ext cx="9144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75A913-68D9-B4D8-8125-29919BC35D72}"/>
              </a:ext>
            </a:extLst>
          </p:cNvPr>
          <p:cNvSpPr txBox="1"/>
          <p:nvPr/>
        </p:nvSpPr>
        <p:spPr>
          <a:xfrm>
            <a:off x="4969565" y="6321287"/>
            <a:ext cx="6189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                    B                     C                  D                          E                        F  </a:t>
            </a:r>
          </a:p>
        </p:txBody>
      </p:sp>
    </p:spTree>
    <p:extLst>
      <p:ext uri="{BB962C8B-B14F-4D97-AF65-F5344CB8AC3E}">
        <p14:creationId xmlns:p14="http://schemas.microsoft.com/office/powerpoint/2010/main" val="261086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33EB2-8241-5BA9-5B1A-D8F0855D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Vowels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9A2E6-C144-CC31-1F78-B2D8CBE21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767" y="2437229"/>
            <a:ext cx="2708804" cy="24089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1B551A-8146-D980-3568-9DF1FA8D3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164" y="4210594"/>
            <a:ext cx="2708804" cy="25046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D0F844-5B3E-4DE4-1B4F-621D92279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4997" y="4443632"/>
            <a:ext cx="2708803" cy="24143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BFB436-57FF-6CAD-929C-5E243CA8E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446" y="139983"/>
            <a:ext cx="2834240" cy="25046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87670B5-51BC-3DA4-4FE6-6ECB6D1F94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7367" y="38221"/>
            <a:ext cx="2946286" cy="27082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12C6E46-A241-4618-896B-5B3C5D215EF9}"/>
              </a:ext>
            </a:extLst>
          </p:cNvPr>
          <p:cNvSpPr txBox="1"/>
          <p:nvPr/>
        </p:nvSpPr>
        <p:spPr>
          <a:xfrm>
            <a:off x="3009036" y="2144842"/>
            <a:ext cx="1075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dean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8A73DD-6796-BCD1-852E-75BB2D646A36}"/>
              </a:ext>
            </a:extLst>
          </p:cNvPr>
          <p:cNvSpPr txBox="1"/>
          <p:nvPr/>
        </p:nvSpPr>
        <p:spPr>
          <a:xfrm>
            <a:off x="2892032" y="6130497"/>
            <a:ext cx="9104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Dan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17806-2360-167B-211A-12E6EA6869BF}"/>
              </a:ext>
            </a:extLst>
          </p:cNvPr>
          <p:cNvSpPr txBox="1"/>
          <p:nvPr/>
        </p:nvSpPr>
        <p:spPr>
          <a:xfrm>
            <a:off x="6278691" y="4151244"/>
            <a:ext cx="10839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done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E0BB5A-AD53-1FF2-1626-28583E7C51F3}"/>
              </a:ext>
            </a:extLst>
          </p:cNvPr>
          <p:cNvSpPr txBox="1"/>
          <p:nvPr/>
        </p:nvSpPr>
        <p:spPr>
          <a:xfrm>
            <a:off x="10477615" y="6222919"/>
            <a:ext cx="918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Don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C7D545-D2F5-ECA8-95ED-9247E88E8A4D}"/>
              </a:ext>
            </a:extLst>
          </p:cNvPr>
          <p:cNvSpPr txBox="1"/>
          <p:nvPr/>
        </p:nvSpPr>
        <p:spPr>
          <a:xfrm>
            <a:off x="10568371" y="2120609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dune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C7C861-8362-A525-4E74-47BD385B96A7}"/>
              </a:ext>
            </a:extLst>
          </p:cNvPr>
          <p:cNvSpPr txBox="1"/>
          <p:nvPr/>
        </p:nvSpPr>
        <p:spPr>
          <a:xfrm>
            <a:off x="1934109" y="3098815"/>
            <a:ext cx="14131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rgbClr val="00B050"/>
                </a:solidFill>
              </a:rPr>
              <a:t>Front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56080C-5313-68A8-64FC-3AA9E2C2A980}"/>
              </a:ext>
            </a:extLst>
          </p:cNvPr>
          <p:cNvSpPr txBox="1"/>
          <p:nvPr/>
        </p:nvSpPr>
        <p:spPr>
          <a:xfrm rot="16200000">
            <a:off x="23102" y="5214541"/>
            <a:ext cx="11305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rgbClr val="0070C0"/>
                </a:solidFill>
              </a:rPr>
              <a:t>Low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D4C02F-B62A-71CA-66E7-775F0F5C7D87}"/>
              </a:ext>
            </a:extLst>
          </p:cNvPr>
          <p:cNvSpPr txBox="1"/>
          <p:nvPr/>
        </p:nvSpPr>
        <p:spPr>
          <a:xfrm rot="16200000">
            <a:off x="113048" y="1087973"/>
            <a:ext cx="12554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rgbClr val="FF0000"/>
                </a:solidFill>
              </a:rPr>
              <a:t>High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6863A0-7C88-B745-477E-E18CF7542702}"/>
              </a:ext>
            </a:extLst>
          </p:cNvPr>
          <p:cNvSpPr txBox="1"/>
          <p:nvPr/>
        </p:nvSpPr>
        <p:spPr>
          <a:xfrm>
            <a:off x="9292826" y="3200046"/>
            <a:ext cx="13420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rgbClr val="7030A0"/>
                </a:solidFill>
              </a:rPr>
              <a:t>Back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40E0B5-48ED-BA22-A6A8-592396D60AAE}"/>
              </a:ext>
            </a:extLst>
          </p:cNvPr>
          <p:cNvSpPr txBox="1"/>
          <p:nvPr/>
        </p:nvSpPr>
        <p:spPr>
          <a:xfrm>
            <a:off x="5369265" y="4736019"/>
            <a:ext cx="1921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chemeClr val="tx1">
                    <a:lumMod val="65000"/>
                    <a:lumOff val="35000"/>
                  </a:schemeClr>
                </a:solidFill>
              </a:rPr>
              <a:t>Central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7DC0DA-8CBB-0B94-90C1-355FD67CFDAB}"/>
              </a:ext>
            </a:extLst>
          </p:cNvPr>
          <p:cNvSpPr txBox="1"/>
          <p:nvPr/>
        </p:nvSpPr>
        <p:spPr>
          <a:xfrm>
            <a:off x="5470510" y="2511991"/>
            <a:ext cx="1718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FF00"/>
                </a:solidFill>
              </a:rPr>
              <a:t>No constriction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6E8BD-07FF-1F94-7757-AE9E9D9DFF6E}"/>
              </a:ext>
            </a:extLst>
          </p:cNvPr>
          <p:cNvSpPr txBox="1"/>
          <p:nvPr/>
        </p:nvSpPr>
        <p:spPr>
          <a:xfrm>
            <a:off x="1165602" y="203786"/>
            <a:ext cx="2967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FF00"/>
                </a:solidFill>
              </a:rPr>
              <a:t>Constriction 2/3 from glottis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A081F6-669C-A870-BDD1-1BE3662E2DBC}"/>
              </a:ext>
            </a:extLst>
          </p:cNvPr>
          <p:cNvSpPr txBox="1"/>
          <p:nvPr/>
        </p:nvSpPr>
        <p:spPr>
          <a:xfrm>
            <a:off x="8515498" y="4466795"/>
            <a:ext cx="2967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FF00"/>
                </a:solidFill>
              </a:rPr>
              <a:t>Constriction 1/3 from glottis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273BAA-95FE-0B53-77C0-4329A53C85A3}"/>
              </a:ext>
            </a:extLst>
          </p:cNvPr>
          <p:cNvSpPr txBox="1"/>
          <p:nvPr/>
        </p:nvSpPr>
        <p:spPr>
          <a:xfrm>
            <a:off x="9045549" y="76371"/>
            <a:ext cx="2066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FF00"/>
                </a:solidFill>
              </a:rPr>
              <a:t>Constriction at lips</a:t>
            </a:r>
          </a:p>
        </p:txBody>
      </p:sp>
    </p:spTree>
    <p:extLst>
      <p:ext uri="{BB962C8B-B14F-4D97-AF65-F5344CB8AC3E}">
        <p14:creationId xmlns:p14="http://schemas.microsoft.com/office/powerpoint/2010/main" val="80060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3" grpId="0"/>
      <p:bldP spid="4" grpId="0"/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6EE0DC-E7EF-1F79-B920-D0956B021040}"/>
              </a:ext>
            </a:extLst>
          </p:cNvPr>
          <p:cNvSpPr txBox="1"/>
          <p:nvPr/>
        </p:nvSpPr>
        <p:spPr>
          <a:xfrm>
            <a:off x="1510746" y="1639957"/>
            <a:ext cx="98728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When we compress air, as happens in a constriction, its stiffness rises, so making a constriction at a place that experiences lots of compression, will raise frequency. And bunching up air makes its mas//density larger, so in a part of the vocal tract where air moves a lot, constricting raises mass! So making a constriction increases mass and increases stiffness. </a:t>
            </a:r>
          </a:p>
          <a:p>
            <a:endParaRPr lang="en-US" sz="2400"/>
          </a:p>
          <a:p>
            <a:r>
              <a:rPr lang="en-US" sz="2400"/>
              <a:t>But be careful!!!! </a:t>
            </a:r>
            <a:r>
              <a:rPr lang="en-US" sz="2400">
                <a:highlight>
                  <a:srgbClr val="FFFF00"/>
                </a:highlight>
              </a:rPr>
              <a:t>This doesn’t mean that constrictions have no effect on frequency!!! </a:t>
            </a:r>
            <a:r>
              <a:rPr lang="en-US" sz="2400"/>
              <a:t>Why? Because the parts of a vibrating medium that moves the most alternate with those that compress/uncompress the most!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9A80F0-44C0-8FEF-DA9E-3944E8065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098" y="218663"/>
            <a:ext cx="1372251" cy="12523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5F695A-7514-E6DB-C88E-F25069EA7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671" y="218663"/>
            <a:ext cx="1417109" cy="125233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27329A2-922E-3D35-6161-027D0F454BD7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365349" y="844828"/>
            <a:ext cx="212632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181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F6DE8-409B-7FB4-2C04-1C6A7851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VIE_base">
            <a:hlinkClick r:id="" action="ppaction://media"/>
            <a:extLst>
              <a:ext uri="{FF2B5EF4-FFF2-40B4-BE49-F238E27FC236}">
                <a16:creationId xmlns:a16="http://schemas.microsoft.com/office/drawing/2014/main" id="{41B7F88A-36C8-5846-DB85-52379FB2EA2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94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6" repeatCount="indefinite" restart="always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VIE_u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VEAL_1_u"/>
          <p:cNvSpPr/>
          <p:nvPr/>
        </p:nvSpPr>
        <p:spPr>
          <a:xfrm>
            <a:off x="7178040" y="566928"/>
            <a:ext cx="44805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0"/>
                </a:solidFill>
              </a:defRPr>
            </a:pPr>
            <a:r>
              <a:t>/u/ = free-end loading</a:t>
            </a:r>
          </a:p>
        </p:txBody>
      </p:sp>
      <p:sp>
        <p:nvSpPr>
          <p:cNvPr id="4" name="REVEAL_2_u"/>
          <p:cNvSpPr/>
          <p:nvPr/>
        </p:nvSpPr>
        <p:spPr>
          <a:xfrm>
            <a:off x="7178040" y="978408"/>
            <a:ext cx="44805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0"/>
                </a:solidFill>
              </a:defRPr>
            </a:pPr>
            <a:r>
              <a:t>Mode 1: motion dominates</a:t>
            </a:r>
          </a:p>
        </p:txBody>
      </p:sp>
      <p:sp>
        <p:nvSpPr>
          <p:cNvPr id="5" name="REVEAL_3_u"/>
          <p:cNvSpPr/>
          <p:nvPr/>
        </p:nvSpPr>
        <p:spPr>
          <a:xfrm>
            <a:off x="7178040" y="1389888"/>
            <a:ext cx="44805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0"/>
                </a:solidFill>
              </a:defRPr>
            </a:pPr>
            <a:r>
              <a:t>Mode 2: motion dominates</a:t>
            </a:r>
          </a:p>
        </p:txBody>
      </p:sp>
      <p:sp>
        <p:nvSpPr>
          <p:cNvPr id="6" name="REVEAL_4_u"/>
          <p:cNvSpPr/>
          <p:nvPr/>
        </p:nvSpPr>
        <p:spPr>
          <a:xfrm>
            <a:off x="7178040" y="1801368"/>
            <a:ext cx="44805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0"/>
                </a:solidFill>
              </a:defRPr>
            </a:pPr>
            <a:r>
              <a:t>F1 ↓     F2 ↓</a:t>
            </a:r>
          </a:p>
        </p:txBody>
      </p:sp>
      <p:sp>
        <p:nvSpPr>
          <p:cNvPr id="7" name="HINT_u"/>
          <p:cNvSpPr txBox="1"/>
          <p:nvPr/>
        </p:nvSpPr>
        <p:spPr>
          <a:xfrm>
            <a:off x="7315200" y="239572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</a:defRPr>
            </a:pPr>
            <a:r>
              <a:t>Click to reveal the reasoning steps.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3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3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3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3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8" repeatCount="indefinite" restart="always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VIE_i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VEAL_1_i"/>
          <p:cNvSpPr/>
          <p:nvPr/>
        </p:nvSpPr>
        <p:spPr>
          <a:xfrm>
            <a:off x="7178040" y="566928"/>
            <a:ext cx="44805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0"/>
                </a:solidFill>
              </a:defRPr>
            </a:pPr>
            <a:r>
              <a:t>/i/ = constriction near 2/3</a:t>
            </a:r>
          </a:p>
        </p:txBody>
      </p:sp>
      <p:sp>
        <p:nvSpPr>
          <p:cNvPr id="4" name="REVEAL_2_i"/>
          <p:cNvSpPr/>
          <p:nvPr/>
        </p:nvSpPr>
        <p:spPr>
          <a:xfrm>
            <a:off x="7178040" y="978408"/>
            <a:ext cx="44805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0"/>
                </a:solidFill>
              </a:defRPr>
            </a:pPr>
            <a:r>
              <a:t>Mode 1: mass motion dominates</a:t>
            </a:r>
          </a:p>
        </p:txBody>
      </p:sp>
      <p:sp>
        <p:nvSpPr>
          <p:cNvPr id="5" name="REVEAL_3_i"/>
          <p:cNvSpPr/>
          <p:nvPr/>
        </p:nvSpPr>
        <p:spPr>
          <a:xfrm>
            <a:off x="7178040" y="1389888"/>
            <a:ext cx="44805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0"/>
                </a:solidFill>
              </a:defRPr>
            </a:pPr>
            <a:r>
              <a:t>Mode 2: springiness dominates</a:t>
            </a:r>
          </a:p>
        </p:txBody>
      </p:sp>
      <p:sp>
        <p:nvSpPr>
          <p:cNvPr id="6" name="REVEAL_4_i"/>
          <p:cNvSpPr/>
          <p:nvPr/>
        </p:nvSpPr>
        <p:spPr>
          <a:xfrm>
            <a:off x="7178040" y="1801368"/>
            <a:ext cx="44805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0"/>
                </a:solidFill>
              </a:defRPr>
            </a:pPr>
            <a:r>
              <a:t>F1 ↓     F2 ↑</a:t>
            </a:r>
          </a:p>
        </p:txBody>
      </p:sp>
      <p:sp>
        <p:nvSpPr>
          <p:cNvPr id="7" name="HINT_i"/>
          <p:cNvSpPr txBox="1"/>
          <p:nvPr/>
        </p:nvSpPr>
        <p:spPr>
          <a:xfrm>
            <a:off x="7315200" y="239572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</a:defRPr>
            </a:pPr>
            <a:r>
              <a:t>Click to reveal the reasoning steps.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3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3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3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3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8" repeatCount="indefinite" restart="always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VIE_a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VEAL_1_a"/>
          <p:cNvSpPr/>
          <p:nvPr/>
        </p:nvSpPr>
        <p:spPr>
          <a:xfrm>
            <a:off x="7178040" y="566928"/>
            <a:ext cx="44805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0"/>
                </a:solidFill>
              </a:defRPr>
            </a:pPr>
            <a:r>
              <a:t>/a/ = constriction near 1/3</a:t>
            </a:r>
          </a:p>
        </p:txBody>
      </p:sp>
      <p:sp>
        <p:nvSpPr>
          <p:cNvPr id="4" name="REVEAL_2_a"/>
          <p:cNvSpPr/>
          <p:nvPr/>
        </p:nvSpPr>
        <p:spPr>
          <a:xfrm>
            <a:off x="7178040" y="978408"/>
            <a:ext cx="44805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0"/>
                </a:solidFill>
              </a:defRPr>
            </a:pPr>
            <a:r>
              <a:t>Mode 1: springiness dominates</a:t>
            </a:r>
          </a:p>
        </p:txBody>
      </p:sp>
      <p:sp>
        <p:nvSpPr>
          <p:cNvPr id="5" name="REVEAL_3_a"/>
          <p:cNvSpPr/>
          <p:nvPr/>
        </p:nvSpPr>
        <p:spPr>
          <a:xfrm>
            <a:off x="7178040" y="1389888"/>
            <a:ext cx="44805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0"/>
                </a:solidFill>
              </a:defRPr>
            </a:pPr>
            <a:r>
              <a:t>Mode 2: mass motion dominates</a:t>
            </a:r>
          </a:p>
        </p:txBody>
      </p:sp>
      <p:sp>
        <p:nvSpPr>
          <p:cNvPr id="6" name="REVEAL_4_a"/>
          <p:cNvSpPr/>
          <p:nvPr/>
        </p:nvSpPr>
        <p:spPr>
          <a:xfrm>
            <a:off x="7178040" y="1801368"/>
            <a:ext cx="44805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0"/>
                </a:solidFill>
              </a:defRPr>
            </a:pPr>
            <a:r>
              <a:t>F1 ↑     F2 ↓</a:t>
            </a:r>
          </a:p>
        </p:txBody>
      </p:sp>
      <p:sp>
        <p:nvSpPr>
          <p:cNvPr id="7" name="HINT_a"/>
          <p:cNvSpPr txBox="1"/>
          <p:nvPr/>
        </p:nvSpPr>
        <p:spPr>
          <a:xfrm>
            <a:off x="7315200" y="239572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</a:defRPr>
            </a:pPr>
            <a:r>
              <a:t>Click to reveal the reasoning steps.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3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3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3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3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8" repeatCount="indefinite" restart="always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chwaF13_86781478-4D12-4316-931B-51D7BD47440D.mp4">
            <a:hlinkClick r:id="" action="ppaction://media"/>
            <a:extLst>
              <a:ext uri="{FF2B5EF4-FFF2-40B4-BE49-F238E27FC236}">
                <a16:creationId xmlns:a16="http://schemas.microsoft.com/office/drawing/2014/main" id="{03A84EA6-8609-BC5E-289C-5D35E097ECE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08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urce_filter_spectrogram_assets/specgram_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source_filter_spectrogram_assets/specgram_overlay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/mnt/data/source_filter_spectrogram_assets/specgram_overlay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3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3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F8D58-4F98-C962-1EB5-F0A6212B6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were you a year ago?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BFDDB-C54A-D327-5869-8A2C8C216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15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740F-924D-E4B6-A037-62562FF2E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My favorite experiment to show how complex speech is!!!!!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8370B-AAA5-A540-8F6D-025B49C4A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287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35DC-6556-B8FD-1E41-0EE35AC3F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435" y="288303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Back to AI: We will build an NN that will be trained on your Formants and will decide which vowel is being spoken</a:t>
            </a:r>
          </a:p>
        </p:txBody>
      </p:sp>
    </p:spTree>
    <p:extLst>
      <p:ext uri="{BB962C8B-B14F-4D97-AF65-F5344CB8AC3E}">
        <p14:creationId xmlns:p14="http://schemas.microsoft.com/office/powerpoint/2010/main" val="3953616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381000"/>
            <a:ext cx="10096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 purely linear network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09600" y="990600"/>
            <a:ext cx="1009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2 inputs → hidden layers of 3, 2 and 4 neurons → 5 outputs. No activation functions.</a:t>
            </a:r>
            <a:endParaRPr lang="en-US" sz="1600" dirty="0"/>
          </a:p>
        </p:txBody>
      </p:sp>
      <p:sp>
        <p:nvSpPr>
          <p:cNvPr id="4" name="edge-0"/>
          <p:cNvSpPr/>
          <p:nvPr/>
        </p:nvSpPr>
        <p:spPr>
          <a:xfrm flipV="1">
            <a:off x="1905000" y="30480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edge-1"/>
          <p:cNvSpPr/>
          <p:nvPr/>
        </p:nvSpPr>
        <p:spPr>
          <a:xfrm>
            <a:off x="1905000" y="35242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edge-2"/>
          <p:cNvSpPr/>
          <p:nvPr/>
        </p:nvSpPr>
        <p:spPr>
          <a:xfrm>
            <a:off x="1905000" y="352425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edge-3"/>
          <p:cNvSpPr/>
          <p:nvPr/>
        </p:nvSpPr>
        <p:spPr>
          <a:xfrm flipV="1">
            <a:off x="1905000" y="304800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dge-4"/>
          <p:cNvSpPr/>
          <p:nvPr/>
        </p:nvSpPr>
        <p:spPr>
          <a:xfrm flipV="1">
            <a:off x="1905000" y="40005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dge-5"/>
          <p:cNvSpPr/>
          <p:nvPr/>
        </p:nvSpPr>
        <p:spPr>
          <a:xfrm>
            <a:off x="1905000" y="44767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edge-6"/>
          <p:cNvSpPr/>
          <p:nvPr/>
        </p:nvSpPr>
        <p:spPr>
          <a:xfrm>
            <a:off x="3810000" y="30480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edge-7"/>
          <p:cNvSpPr/>
          <p:nvPr/>
        </p:nvSpPr>
        <p:spPr>
          <a:xfrm>
            <a:off x="3810000" y="304800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edge-8"/>
          <p:cNvSpPr/>
          <p:nvPr/>
        </p:nvSpPr>
        <p:spPr>
          <a:xfrm flipV="1">
            <a:off x="3810000" y="35242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edge-9"/>
          <p:cNvSpPr/>
          <p:nvPr/>
        </p:nvSpPr>
        <p:spPr>
          <a:xfrm>
            <a:off x="3810000" y="40005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edge-10"/>
          <p:cNvSpPr/>
          <p:nvPr/>
        </p:nvSpPr>
        <p:spPr>
          <a:xfrm flipV="1">
            <a:off x="3810000" y="352425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edge-11"/>
          <p:cNvSpPr/>
          <p:nvPr/>
        </p:nvSpPr>
        <p:spPr>
          <a:xfrm flipV="1">
            <a:off x="3810000" y="44767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edge-12"/>
          <p:cNvSpPr/>
          <p:nvPr/>
        </p:nvSpPr>
        <p:spPr>
          <a:xfrm flipV="1">
            <a:off x="5715000" y="2571750"/>
            <a:ext cx="1905000" cy="9525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edge-13"/>
          <p:cNvSpPr/>
          <p:nvPr/>
        </p:nvSpPr>
        <p:spPr>
          <a:xfrm>
            <a:off x="5715000" y="3524250"/>
            <a:ext cx="1905000" cy="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edge-14"/>
          <p:cNvSpPr/>
          <p:nvPr/>
        </p:nvSpPr>
        <p:spPr>
          <a:xfrm>
            <a:off x="5715000" y="3524250"/>
            <a:ext cx="1905000" cy="9525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dge-15"/>
          <p:cNvSpPr/>
          <p:nvPr/>
        </p:nvSpPr>
        <p:spPr>
          <a:xfrm>
            <a:off x="5715000" y="3524250"/>
            <a:ext cx="1905000" cy="19050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edge-16"/>
          <p:cNvSpPr/>
          <p:nvPr/>
        </p:nvSpPr>
        <p:spPr>
          <a:xfrm flipV="1">
            <a:off x="5715000" y="2571750"/>
            <a:ext cx="1905000" cy="19050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edge-17"/>
          <p:cNvSpPr/>
          <p:nvPr/>
        </p:nvSpPr>
        <p:spPr>
          <a:xfrm flipV="1">
            <a:off x="5715000" y="3524250"/>
            <a:ext cx="1905000" cy="9525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edge-18"/>
          <p:cNvSpPr/>
          <p:nvPr/>
        </p:nvSpPr>
        <p:spPr>
          <a:xfrm>
            <a:off x="5715000" y="4476750"/>
            <a:ext cx="1905000" cy="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edge-19"/>
          <p:cNvSpPr/>
          <p:nvPr/>
        </p:nvSpPr>
        <p:spPr>
          <a:xfrm>
            <a:off x="5715000" y="4476750"/>
            <a:ext cx="1905000" cy="9525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edge-20"/>
          <p:cNvSpPr/>
          <p:nvPr/>
        </p:nvSpPr>
        <p:spPr>
          <a:xfrm flipV="1">
            <a:off x="7620000" y="20955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edge-21"/>
          <p:cNvSpPr/>
          <p:nvPr/>
        </p:nvSpPr>
        <p:spPr>
          <a:xfrm>
            <a:off x="7620000" y="25717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edge-22"/>
          <p:cNvSpPr/>
          <p:nvPr/>
        </p:nvSpPr>
        <p:spPr>
          <a:xfrm>
            <a:off x="7620000" y="257175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edge-23"/>
          <p:cNvSpPr/>
          <p:nvPr/>
        </p:nvSpPr>
        <p:spPr>
          <a:xfrm>
            <a:off x="7620000" y="2571750"/>
            <a:ext cx="1905000" cy="2381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edge-24"/>
          <p:cNvSpPr/>
          <p:nvPr/>
        </p:nvSpPr>
        <p:spPr>
          <a:xfrm>
            <a:off x="7620000" y="2571750"/>
            <a:ext cx="1905000" cy="3333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edge-25"/>
          <p:cNvSpPr/>
          <p:nvPr/>
        </p:nvSpPr>
        <p:spPr>
          <a:xfrm flipV="1">
            <a:off x="7620000" y="209550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edge-26"/>
          <p:cNvSpPr/>
          <p:nvPr/>
        </p:nvSpPr>
        <p:spPr>
          <a:xfrm flipV="1">
            <a:off x="7620000" y="30480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edge-27"/>
          <p:cNvSpPr/>
          <p:nvPr/>
        </p:nvSpPr>
        <p:spPr>
          <a:xfrm>
            <a:off x="7620000" y="35242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edge-28"/>
          <p:cNvSpPr/>
          <p:nvPr/>
        </p:nvSpPr>
        <p:spPr>
          <a:xfrm>
            <a:off x="7620000" y="352425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edge-29"/>
          <p:cNvSpPr/>
          <p:nvPr/>
        </p:nvSpPr>
        <p:spPr>
          <a:xfrm>
            <a:off x="7620000" y="3524250"/>
            <a:ext cx="1905000" cy="2381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edge-30"/>
          <p:cNvSpPr/>
          <p:nvPr/>
        </p:nvSpPr>
        <p:spPr>
          <a:xfrm flipV="1">
            <a:off x="7620000" y="2095500"/>
            <a:ext cx="1905000" cy="2381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edge-31"/>
          <p:cNvSpPr/>
          <p:nvPr/>
        </p:nvSpPr>
        <p:spPr>
          <a:xfrm flipV="1">
            <a:off x="7620000" y="304800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edge-32"/>
          <p:cNvSpPr/>
          <p:nvPr/>
        </p:nvSpPr>
        <p:spPr>
          <a:xfrm flipV="1">
            <a:off x="7620000" y="40005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edge-33"/>
          <p:cNvSpPr/>
          <p:nvPr/>
        </p:nvSpPr>
        <p:spPr>
          <a:xfrm>
            <a:off x="7620000" y="44767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edge-34"/>
          <p:cNvSpPr/>
          <p:nvPr/>
        </p:nvSpPr>
        <p:spPr>
          <a:xfrm>
            <a:off x="7620000" y="447675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edge-35"/>
          <p:cNvSpPr/>
          <p:nvPr/>
        </p:nvSpPr>
        <p:spPr>
          <a:xfrm flipV="1">
            <a:off x="7620000" y="2095500"/>
            <a:ext cx="1905000" cy="3333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edge-36"/>
          <p:cNvSpPr/>
          <p:nvPr/>
        </p:nvSpPr>
        <p:spPr>
          <a:xfrm flipV="1">
            <a:off x="7620000" y="3048000"/>
            <a:ext cx="1905000" cy="2381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edge-37"/>
          <p:cNvSpPr/>
          <p:nvPr/>
        </p:nvSpPr>
        <p:spPr>
          <a:xfrm flipV="1">
            <a:off x="7620000" y="400050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edge-38"/>
          <p:cNvSpPr/>
          <p:nvPr/>
        </p:nvSpPr>
        <p:spPr>
          <a:xfrm flipV="1">
            <a:off x="7620000" y="49530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edge-39"/>
          <p:cNvSpPr/>
          <p:nvPr/>
        </p:nvSpPr>
        <p:spPr>
          <a:xfrm>
            <a:off x="7620000" y="54292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node-0-0"/>
          <p:cNvSpPr/>
          <p:nvPr/>
        </p:nvSpPr>
        <p:spPr>
          <a:xfrm>
            <a:off x="1714500" y="33337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node-0-1"/>
          <p:cNvSpPr/>
          <p:nvPr/>
        </p:nvSpPr>
        <p:spPr>
          <a:xfrm>
            <a:off x="1714500" y="42862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node-1-0"/>
          <p:cNvSpPr/>
          <p:nvPr/>
        </p:nvSpPr>
        <p:spPr>
          <a:xfrm>
            <a:off x="3619500" y="28575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node-1-1"/>
          <p:cNvSpPr/>
          <p:nvPr/>
        </p:nvSpPr>
        <p:spPr>
          <a:xfrm>
            <a:off x="3619500" y="38100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node-1-2"/>
          <p:cNvSpPr/>
          <p:nvPr/>
        </p:nvSpPr>
        <p:spPr>
          <a:xfrm>
            <a:off x="3619500" y="47625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node-2-0"/>
          <p:cNvSpPr/>
          <p:nvPr/>
        </p:nvSpPr>
        <p:spPr>
          <a:xfrm>
            <a:off x="5524500" y="33337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node-2-1"/>
          <p:cNvSpPr/>
          <p:nvPr/>
        </p:nvSpPr>
        <p:spPr>
          <a:xfrm>
            <a:off x="5524500" y="42862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node-3-0"/>
          <p:cNvSpPr/>
          <p:nvPr/>
        </p:nvSpPr>
        <p:spPr>
          <a:xfrm>
            <a:off x="7429500" y="23812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node-3-1"/>
          <p:cNvSpPr/>
          <p:nvPr/>
        </p:nvSpPr>
        <p:spPr>
          <a:xfrm>
            <a:off x="7429500" y="33337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node-3-2"/>
          <p:cNvSpPr/>
          <p:nvPr/>
        </p:nvSpPr>
        <p:spPr>
          <a:xfrm>
            <a:off x="7429500" y="42862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node-3-3"/>
          <p:cNvSpPr/>
          <p:nvPr/>
        </p:nvSpPr>
        <p:spPr>
          <a:xfrm>
            <a:off x="7429500" y="52387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node-4-0"/>
          <p:cNvSpPr/>
          <p:nvPr/>
        </p:nvSpPr>
        <p:spPr>
          <a:xfrm>
            <a:off x="9334500" y="19050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node-4-1"/>
          <p:cNvSpPr/>
          <p:nvPr/>
        </p:nvSpPr>
        <p:spPr>
          <a:xfrm>
            <a:off x="9334500" y="28575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node-4-2"/>
          <p:cNvSpPr/>
          <p:nvPr/>
        </p:nvSpPr>
        <p:spPr>
          <a:xfrm>
            <a:off x="9334500" y="38100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node-4-3"/>
          <p:cNvSpPr/>
          <p:nvPr/>
        </p:nvSpPr>
        <p:spPr>
          <a:xfrm>
            <a:off x="9334500" y="47625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node-4-4"/>
          <p:cNvSpPr/>
          <p:nvPr/>
        </p:nvSpPr>
        <p:spPr>
          <a:xfrm>
            <a:off x="9334500" y="57150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label-0"/>
          <p:cNvSpPr txBox="1"/>
          <p:nvPr/>
        </p:nvSpPr>
        <p:spPr>
          <a:xfrm>
            <a:off x="9906000" y="194310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/done/</a:t>
            </a:r>
            <a:endParaRPr lang="en-US" sz="1600" dirty="0"/>
          </a:p>
        </p:txBody>
      </p:sp>
      <p:sp>
        <p:nvSpPr>
          <p:cNvPr id="61" name="label-1"/>
          <p:cNvSpPr txBox="1"/>
          <p:nvPr/>
        </p:nvSpPr>
        <p:spPr>
          <a:xfrm>
            <a:off x="9906000" y="289560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/dune/</a:t>
            </a:r>
            <a:endParaRPr lang="en-US" sz="1600" dirty="0"/>
          </a:p>
        </p:txBody>
      </p:sp>
      <p:sp>
        <p:nvSpPr>
          <p:cNvPr id="62" name="label-2"/>
          <p:cNvSpPr txBox="1"/>
          <p:nvPr/>
        </p:nvSpPr>
        <p:spPr>
          <a:xfrm>
            <a:off x="9906000" y="384810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/dean/</a:t>
            </a:r>
            <a:endParaRPr lang="en-US" sz="1600" dirty="0"/>
          </a:p>
        </p:txBody>
      </p:sp>
      <p:sp>
        <p:nvSpPr>
          <p:cNvPr id="63" name="label-3"/>
          <p:cNvSpPr txBox="1"/>
          <p:nvPr/>
        </p:nvSpPr>
        <p:spPr>
          <a:xfrm>
            <a:off x="9906000" y="480060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/Don/</a:t>
            </a:r>
            <a:endParaRPr lang="en-US" sz="1600" dirty="0"/>
          </a:p>
        </p:txBody>
      </p:sp>
      <p:sp>
        <p:nvSpPr>
          <p:cNvPr id="64" name="label-4"/>
          <p:cNvSpPr txBox="1"/>
          <p:nvPr/>
        </p:nvSpPr>
        <p:spPr>
          <a:xfrm>
            <a:off x="9906000" y="575310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/Dan/</a:t>
            </a:r>
            <a:endParaRPr lang="en-US" sz="1600" dirty="0"/>
          </a:p>
        </p:txBody>
      </p:sp>
      <p:sp>
        <p:nvSpPr>
          <p:cNvPr id="65" name="caption-0"/>
          <p:cNvSpPr txBox="1"/>
          <p:nvPr/>
        </p:nvSpPr>
        <p:spPr>
          <a:xfrm>
            <a:off x="1143000" y="6286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input · 2</a:t>
            </a:r>
            <a:endParaRPr lang="en-US" sz="1100" dirty="0"/>
          </a:p>
        </p:txBody>
      </p:sp>
      <p:sp>
        <p:nvSpPr>
          <p:cNvPr id="66" name="caption-1"/>
          <p:cNvSpPr txBox="1"/>
          <p:nvPr/>
        </p:nvSpPr>
        <p:spPr>
          <a:xfrm>
            <a:off x="3048000" y="6286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hidden 1 · 3</a:t>
            </a:r>
            <a:endParaRPr lang="en-US" sz="1100" dirty="0"/>
          </a:p>
        </p:txBody>
      </p:sp>
      <p:sp>
        <p:nvSpPr>
          <p:cNvPr id="67" name="caption-2"/>
          <p:cNvSpPr txBox="1"/>
          <p:nvPr/>
        </p:nvSpPr>
        <p:spPr>
          <a:xfrm>
            <a:off x="4953000" y="6286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hidden 2 · 2</a:t>
            </a:r>
            <a:endParaRPr lang="en-US" sz="1100" dirty="0"/>
          </a:p>
        </p:txBody>
      </p:sp>
      <p:sp>
        <p:nvSpPr>
          <p:cNvPr id="68" name="caption-3"/>
          <p:cNvSpPr txBox="1"/>
          <p:nvPr/>
        </p:nvSpPr>
        <p:spPr>
          <a:xfrm>
            <a:off x="6858000" y="6286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hidden 3 · 4</a:t>
            </a:r>
            <a:endParaRPr lang="en-US" sz="1100" dirty="0"/>
          </a:p>
        </p:txBody>
      </p:sp>
      <p:sp>
        <p:nvSpPr>
          <p:cNvPr id="69" name="caption-4"/>
          <p:cNvSpPr txBox="1"/>
          <p:nvPr/>
        </p:nvSpPr>
        <p:spPr>
          <a:xfrm>
            <a:off x="8763000" y="6286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output · 5</a:t>
            </a:r>
            <a:endParaRPr lang="en-US" sz="11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D3F62C6-4257-55DF-C065-27D368FDB1AE}"/>
              </a:ext>
            </a:extLst>
          </p:cNvPr>
          <p:cNvSpPr txBox="1"/>
          <p:nvPr/>
        </p:nvSpPr>
        <p:spPr>
          <a:xfrm>
            <a:off x="1164861" y="3320534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AD68F7C-8B4E-9F71-24E8-CC956920242C}"/>
              </a:ext>
            </a:extLst>
          </p:cNvPr>
          <p:cNvSpPr txBox="1"/>
          <p:nvPr/>
        </p:nvSpPr>
        <p:spPr>
          <a:xfrm>
            <a:off x="1189324" y="4345543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381000"/>
            <a:ext cx="10096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An input, and random weights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09600" y="990600"/>
            <a:ext cx="1009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609600" y="990600"/>
            <a:ext cx="1009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Input (320, 2000). Every edge gets a random weight: </a:t>
            </a:r>
            <a:r>
              <a:rPr lang="en-US" sz="1600" b="1" dirty="0">
                <a:solidFill>
                  <a:schemeClr val="accent4"/>
                </a:solidFill>
              </a:rPr>
              <a:t>blue</a:t>
            </a:r>
            <a:r>
              <a:rPr lang="en-US" sz="1600" dirty="0">
                <a:solidFill>
                  <a:schemeClr val="tx2"/>
                </a:solidFill>
              </a:rPr>
              <a:t> positive, </a:t>
            </a:r>
            <a:r>
              <a:rPr lang="en-US" sz="1600" b="1" dirty="0">
                <a:solidFill>
                  <a:schemeClr val="accent3"/>
                </a:solidFill>
              </a:rPr>
              <a:t>orange</a:t>
            </a:r>
            <a:r>
              <a:rPr lang="en-US" sz="1600" dirty="0">
                <a:solidFill>
                  <a:schemeClr val="tx2"/>
                </a:solidFill>
              </a:rPr>
              <a:t> negative.</a:t>
            </a:r>
            <a:endParaRPr lang="en-US" sz="1600" dirty="0"/>
          </a:p>
        </p:txBody>
      </p:sp>
      <p:sp>
        <p:nvSpPr>
          <p:cNvPr id="5" name="in-link-1"/>
          <p:cNvSpPr/>
          <p:nvPr/>
        </p:nvSpPr>
        <p:spPr>
          <a:xfrm>
            <a:off x="1524000" y="3524250"/>
            <a:ext cx="190500" cy="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in-link-2"/>
          <p:cNvSpPr/>
          <p:nvPr/>
        </p:nvSpPr>
        <p:spPr>
          <a:xfrm>
            <a:off x="1524000" y="4476750"/>
            <a:ext cx="190500" cy="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edge-0"/>
          <p:cNvSpPr/>
          <p:nvPr/>
        </p:nvSpPr>
        <p:spPr>
          <a:xfrm flipV="1">
            <a:off x="1905000" y="30480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dge-1"/>
          <p:cNvSpPr/>
          <p:nvPr/>
        </p:nvSpPr>
        <p:spPr>
          <a:xfrm>
            <a:off x="1905000" y="35242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dge-2"/>
          <p:cNvSpPr/>
          <p:nvPr/>
        </p:nvSpPr>
        <p:spPr>
          <a:xfrm>
            <a:off x="1905000" y="352425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edge-3"/>
          <p:cNvSpPr/>
          <p:nvPr/>
        </p:nvSpPr>
        <p:spPr>
          <a:xfrm flipV="1">
            <a:off x="1905000" y="304800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edge-4"/>
          <p:cNvSpPr/>
          <p:nvPr/>
        </p:nvSpPr>
        <p:spPr>
          <a:xfrm flipV="1">
            <a:off x="1905000" y="40005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edge-5"/>
          <p:cNvSpPr/>
          <p:nvPr/>
        </p:nvSpPr>
        <p:spPr>
          <a:xfrm>
            <a:off x="1905000" y="44767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edge-6"/>
          <p:cNvSpPr/>
          <p:nvPr/>
        </p:nvSpPr>
        <p:spPr>
          <a:xfrm>
            <a:off x="3810000" y="30480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edge-7"/>
          <p:cNvSpPr/>
          <p:nvPr/>
        </p:nvSpPr>
        <p:spPr>
          <a:xfrm>
            <a:off x="3810000" y="304800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edge-8"/>
          <p:cNvSpPr/>
          <p:nvPr/>
        </p:nvSpPr>
        <p:spPr>
          <a:xfrm flipV="1">
            <a:off x="3810000" y="35242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edge-9"/>
          <p:cNvSpPr/>
          <p:nvPr/>
        </p:nvSpPr>
        <p:spPr>
          <a:xfrm>
            <a:off x="3810000" y="40005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edge-10"/>
          <p:cNvSpPr/>
          <p:nvPr/>
        </p:nvSpPr>
        <p:spPr>
          <a:xfrm flipV="1">
            <a:off x="3810000" y="352425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edge-11"/>
          <p:cNvSpPr/>
          <p:nvPr/>
        </p:nvSpPr>
        <p:spPr>
          <a:xfrm flipV="1">
            <a:off x="3810000" y="44767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dge-12"/>
          <p:cNvSpPr/>
          <p:nvPr/>
        </p:nvSpPr>
        <p:spPr>
          <a:xfrm flipV="1">
            <a:off x="5715000" y="2571750"/>
            <a:ext cx="1905000" cy="9525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edge-13"/>
          <p:cNvSpPr/>
          <p:nvPr/>
        </p:nvSpPr>
        <p:spPr>
          <a:xfrm>
            <a:off x="5715000" y="3524250"/>
            <a:ext cx="1905000" cy="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edge-14"/>
          <p:cNvSpPr/>
          <p:nvPr/>
        </p:nvSpPr>
        <p:spPr>
          <a:xfrm>
            <a:off x="5715000" y="3524250"/>
            <a:ext cx="1905000" cy="9525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edge-15"/>
          <p:cNvSpPr/>
          <p:nvPr/>
        </p:nvSpPr>
        <p:spPr>
          <a:xfrm>
            <a:off x="5715000" y="3524250"/>
            <a:ext cx="1905000" cy="19050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edge-16"/>
          <p:cNvSpPr/>
          <p:nvPr/>
        </p:nvSpPr>
        <p:spPr>
          <a:xfrm flipV="1">
            <a:off x="5715000" y="2571750"/>
            <a:ext cx="1905000" cy="19050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edge-17"/>
          <p:cNvSpPr/>
          <p:nvPr/>
        </p:nvSpPr>
        <p:spPr>
          <a:xfrm flipV="1">
            <a:off x="5715000" y="3524250"/>
            <a:ext cx="1905000" cy="9525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edge-18"/>
          <p:cNvSpPr/>
          <p:nvPr/>
        </p:nvSpPr>
        <p:spPr>
          <a:xfrm>
            <a:off x="5715000" y="4476750"/>
            <a:ext cx="1905000" cy="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edge-19"/>
          <p:cNvSpPr/>
          <p:nvPr/>
        </p:nvSpPr>
        <p:spPr>
          <a:xfrm>
            <a:off x="5715000" y="4476750"/>
            <a:ext cx="1905000" cy="9525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edge-20"/>
          <p:cNvSpPr/>
          <p:nvPr/>
        </p:nvSpPr>
        <p:spPr>
          <a:xfrm flipV="1">
            <a:off x="7620000" y="20955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edge-21"/>
          <p:cNvSpPr/>
          <p:nvPr/>
        </p:nvSpPr>
        <p:spPr>
          <a:xfrm>
            <a:off x="7620000" y="25717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edge-22"/>
          <p:cNvSpPr/>
          <p:nvPr/>
        </p:nvSpPr>
        <p:spPr>
          <a:xfrm>
            <a:off x="7620000" y="257175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edge-23"/>
          <p:cNvSpPr/>
          <p:nvPr/>
        </p:nvSpPr>
        <p:spPr>
          <a:xfrm>
            <a:off x="7620000" y="2571750"/>
            <a:ext cx="1905000" cy="2381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edge-24"/>
          <p:cNvSpPr/>
          <p:nvPr/>
        </p:nvSpPr>
        <p:spPr>
          <a:xfrm>
            <a:off x="7620000" y="2571750"/>
            <a:ext cx="1905000" cy="3333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edge-25"/>
          <p:cNvSpPr/>
          <p:nvPr/>
        </p:nvSpPr>
        <p:spPr>
          <a:xfrm flipV="1">
            <a:off x="7620000" y="209550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edge-26"/>
          <p:cNvSpPr/>
          <p:nvPr/>
        </p:nvSpPr>
        <p:spPr>
          <a:xfrm flipV="1">
            <a:off x="7620000" y="30480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edge-27"/>
          <p:cNvSpPr/>
          <p:nvPr/>
        </p:nvSpPr>
        <p:spPr>
          <a:xfrm>
            <a:off x="7620000" y="35242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edge-28"/>
          <p:cNvSpPr/>
          <p:nvPr/>
        </p:nvSpPr>
        <p:spPr>
          <a:xfrm>
            <a:off x="7620000" y="352425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edge-29"/>
          <p:cNvSpPr/>
          <p:nvPr/>
        </p:nvSpPr>
        <p:spPr>
          <a:xfrm>
            <a:off x="7620000" y="3524250"/>
            <a:ext cx="1905000" cy="2381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edge-30"/>
          <p:cNvSpPr/>
          <p:nvPr/>
        </p:nvSpPr>
        <p:spPr>
          <a:xfrm flipV="1">
            <a:off x="7620000" y="2095500"/>
            <a:ext cx="1905000" cy="2381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edge-31"/>
          <p:cNvSpPr/>
          <p:nvPr/>
        </p:nvSpPr>
        <p:spPr>
          <a:xfrm flipV="1">
            <a:off x="7620000" y="304800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edge-32"/>
          <p:cNvSpPr/>
          <p:nvPr/>
        </p:nvSpPr>
        <p:spPr>
          <a:xfrm flipV="1">
            <a:off x="7620000" y="40005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edge-33"/>
          <p:cNvSpPr/>
          <p:nvPr/>
        </p:nvSpPr>
        <p:spPr>
          <a:xfrm>
            <a:off x="7620000" y="44767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edge-34"/>
          <p:cNvSpPr/>
          <p:nvPr/>
        </p:nvSpPr>
        <p:spPr>
          <a:xfrm>
            <a:off x="7620000" y="447675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edge-35"/>
          <p:cNvSpPr/>
          <p:nvPr/>
        </p:nvSpPr>
        <p:spPr>
          <a:xfrm flipV="1">
            <a:off x="7620000" y="2095500"/>
            <a:ext cx="1905000" cy="3333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edge-36"/>
          <p:cNvSpPr/>
          <p:nvPr/>
        </p:nvSpPr>
        <p:spPr>
          <a:xfrm flipV="1">
            <a:off x="7620000" y="3048000"/>
            <a:ext cx="1905000" cy="2381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edge-37"/>
          <p:cNvSpPr/>
          <p:nvPr/>
        </p:nvSpPr>
        <p:spPr>
          <a:xfrm flipV="1">
            <a:off x="7620000" y="400050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edge-38"/>
          <p:cNvSpPr/>
          <p:nvPr/>
        </p:nvSpPr>
        <p:spPr>
          <a:xfrm flipV="1">
            <a:off x="7620000" y="49530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edge-39"/>
          <p:cNvSpPr/>
          <p:nvPr/>
        </p:nvSpPr>
        <p:spPr>
          <a:xfrm>
            <a:off x="7620000" y="54292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weight-0"/>
          <p:cNvSpPr txBox="1"/>
          <p:nvPr/>
        </p:nvSpPr>
        <p:spPr>
          <a:xfrm>
            <a:off x="2676525" y="32146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−0.35</a:t>
            </a:r>
            <a:endParaRPr lang="en-US" sz="1000" dirty="0"/>
          </a:p>
        </p:txBody>
      </p:sp>
      <p:sp>
        <p:nvSpPr>
          <p:cNvPr id="48" name="weight-1"/>
          <p:cNvSpPr txBox="1"/>
          <p:nvPr/>
        </p:nvSpPr>
        <p:spPr>
          <a:xfrm>
            <a:off x="2676525" y="3690937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−0.70</a:t>
            </a:r>
            <a:endParaRPr lang="en-US" sz="1000" dirty="0"/>
          </a:p>
        </p:txBody>
      </p:sp>
      <p:sp>
        <p:nvSpPr>
          <p:cNvPr id="49" name="weight-2"/>
          <p:cNvSpPr txBox="1"/>
          <p:nvPr/>
        </p:nvSpPr>
        <p:spPr>
          <a:xfrm>
            <a:off x="2676525" y="4167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0.30</a:t>
            </a:r>
            <a:endParaRPr lang="en-US" sz="1000" dirty="0"/>
          </a:p>
        </p:txBody>
      </p:sp>
      <p:sp>
        <p:nvSpPr>
          <p:cNvPr id="50" name="weight-3"/>
          <p:cNvSpPr txBox="1"/>
          <p:nvPr/>
        </p:nvSpPr>
        <p:spPr>
          <a:xfrm>
            <a:off x="2295525" y="3976687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−0.86</a:t>
            </a:r>
            <a:endParaRPr lang="en-US" sz="1000" dirty="0"/>
          </a:p>
        </p:txBody>
      </p:sp>
      <p:sp>
        <p:nvSpPr>
          <p:cNvPr id="51" name="weight-4"/>
          <p:cNvSpPr txBox="1"/>
          <p:nvPr/>
        </p:nvSpPr>
        <p:spPr>
          <a:xfrm>
            <a:off x="2295525" y="42624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0.07</a:t>
            </a:r>
            <a:endParaRPr lang="en-US" sz="1000" dirty="0"/>
          </a:p>
        </p:txBody>
      </p:sp>
      <p:sp>
        <p:nvSpPr>
          <p:cNvPr id="52" name="weight-5"/>
          <p:cNvSpPr txBox="1"/>
          <p:nvPr/>
        </p:nvSpPr>
        <p:spPr>
          <a:xfrm>
            <a:off x="2676525" y="46434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−0.27</a:t>
            </a:r>
            <a:endParaRPr lang="en-US" sz="1000" dirty="0"/>
          </a:p>
        </p:txBody>
      </p:sp>
      <p:sp>
        <p:nvSpPr>
          <p:cNvPr id="53" name="weight-6"/>
          <p:cNvSpPr txBox="1"/>
          <p:nvPr/>
        </p:nvSpPr>
        <p:spPr>
          <a:xfrm>
            <a:off x="4581525" y="32146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−0.88</a:t>
            </a:r>
            <a:endParaRPr lang="en-US" sz="1000" dirty="0"/>
          </a:p>
        </p:txBody>
      </p:sp>
      <p:sp>
        <p:nvSpPr>
          <p:cNvPr id="54" name="weight-7"/>
          <p:cNvSpPr txBox="1"/>
          <p:nvPr/>
        </p:nvSpPr>
        <p:spPr>
          <a:xfrm>
            <a:off x="4581525" y="3690937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0.01</a:t>
            </a:r>
            <a:endParaRPr lang="en-US" sz="1000" dirty="0"/>
          </a:p>
        </p:txBody>
      </p:sp>
      <p:sp>
        <p:nvSpPr>
          <p:cNvPr id="55" name="weight-8"/>
          <p:cNvSpPr txBox="1"/>
          <p:nvPr/>
        </p:nvSpPr>
        <p:spPr>
          <a:xfrm>
            <a:off x="4200525" y="3786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−0.93</a:t>
            </a:r>
            <a:endParaRPr lang="en-US" sz="1000" dirty="0"/>
          </a:p>
        </p:txBody>
      </p:sp>
      <p:sp>
        <p:nvSpPr>
          <p:cNvPr id="56" name="weight-9"/>
          <p:cNvSpPr txBox="1"/>
          <p:nvPr/>
        </p:nvSpPr>
        <p:spPr>
          <a:xfrm>
            <a:off x="4581525" y="4167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−0.13</a:t>
            </a:r>
            <a:endParaRPr lang="en-US" sz="1000" dirty="0"/>
          </a:p>
        </p:txBody>
      </p:sp>
      <p:sp>
        <p:nvSpPr>
          <p:cNvPr id="57" name="weight-10"/>
          <p:cNvSpPr txBox="1"/>
          <p:nvPr/>
        </p:nvSpPr>
        <p:spPr>
          <a:xfrm>
            <a:off x="4200525" y="44529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−0.86</a:t>
            </a:r>
            <a:endParaRPr lang="en-US" sz="1000" dirty="0"/>
          </a:p>
        </p:txBody>
      </p:sp>
      <p:sp>
        <p:nvSpPr>
          <p:cNvPr id="58" name="weight-11"/>
          <p:cNvSpPr txBox="1"/>
          <p:nvPr/>
        </p:nvSpPr>
        <p:spPr>
          <a:xfrm>
            <a:off x="4581525" y="46434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−0.82</a:t>
            </a:r>
            <a:endParaRPr lang="en-US" sz="1000" dirty="0"/>
          </a:p>
        </p:txBody>
      </p:sp>
      <p:sp>
        <p:nvSpPr>
          <p:cNvPr id="59" name="weight-12"/>
          <p:cNvSpPr txBox="1"/>
          <p:nvPr/>
        </p:nvSpPr>
        <p:spPr>
          <a:xfrm>
            <a:off x="6486525" y="29670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−0.15</a:t>
            </a:r>
            <a:endParaRPr lang="en-US" sz="1000" dirty="0"/>
          </a:p>
        </p:txBody>
      </p:sp>
      <p:sp>
        <p:nvSpPr>
          <p:cNvPr id="60" name="weight-13"/>
          <p:cNvSpPr txBox="1"/>
          <p:nvPr/>
        </p:nvSpPr>
        <p:spPr>
          <a:xfrm>
            <a:off x="6486525" y="34432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0.65</a:t>
            </a:r>
            <a:endParaRPr lang="en-US" sz="1000" dirty="0"/>
          </a:p>
        </p:txBody>
      </p:sp>
      <p:sp>
        <p:nvSpPr>
          <p:cNvPr id="61" name="weight-14"/>
          <p:cNvSpPr txBox="1"/>
          <p:nvPr/>
        </p:nvSpPr>
        <p:spPr>
          <a:xfrm>
            <a:off x="6486525" y="3919537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−0.75</a:t>
            </a:r>
            <a:endParaRPr lang="en-US" sz="1000" dirty="0"/>
          </a:p>
        </p:txBody>
      </p:sp>
      <p:sp>
        <p:nvSpPr>
          <p:cNvPr id="62" name="weight-15"/>
          <p:cNvSpPr txBox="1"/>
          <p:nvPr/>
        </p:nvSpPr>
        <p:spPr>
          <a:xfrm>
            <a:off x="6486525" y="43957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−0.55</a:t>
            </a:r>
            <a:endParaRPr lang="en-US" sz="1000" dirty="0"/>
          </a:p>
        </p:txBody>
      </p:sp>
      <p:sp>
        <p:nvSpPr>
          <p:cNvPr id="63" name="weight-16"/>
          <p:cNvSpPr txBox="1"/>
          <p:nvPr/>
        </p:nvSpPr>
        <p:spPr>
          <a:xfrm>
            <a:off x="6296025" y="36337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0.25</a:t>
            </a:r>
            <a:endParaRPr lang="en-US" sz="1000" dirty="0"/>
          </a:p>
        </p:txBody>
      </p:sp>
      <p:sp>
        <p:nvSpPr>
          <p:cNvPr id="64" name="weight-17"/>
          <p:cNvSpPr txBox="1"/>
          <p:nvPr/>
        </p:nvSpPr>
        <p:spPr>
          <a:xfrm>
            <a:off x="6105525" y="41100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0.90</a:t>
            </a:r>
            <a:endParaRPr lang="en-US" sz="1000" dirty="0"/>
          </a:p>
        </p:txBody>
      </p:sp>
      <p:sp>
        <p:nvSpPr>
          <p:cNvPr id="65" name="weight-18"/>
          <p:cNvSpPr txBox="1"/>
          <p:nvPr/>
        </p:nvSpPr>
        <p:spPr>
          <a:xfrm>
            <a:off x="6105525" y="43957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0.15</a:t>
            </a:r>
            <a:endParaRPr lang="en-US" sz="1000" dirty="0"/>
          </a:p>
        </p:txBody>
      </p:sp>
      <p:sp>
        <p:nvSpPr>
          <p:cNvPr id="66" name="weight-19"/>
          <p:cNvSpPr txBox="1"/>
          <p:nvPr/>
        </p:nvSpPr>
        <p:spPr>
          <a:xfrm>
            <a:off x="6486525" y="48720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−0.21</a:t>
            </a:r>
            <a:endParaRPr lang="en-US" sz="1000" dirty="0"/>
          </a:p>
        </p:txBody>
      </p:sp>
      <p:sp>
        <p:nvSpPr>
          <p:cNvPr id="67" name="weight-20"/>
          <p:cNvSpPr txBox="1"/>
          <p:nvPr/>
        </p:nvSpPr>
        <p:spPr>
          <a:xfrm>
            <a:off x="8391525" y="2262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0.95</a:t>
            </a:r>
            <a:endParaRPr lang="en-US" sz="1000" dirty="0"/>
          </a:p>
        </p:txBody>
      </p:sp>
      <p:sp>
        <p:nvSpPr>
          <p:cNvPr id="68" name="weight-21"/>
          <p:cNvSpPr txBox="1"/>
          <p:nvPr/>
        </p:nvSpPr>
        <p:spPr>
          <a:xfrm>
            <a:off x="8391525" y="27384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−0.91</a:t>
            </a:r>
            <a:endParaRPr lang="en-US" sz="1000" dirty="0"/>
          </a:p>
        </p:txBody>
      </p:sp>
      <p:sp>
        <p:nvSpPr>
          <p:cNvPr id="69" name="weight-22"/>
          <p:cNvSpPr txBox="1"/>
          <p:nvPr/>
        </p:nvSpPr>
        <p:spPr>
          <a:xfrm>
            <a:off x="8391525" y="32146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0.72</a:t>
            </a:r>
            <a:endParaRPr lang="en-US" sz="1000" dirty="0"/>
          </a:p>
        </p:txBody>
      </p:sp>
      <p:sp>
        <p:nvSpPr>
          <p:cNvPr id="70" name="weight-23"/>
          <p:cNvSpPr txBox="1"/>
          <p:nvPr/>
        </p:nvSpPr>
        <p:spPr>
          <a:xfrm>
            <a:off x="8391525" y="3690937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−0.42</a:t>
            </a:r>
            <a:endParaRPr lang="en-US" sz="1000" dirty="0"/>
          </a:p>
        </p:txBody>
      </p:sp>
      <p:sp>
        <p:nvSpPr>
          <p:cNvPr id="71" name="weight-24"/>
          <p:cNvSpPr txBox="1"/>
          <p:nvPr/>
        </p:nvSpPr>
        <p:spPr>
          <a:xfrm>
            <a:off x="8391525" y="4167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−0.71</a:t>
            </a:r>
            <a:endParaRPr lang="en-US" sz="1000" dirty="0"/>
          </a:p>
        </p:txBody>
      </p:sp>
      <p:sp>
        <p:nvSpPr>
          <p:cNvPr id="72" name="weight-25"/>
          <p:cNvSpPr txBox="1"/>
          <p:nvPr/>
        </p:nvSpPr>
        <p:spPr>
          <a:xfrm>
            <a:off x="8010525" y="3024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−0.76</a:t>
            </a:r>
            <a:endParaRPr lang="en-US" sz="1000" dirty="0"/>
          </a:p>
        </p:txBody>
      </p:sp>
      <p:sp>
        <p:nvSpPr>
          <p:cNvPr id="73" name="weight-26"/>
          <p:cNvSpPr txBox="1"/>
          <p:nvPr/>
        </p:nvSpPr>
        <p:spPr>
          <a:xfrm>
            <a:off x="8010525" y="33099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−0.38</a:t>
            </a:r>
            <a:endParaRPr lang="en-US" sz="1000" dirty="0"/>
          </a:p>
        </p:txBody>
      </p:sp>
      <p:sp>
        <p:nvSpPr>
          <p:cNvPr id="74" name="weight-27"/>
          <p:cNvSpPr txBox="1"/>
          <p:nvPr/>
        </p:nvSpPr>
        <p:spPr>
          <a:xfrm>
            <a:off x="8010525" y="35956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0.63</a:t>
            </a:r>
            <a:endParaRPr lang="en-US" sz="1000" dirty="0"/>
          </a:p>
        </p:txBody>
      </p:sp>
      <p:sp>
        <p:nvSpPr>
          <p:cNvPr id="75" name="weight-28"/>
          <p:cNvSpPr txBox="1"/>
          <p:nvPr/>
        </p:nvSpPr>
        <p:spPr>
          <a:xfrm>
            <a:off x="8010525" y="38814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−0.64</a:t>
            </a:r>
            <a:endParaRPr lang="en-US" sz="1000" dirty="0"/>
          </a:p>
        </p:txBody>
      </p:sp>
      <p:sp>
        <p:nvSpPr>
          <p:cNvPr id="76" name="weight-29"/>
          <p:cNvSpPr txBox="1"/>
          <p:nvPr/>
        </p:nvSpPr>
        <p:spPr>
          <a:xfrm>
            <a:off x="8391525" y="46434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0.16</a:t>
            </a:r>
            <a:endParaRPr lang="en-US" sz="1000" dirty="0"/>
          </a:p>
        </p:txBody>
      </p:sp>
      <p:sp>
        <p:nvSpPr>
          <p:cNvPr id="77" name="weight-30"/>
          <p:cNvSpPr txBox="1"/>
          <p:nvPr/>
        </p:nvSpPr>
        <p:spPr>
          <a:xfrm>
            <a:off x="8582025" y="29670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0.28</a:t>
            </a:r>
            <a:endParaRPr lang="en-US" sz="1000" dirty="0"/>
          </a:p>
        </p:txBody>
      </p:sp>
      <p:sp>
        <p:nvSpPr>
          <p:cNvPr id="78" name="weight-31"/>
          <p:cNvSpPr txBox="1"/>
          <p:nvPr/>
        </p:nvSpPr>
        <p:spPr>
          <a:xfrm>
            <a:off x="8772525" y="3405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−0.26</a:t>
            </a:r>
            <a:endParaRPr lang="en-US" sz="1000" dirty="0"/>
          </a:p>
        </p:txBody>
      </p:sp>
      <p:sp>
        <p:nvSpPr>
          <p:cNvPr id="79" name="weight-32"/>
          <p:cNvSpPr txBox="1"/>
          <p:nvPr/>
        </p:nvSpPr>
        <p:spPr>
          <a:xfrm>
            <a:off x="8010525" y="42624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0.10</a:t>
            </a:r>
            <a:endParaRPr lang="en-US" sz="1000" dirty="0"/>
          </a:p>
        </p:txBody>
      </p:sp>
      <p:sp>
        <p:nvSpPr>
          <p:cNvPr id="80" name="weight-33"/>
          <p:cNvSpPr txBox="1"/>
          <p:nvPr/>
        </p:nvSpPr>
        <p:spPr>
          <a:xfrm>
            <a:off x="8010525" y="4548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−0.87</a:t>
            </a:r>
            <a:endParaRPr lang="en-US" sz="1000" dirty="0"/>
          </a:p>
        </p:txBody>
      </p:sp>
      <p:sp>
        <p:nvSpPr>
          <p:cNvPr id="81" name="weight-34"/>
          <p:cNvSpPr txBox="1"/>
          <p:nvPr/>
        </p:nvSpPr>
        <p:spPr>
          <a:xfrm>
            <a:off x="8391525" y="51196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−0.88</a:t>
            </a:r>
            <a:endParaRPr lang="en-US" sz="1000" dirty="0"/>
          </a:p>
        </p:txBody>
      </p:sp>
      <p:sp>
        <p:nvSpPr>
          <p:cNvPr id="82" name="weight-35"/>
          <p:cNvSpPr txBox="1"/>
          <p:nvPr/>
        </p:nvSpPr>
        <p:spPr>
          <a:xfrm>
            <a:off x="7781925" y="47577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−0.59</a:t>
            </a:r>
            <a:endParaRPr lang="en-US" sz="1000" dirty="0"/>
          </a:p>
        </p:txBody>
      </p:sp>
      <p:sp>
        <p:nvSpPr>
          <p:cNvPr id="83" name="weight-36"/>
          <p:cNvSpPr txBox="1"/>
          <p:nvPr/>
        </p:nvSpPr>
        <p:spPr>
          <a:xfrm>
            <a:off x="8582025" y="3919537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0.36</a:t>
            </a:r>
            <a:endParaRPr lang="en-US" sz="1000" dirty="0"/>
          </a:p>
        </p:txBody>
      </p:sp>
      <p:sp>
        <p:nvSpPr>
          <p:cNvPr id="84" name="weight-37"/>
          <p:cNvSpPr txBox="1"/>
          <p:nvPr/>
        </p:nvSpPr>
        <p:spPr>
          <a:xfrm>
            <a:off x="8010525" y="4929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−0.14</a:t>
            </a:r>
            <a:endParaRPr lang="en-US" sz="1000" dirty="0"/>
          </a:p>
        </p:txBody>
      </p:sp>
      <p:sp>
        <p:nvSpPr>
          <p:cNvPr id="85" name="weight-38"/>
          <p:cNvSpPr txBox="1"/>
          <p:nvPr/>
        </p:nvSpPr>
        <p:spPr>
          <a:xfrm>
            <a:off x="8010525" y="52149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−0.37</a:t>
            </a:r>
            <a:endParaRPr lang="en-US" sz="1000" dirty="0"/>
          </a:p>
        </p:txBody>
      </p:sp>
      <p:sp>
        <p:nvSpPr>
          <p:cNvPr id="86" name="weight-39"/>
          <p:cNvSpPr txBox="1"/>
          <p:nvPr/>
        </p:nvSpPr>
        <p:spPr>
          <a:xfrm>
            <a:off x="8391525" y="55959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0.17</a:t>
            </a:r>
            <a:endParaRPr lang="en-US" sz="1000" dirty="0"/>
          </a:p>
        </p:txBody>
      </p:sp>
      <p:sp>
        <p:nvSpPr>
          <p:cNvPr id="87" name="node-0-0"/>
          <p:cNvSpPr/>
          <p:nvPr/>
        </p:nvSpPr>
        <p:spPr>
          <a:xfrm>
            <a:off x="1714500" y="33337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node-0-1"/>
          <p:cNvSpPr/>
          <p:nvPr/>
        </p:nvSpPr>
        <p:spPr>
          <a:xfrm>
            <a:off x="1714500" y="42862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node-1-0"/>
          <p:cNvSpPr/>
          <p:nvPr/>
        </p:nvSpPr>
        <p:spPr>
          <a:xfrm>
            <a:off x="3619500" y="28575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node-1-1"/>
          <p:cNvSpPr/>
          <p:nvPr/>
        </p:nvSpPr>
        <p:spPr>
          <a:xfrm>
            <a:off x="3619500" y="38100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node-1-2"/>
          <p:cNvSpPr/>
          <p:nvPr/>
        </p:nvSpPr>
        <p:spPr>
          <a:xfrm>
            <a:off x="3619500" y="47625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node-2-0"/>
          <p:cNvSpPr/>
          <p:nvPr/>
        </p:nvSpPr>
        <p:spPr>
          <a:xfrm>
            <a:off x="5524500" y="33337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node-2-1"/>
          <p:cNvSpPr/>
          <p:nvPr/>
        </p:nvSpPr>
        <p:spPr>
          <a:xfrm>
            <a:off x="5524500" y="42862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node-3-0"/>
          <p:cNvSpPr/>
          <p:nvPr/>
        </p:nvSpPr>
        <p:spPr>
          <a:xfrm>
            <a:off x="7429500" y="23812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node-3-1"/>
          <p:cNvSpPr/>
          <p:nvPr/>
        </p:nvSpPr>
        <p:spPr>
          <a:xfrm>
            <a:off x="7429500" y="33337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node-3-2"/>
          <p:cNvSpPr/>
          <p:nvPr/>
        </p:nvSpPr>
        <p:spPr>
          <a:xfrm>
            <a:off x="7429500" y="42862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node-3-3"/>
          <p:cNvSpPr/>
          <p:nvPr/>
        </p:nvSpPr>
        <p:spPr>
          <a:xfrm>
            <a:off x="7429500" y="52387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node-4-0"/>
          <p:cNvSpPr/>
          <p:nvPr/>
        </p:nvSpPr>
        <p:spPr>
          <a:xfrm>
            <a:off x="9334500" y="19050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node-4-1"/>
          <p:cNvSpPr/>
          <p:nvPr/>
        </p:nvSpPr>
        <p:spPr>
          <a:xfrm>
            <a:off x="9334500" y="28575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node-4-2"/>
          <p:cNvSpPr/>
          <p:nvPr/>
        </p:nvSpPr>
        <p:spPr>
          <a:xfrm>
            <a:off x="9334500" y="38100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node-4-3"/>
          <p:cNvSpPr/>
          <p:nvPr/>
        </p:nvSpPr>
        <p:spPr>
          <a:xfrm>
            <a:off x="9334500" y="47625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node-4-4"/>
          <p:cNvSpPr/>
          <p:nvPr/>
        </p:nvSpPr>
        <p:spPr>
          <a:xfrm>
            <a:off x="9334500" y="57150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input-0"/>
          <p:cNvSpPr txBox="1"/>
          <p:nvPr/>
        </p:nvSpPr>
        <p:spPr>
          <a:xfrm>
            <a:off x="609600" y="3333750"/>
            <a:ext cx="914400" cy="381000"/>
          </a:xfrm>
          <a:prstGeom prst="roundRect">
            <a:avLst>
              <a:gd name="adj" fmla="val 192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320</a:t>
            </a:r>
            <a:endParaRPr lang="en-US" sz="1400" dirty="0"/>
          </a:p>
        </p:txBody>
      </p:sp>
      <p:sp>
        <p:nvSpPr>
          <p:cNvPr id="104" name="input-1"/>
          <p:cNvSpPr txBox="1"/>
          <p:nvPr/>
        </p:nvSpPr>
        <p:spPr>
          <a:xfrm>
            <a:off x="609600" y="4286250"/>
            <a:ext cx="914400" cy="381000"/>
          </a:xfrm>
          <a:prstGeom prst="roundRect">
            <a:avLst>
              <a:gd name="adj" fmla="val 192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endParaRPr lang="en-US" sz="1400" dirty="0"/>
          </a:p>
        </p:txBody>
      </p:sp>
      <p:sp>
        <p:nvSpPr>
          <p:cNvPr id="105" name="label-0"/>
          <p:cNvSpPr txBox="1"/>
          <p:nvPr/>
        </p:nvSpPr>
        <p:spPr>
          <a:xfrm>
            <a:off x="9906000" y="194310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/done/</a:t>
            </a:r>
            <a:endParaRPr lang="en-US" sz="1600" dirty="0"/>
          </a:p>
        </p:txBody>
      </p:sp>
      <p:sp>
        <p:nvSpPr>
          <p:cNvPr id="106" name="label-1"/>
          <p:cNvSpPr txBox="1"/>
          <p:nvPr/>
        </p:nvSpPr>
        <p:spPr>
          <a:xfrm>
            <a:off x="9906000" y="289560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/dune/</a:t>
            </a:r>
            <a:endParaRPr lang="en-US" sz="1600" dirty="0"/>
          </a:p>
        </p:txBody>
      </p:sp>
      <p:sp>
        <p:nvSpPr>
          <p:cNvPr id="107" name="label-2"/>
          <p:cNvSpPr txBox="1"/>
          <p:nvPr/>
        </p:nvSpPr>
        <p:spPr>
          <a:xfrm>
            <a:off x="9906000" y="384810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/dean/</a:t>
            </a:r>
            <a:endParaRPr lang="en-US" sz="1600" dirty="0"/>
          </a:p>
        </p:txBody>
      </p:sp>
      <p:sp>
        <p:nvSpPr>
          <p:cNvPr id="108" name="label-3"/>
          <p:cNvSpPr txBox="1"/>
          <p:nvPr/>
        </p:nvSpPr>
        <p:spPr>
          <a:xfrm>
            <a:off x="9906000" y="480060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/Don/</a:t>
            </a:r>
            <a:endParaRPr lang="en-US" sz="1600" dirty="0"/>
          </a:p>
        </p:txBody>
      </p:sp>
      <p:sp>
        <p:nvSpPr>
          <p:cNvPr id="109" name="label-4"/>
          <p:cNvSpPr txBox="1"/>
          <p:nvPr/>
        </p:nvSpPr>
        <p:spPr>
          <a:xfrm>
            <a:off x="9906000" y="575310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/Dan/</a:t>
            </a:r>
            <a:endParaRPr lang="en-US" sz="1600" dirty="0"/>
          </a:p>
        </p:txBody>
      </p:sp>
      <p:sp>
        <p:nvSpPr>
          <p:cNvPr id="110" name="caption-0"/>
          <p:cNvSpPr txBox="1"/>
          <p:nvPr/>
        </p:nvSpPr>
        <p:spPr>
          <a:xfrm>
            <a:off x="1143000" y="6286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input · 2</a:t>
            </a:r>
            <a:endParaRPr lang="en-US" sz="1100" dirty="0"/>
          </a:p>
        </p:txBody>
      </p:sp>
      <p:sp>
        <p:nvSpPr>
          <p:cNvPr id="111" name="caption-1"/>
          <p:cNvSpPr txBox="1"/>
          <p:nvPr/>
        </p:nvSpPr>
        <p:spPr>
          <a:xfrm>
            <a:off x="3048000" y="6286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hidden 1 · 3</a:t>
            </a:r>
            <a:endParaRPr lang="en-US" sz="1100" dirty="0"/>
          </a:p>
        </p:txBody>
      </p:sp>
      <p:sp>
        <p:nvSpPr>
          <p:cNvPr id="112" name="caption-2"/>
          <p:cNvSpPr txBox="1"/>
          <p:nvPr/>
        </p:nvSpPr>
        <p:spPr>
          <a:xfrm>
            <a:off x="4953000" y="6286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hidden 2 · 2</a:t>
            </a:r>
            <a:endParaRPr lang="en-US" sz="1100" dirty="0"/>
          </a:p>
        </p:txBody>
      </p:sp>
      <p:sp>
        <p:nvSpPr>
          <p:cNvPr id="113" name="caption-3"/>
          <p:cNvSpPr txBox="1"/>
          <p:nvPr/>
        </p:nvSpPr>
        <p:spPr>
          <a:xfrm>
            <a:off x="6858000" y="6286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hidden 3 · 4</a:t>
            </a:r>
            <a:endParaRPr lang="en-US" sz="1100" dirty="0"/>
          </a:p>
        </p:txBody>
      </p:sp>
      <p:sp>
        <p:nvSpPr>
          <p:cNvPr id="114" name="caption-4"/>
          <p:cNvSpPr txBox="1"/>
          <p:nvPr/>
        </p:nvSpPr>
        <p:spPr>
          <a:xfrm>
            <a:off x="8763000" y="6286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output · 5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381000"/>
            <a:ext cx="10096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Forward flow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09600" y="990600"/>
            <a:ext cx="1009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The input flows forward, layer by layer. At the output: a distribution over the five words.</a:t>
            </a:r>
            <a:endParaRPr lang="en-US" sz="1600" dirty="0"/>
          </a:p>
        </p:txBody>
      </p:sp>
      <p:sp>
        <p:nvSpPr>
          <p:cNvPr id="4" name="in-link-1"/>
          <p:cNvSpPr/>
          <p:nvPr/>
        </p:nvSpPr>
        <p:spPr>
          <a:xfrm>
            <a:off x="1524000" y="3524250"/>
            <a:ext cx="190500" cy="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in-link-2"/>
          <p:cNvSpPr/>
          <p:nvPr/>
        </p:nvSpPr>
        <p:spPr>
          <a:xfrm>
            <a:off x="1524000" y="4476750"/>
            <a:ext cx="190500" cy="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edge-0"/>
          <p:cNvSpPr/>
          <p:nvPr/>
        </p:nvSpPr>
        <p:spPr>
          <a:xfrm flipV="1">
            <a:off x="1905000" y="30480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edge-1"/>
          <p:cNvSpPr/>
          <p:nvPr/>
        </p:nvSpPr>
        <p:spPr>
          <a:xfrm>
            <a:off x="1905000" y="35242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dge-2"/>
          <p:cNvSpPr/>
          <p:nvPr/>
        </p:nvSpPr>
        <p:spPr>
          <a:xfrm>
            <a:off x="1905000" y="352425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dge-3"/>
          <p:cNvSpPr/>
          <p:nvPr/>
        </p:nvSpPr>
        <p:spPr>
          <a:xfrm flipV="1">
            <a:off x="1905000" y="304800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edge-4"/>
          <p:cNvSpPr/>
          <p:nvPr/>
        </p:nvSpPr>
        <p:spPr>
          <a:xfrm flipV="1">
            <a:off x="1905000" y="40005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edge-5"/>
          <p:cNvSpPr/>
          <p:nvPr/>
        </p:nvSpPr>
        <p:spPr>
          <a:xfrm>
            <a:off x="1905000" y="44767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edge-6"/>
          <p:cNvSpPr/>
          <p:nvPr/>
        </p:nvSpPr>
        <p:spPr>
          <a:xfrm>
            <a:off x="3810000" y="30480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edge-7"/>
          <p:cNvSpPr/>
          <p:nvPr/>
        </p:nvSpPr>
        <p:spPr>
          <a:xfrm>
            <a:off x="3810000" y="304800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edge-8"/>
          <p:cNvSpPr/>
          <p:nvPr/>
        </p:nvSpPr>
        <p:spPr>
          <a:xfrm flipV="1">
            <a:off x="3810000" y="35242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edge-9"/>
          <p:cNvSpPr/>
          <p:nvPr/>
        </p:nvSpPr>
        <p:spPr>
          <a:xfrm>
            <a:off x="3810000" y="40005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edge-10"/>
          <p:cNvSpPr/>
          <p:nvPr/>
        </p:nvSpPr>
        <p:spPr>
          <a:xfrm flipV="1">
            <a:off x="3810000" y="352425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edge-11"/>
          <p:cNvSpPr/>
          <p:nvPr/>
        </p:nvSpPr>
        <p:spPr>
          <a:xfrm flipV="1">
            <a:off x="3810000" y="44767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edge-12"/>
          <p:cNvSpPr/>
          <p:nvPr/>
        </p:nvSpPr>
        <p:spPr>
          <a:xfrm flipV="1">
            <a:off x="5715000" y="2571750"/>
            <a:ext cx="1905000" cy="9525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dge-13"/>
          <p:cNvSpPr/>
          <p:nvPr/>
        </p:nvSpPr>
        <p:spPr>
          <a:xfrm>
            <a:off x="5715000" y="3524250"/>
            <a:ext cx="1905000" cy="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edge-14"/>
          <p:cNvSpPr/>
          <p:nvPr/>
        </p:nvSpPr>
        <p:spPr>
          <a:xfrm>
            <a:off x="5715000" y="3524250"/>
            <a:ext cx="1905000" cy="9525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edge-15"/>
          <p:cNvSpPr/>
          <p:nvPr/>
        </p:nvSpPr>
        <p:spPr>
          <a:xfrm>
            <a:off x="5715000" y="3524250"/>
            <a:ext cx="1905000" cy="19050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edge-16"/>
          <p:cNvSpPr/>
          <p:nvPr/>
        </p:nvSpPr>
        <p:spPr>
          <a:xfrm flipV="1">
            <a:off x="5715000" y="2571750"/>
            <a:ext cx="1905000" cy="19050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edge-17"/>
          <p:cNvSpPr/>
          <p:nvPr/>
        </p:nvSpPr>
        <p:spPr>
          <a:xfrm flipV="1">
            <a:off x="5715000" y="3524250"/>
            <a:ext cx="1905000" cy="9525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edge-18"/>
          <p:cNvSpPr/>
          <p:nvPr/>
        </p:nvSpPr>
        <p:spPr>
          <a:xfrm>
            <a:off x="5715000" y="4476750"/>
            <a:ext cx="1905000" cy="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edge-19"/>
          <p:cNvSpPr/>
          <p:nvPr/>
        </p:nvSpPr>
        <p:spPr>
          <a:xfrm>
            <a:off x="5715000" y="4476750"/>
            <a:ext cx="1905000" cy="95250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edge-20"/>
          <p:cNvSpPr/>
          <p:nvPr/>
        </p:nvSpPr>
        <p:spPr>
          <a:xfrm flipV="1">
            <a:off x="7620000" y="20955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edge-21"/>
          <p:cNvSpPr/>
          <p:nvPr/>
        </p:nvSpPr>
        <p:spPr>
          <a:xfrm>
            <a:off x="7620000" y="25717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edge-22"/>
          <p:cNvSpPr/>
          <p:nvPr/>
        </p:nvSpPr>
        <p:spPr>
          <a:xfrm>
            <a:off x="7620000" y="257175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edge-23"/>
          <p:cNvSpPr/>
          <p:nvPr/>
        </p:nvSpPr>
        <p:spPr>
          <a:xfrm>
            <a:off x="7620000" y="2571750"/>
            <a:ext cx="1905000" cy="2381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edge-24"/>
          <p:cNvSpPr/>
          <p:nvPr/>
        </p:nvSpPr>
        <p:spPr>
          <a:xfrm>
            <a:off x="7620000" y="2571750"/>
            <a:ext cx="1905000" cy="3333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edge-25"/>
          <p:cNvSpPr/>
          <p:nvPr/>
        </p:nvSpPr>
        <p:spPr>
          <a:xfrm flipV="1">
            <a:off x="7620000" y="209550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edge-26"/>
          <p:cNvSpPr/>
          <p:nvPr/>
        </p:nvSpPr>
        <p:spPr>
          <a:xfrm flipV="1">
            <a:off x="7620000" y="30480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edge-27"/>
          <p:cNvSpPr/>
          <p:nvPr/>
        </p:nvSpPr>
        <p:spPr>
          <a:xfrm>
            <a:off x="7620000" y="35242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edge-28"/>
          <p:cNvSpPr/>
          <p:nvPr/>
        </p:nvSpPr>
        <p:spPr>
          <a:xfrm>
            <a:off x="7620000" y="352425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edge-29"/>
          <p:cNvSpPr/>
          <p:nvPr/>
        </p:nvSpPr>
        <p:spPr>
          <a:xfrm>
            <a:off x="7620000" y="3524250"/>
            <a:ext cx="1905000" cy="2381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edge-30"/>
          <p:cNvSpPr/>
          <p:nvPr/>
        </p:nvSpPr>
        <p:spPr>
          <a:xfrm flipV="1">
            <a:off x="7620000" y="2095500"/>
            <a:ext cx="1905000" cy="2381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edge-31"/>
          <p:cNvSpPr/>
          <p:nvPr/>
        </p:nvSpPr>
        <p:spPr>
          <a:xfrm flipV="1">
            <a:off x="7620000" y="304800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edge-32"/>
          <p:cNvSpPr/>
          <p:nvPr/>
        </p:nvSpPr>
        <p:spPr>
          <a:xfrm flipV="1">
            <a:off x="7620000" y="40005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edge-33"/>
          <p:cNvSpPr/>
          <p:nvPr/>
        </p:nvSpPr>
        <p:spPr>
          <a:xfrm>
            <a:off x="7620000" y="44767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edge-34"/>
          <p:cNvSpPr/>
          <p:nvPr/>
        </p:nvSpPr>
        <p:spPr>
          <a:xfrm>
            <a:off x="7620000" y="447675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edge-35"/>
          <p:cNvSpPr/>
          <p:nvPr/>
        </p:nvSpPr>
        <p:spPr>
          <a:xfrm flipV="1">
            <a:off x="7620000" y="2095500"/>
            <a:ext cx="1905000" cy="3333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edge-36"/>
          <p:cNvSpPr/>
          <p:nvPr/>
        </p:nvSpPr>
        <p:spPr>
          <a:xfrm flipV="1">
            <a:off x="7620000" y="3048000"/>
            <a:ext cx="1905000" cy="2381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edge-37"/>
          <p:cNvSpPr/>
          <p:nvPr/>
        </p:nvSpPr>
        <p:spPr>
          <a:xfrm flipV="1">
            <a:off x="7620000" y="4000500"/>
            <a:ext cx="1905000" cy="14287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edge-38"/>
          <p:cNvSpPr/>
          <p:nvPr/>
        </p:nvSpPr>
        <p:spPr>
          <a:xfrm flipV="1">
            <a:off x="7620000" y="495300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edge-39"/>
          <p:cNvSpPr/>
          <p:nvPr/>
        </p:nvSpPr>
        <p:spPr>
          <a:xfrm>
            <a:off x="7620000" y="5429250"/>
            <a:ext cx="1905000" cy="476250"/>
          </a:xfrm>
          <a:prstGeom prst="line">
            <a:avLst/>
          </a:prstGeom>
          <a:noFill/>
          <a:ln w="14288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weight-0"/>
          <p:cNvSpPr txBox="1"/>
          <p:nvPr/>
        </p:nvSpPr>
        <p:spPr>
          <a:xfrm>
            <a:off x="2676525" y="32146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−0.35</a:t>
            </a:r>
            <a:endParaRPr lang="en-US" sz="1000" dirty="0"/>
          </a:p>
        </p:txBody>
      </p:sp>
      <p:sp>
        <p:nvSpPr>
          <p:cNvPr id="47" name="weight-1"/>
          <p:cNvSpPr txBox="1"/>
          <p:nvPr/>
        </p:nvSpPr>
        <p:spPr>
          <a:xfrm>
            <a:off x="2676525" y="3690937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−0.70</a:t>
            </a:r>
            <a:endParaRPr lang="en-US" sz="1000" dirty="0"/>
          </a:p>
        </p:txBody>
      </p:sp>
      <p:sp>
        <p:nvSpPr>
          <p:cNvPr id="48" name="weight-2"/>
          <p:cNvSpPr txBox="1"/>
          <p:nvPr/>
        </p:nvSpPr>
        <p:spPr>
          <a:xfrm>
            <a:off x="2676525" y="4167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0.30</a:t>
            </a:r>
            <a:endParaRPr lang="en-US" sz="1000" dirty="0"/>
          </a:p>
        </p:txBody>
      </p:sp>
      <p:sp>
        <p:nvSpPr>
          <p:cNvPr id="49" name="weight-3"/>
          <p:cNvSpPr txBox="1"/>
          <p:nvPr/>
        </p:nvSpPr>
        <p:spPr>
          <a:xfrm>
            <a:off x="2295525" y="3976687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−0.86</a:t>
            </a:r>
            <a:endParaRPr lang="en-US" sz="1000" dirty="0"/>
          </a:p>
        </p:txBody>
      </p:sp>
      <p:sp>
        <p:nvSpPr>
          <p:cNvPr id="50" name="weight-4"/>
          <p:cNvSpPr txBox="1"/>
          <p:nvPr/>
        </p:nvSpPr>
        <p:spPr>
          <a:xfrm>
            <a:off x="2295525" y="42624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0.07</a:t>
            </a:r>
            <a:endParaRPr lang="en-US" sz="1000" dirty="0"/>
          </a:p>
        </p:txBody>
      </p:sp>
      <p:sp>
        <p:nvSpPr>
          <p:cNvPr id="51" name="weight-5"/>
          <p:cNvSpPr txBox="1"/>
          <p:nvPr/>
        </p:nvSpPr>
        <p:spPr>
          <a:xfrm>
            <a:off x="2676525" y="46434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−0.27</a:t>
            </a:r>
            <a:endParaRPr lang="en-US" sz="1000" dirty="0"/>
          </a:p>
        </p:txBody>
      </p:sp>
      <p:sp>
        <p:nvSpPr>
          <p:cNvPr id="52" name="weight-6"/>
          <p:cNvSpPr txBox="1"/>
          <p:nvPr/>
        </p:nvSpPr>
        <p:spPr>
          <a:xfrm>
            <a:off x="4581525" y="32146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−0.88</a:t>
            </a:r>
            <a:endParaRPr lang="en-US" sz="1000" dirty="0"/>
          </a:p>
        </p:txBody>
      </p:sp>
      <p:sp>
        <p:nvSpPr>
          <p:cNvPr id="53" name="weight-7"/>
          <p:cNvSpPr txBox="1"/>
          <p:nvPr/>
        </p:nvSpPr>
        <p:spPr>
          <a:xfrm>
            <a:off x="4581525" y="3690937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0.01</a:t>
            </a:r>
            <a:endParaRPr lang="en-US" sz="1000" dirty="0"/>
          </a:p>
        </p:txBody>
      </p:sp>
      <p:sp>
        <p:nvSpPr>
          <p:cNvPr id="54" name="weight-8"/>
          <p:cNvSpPr txBox="1"/>
          <p:nvPr/>
        </p:nvSpPr>
        <p:spPr>
          <a:xfrm>
            <a:off x="4200525" y="3786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−0.93</a:t>
            </a:r>
            <a:endParaRPr lang="en-US" sz="1000" dirty="0"/>
          </a:p>
        </p:txBody>
      </p:sp>
      <p:sp>
        <p:nvSpPr>
          <p:cNvPr id="55" name="weight-9"/>
          <p:cNvSpPr txBox="1"/>
          <p:nvPr/>
        </p:nvSpPr>
        <p:spPr>
          <a:xfrm>
            <a:off x="4581525" y="4167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−0.13</a:t>
            </a:r>
            <a:endParaRPr lang="en-US" sz="1000" dirty="0"/>
          </a:p>
        </p:txBody>
      </p:sp>
      <p:sp>
        <p:nvSpPr>
          <p:cNvPr id="56" name="weight-10"/>
          <p:cNvSpPr txBox="1"/>
          <p:nvPr/>
        </p:nvSpPr>
        <p:spPr>
          <a:xfrm>
            <a:off x="4200525" y="44529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−0.86</a:t>
            </a:r>
            <a:endParaRPr lang="en-US" sz="1000" dirty="0"/>
          </a:p>
        </p:txBody>
      </p:sp>
      <p:sp>
        <p:nvSpPr>
          <p:cNvPr id="57" name="weight-11"/>
          <p:cNvSpPr txBox="1"/>
          <p:nvPr/>
        </p:nvSpPr>
        <p:spPr>
          <a:xfrm>
            <a:off x="4581525" y="46434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−0.82</a:t>
            </a:r>
            <a:endParaRPr lang="en-US" sz="1000" dirty="0"/>
          </a:p>
        </p:txBody>
      </p:sp>
      <p:sp>
        <p:nvSpPr>
          <p:cNvPr id="58" name="weight-12"/>
          <p:cNvSpPr txBox="1"/>
          <p:nvPr/>
        </p:nvSpPr>
        <p:spPr>
          <a:xfrm>
            <a:off x="6486525" y="29670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−0.15</a:t>
            </a:r>
            <a:endParaRPr lang="en-US" sz="1000" dirty="0"/>
          </a:p>
        </p:txBody>
      </p:sp>
      <p:sp>
        <p:nvSpPr>
          <p:cNvPr id="59" name="weight-13"/>
          <p:cNvSpPr txBox="1"/>
          <p:nvPr/>
        </p:nvSpPr>
        <p:spPr>
          <a:xfrm>
            <a:off x="6486525" y="34432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0.65</a:t>
            </a:r>
            <a:endParaRPr lang="en-US" sz="1000" dirty="0"/>
          </a:p>
        </p:txBody>
      </p:sp>
      <p:sp>
        <p:nvSpPr>
          <p:cNvPr id="60" name="weight-14"/>
          <p:cNvSpPr txBox="1"/>
          <p:nvPr/>
        </p:nvSpPr>
        <p:spPr>
          <a:xfrm>
            <a:off x="6486525" y="3919537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−0.75</a:t>
            </a:r>
            <a:endParaRPr lang="en-US" sz="1000" dirty="0"/>
          </a:p>
        </p:txBody>
      </p:sp>
      <p:sp>
        <p:nvSpPr>
          <p:cNvPr id="61" name="weight-15"/>
          <p:cNvSpPr txBox="1"/>
          <p:nvPr/>
        </p:nvSpPr>
        <p:spPr>
          <a:xfrm>
            <a:off x="6486525" y="43957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−0.55</a:t>
            </a:r>
            <a:endParaRPr lang="en-US" sz="1000" dirty="0"/>
          </a:p>
        </p:txBody>
      </p:sp>
      <p:sp>
        <p:nvSpPr>
          <p:cNvPr id="62" name="weight-16"/>
          <p:cNvSpPr txBox="1"/>
          <p:nvPr/>
        </p:nvSpPr>
        <p:spPr>
          <a:xfrm>
            <a:off x="6296025" y="36337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0.25</a:t>
            </a:r>
            <a:endParaRPr lang="en-US" sz="1000" dirty="0"/>
          </a:p>
        </p:txBody>
      </p:sp>
      <p:sp>
        <p:nvSpPr>
          <p:cNvPr id="63" name="weight-17"/>
          <p:cNvSpPr txBox="1"/>
          <p:nvPr/>
        </p:nvSpPr>
        <p:spPr>
          <a:xfrm>
            <a:off x="6105525" y="41100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0.90</a:t>
            </a:r>
            <a:endParaRPr lang="en-US" sz="1000" dirty="0"/>
          </a:p>
        </p:txBody>
      </p:sp>
      <p:sp>
        <p:nvSpPr>
          <p:cNvPr id="64" name="weight-18"/>
          <p:cNvSpPr txBox="1"/>
          <p:nvPr/>
        </p:nvSpPr>
        <p:spPr>
          <a:xfrm>
            <a:off x="6105525" y="43957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0.15</a:t>
            </a:r>
            <a:endParaRPr lang="en-US" sz="1000" dirty="0"/>
          </a:p>
        </p:txBody>
      </p:sp>
      <p:sp>
        <p:nvSpPr>
          <p:cNvPr id="65" name="weight-19"/>
          <p:cNvSpPr txBox="1"/>
          <p:nvPr/>
        </p:nvSpPr>
        <p:spPr>
          <a:xfrm>
            <a:off x="6486525" y="48720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−0.21</a:t>
            </a:r>
            <a:endParaRPr lang="en-US" sz="1000" dirty="0"/>
          </a:p>
        </p:txBody>
      </p:sp>
      <p:sp>
        <p:nvSpPr>
          <p:cNvPr id="66" name="weight-20"/>
          <p:cNvSpPr txBox="1"/>
          <p:nvPr/>
        </p:nvSpPr>
        <p:spPr>
          <a:xfrm>
            <a:off x="8391525" y="2262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0.95</a:t>
            </a:r>
            <a:endParaRPr lang="en-US" sz="1000" dirty="0"/>
          </a:p>
        </p:txBody>
      </p:sp>
      <p:sp>
        <p:nvSpPr>
          <p:cNvPr id="67" name="weight-21"/>
          <p:cNvSpPr txBox="1"/>
          <p:nvPr/>
        </p:nvSpPr>
        <p:spPr>
          <a:xfrm>
            <a:off x="8391525" y="27384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−0.91</a:t>
            </a:r>
            <a:endParaRPr lang="en-US" sz="1000" dirty="0"/>
          </a:p>
        </p:txBody>
      </p:sp>
      <p:sp>
        <p:nvSpPr>
          <p:cNvPr id="68" name="weight-22"/>
          <p:cNvSpPr txBox="1"/>
          <p:nvPr/>
        </p:nvSpPr>
        <p:spPr>
          <a:xfrm>
            <a:off x="8391525" y="32146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0.72</a:t>
            </a:r>
            <a:endParaRPr lang="en-US" sz="1000" dirty="0"/>
          </a:p>
        </p:txBody>
      </p:sp>
      <p:sp>
        <p:nvSpPr>
          <p:cNvPr id="69" name="weight-23"/>
          <p:cNvSpPr txBox="1"/>
          <p:nvPr/>
        </p:nvSpPr>
        <p:spPr>
          <a:xfrm>
            <a:off x="8391525" y="3690937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−0.42</a:t>
            </a:r>
            <a:endParaRPr lang="en-US" sz="1000" dirty="0"/>
          </a:p>
        </p:txBody>
      </p:sp>
      <p:sp>
        <p:nvSpPr>
          <p:cNvPr id="70" name="weight-24"/>
          <p:cNvSpPr txBox="1"/>
          <p:nvPr/>
        </p:nvSpPr>
        <p:spPr>
          <a:xfrm>
            <a:off x="8391525" y="4167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−0.71</a:t>
            </a:r>
            <a:endParaRPr lang="en-US" sz="1000" dirty="0"/>
          </a:p>
        </p:txBody>
      </p:sp>
      <p:sp>
        <p:nvSpPr>
          <p:cNvPr id="71" name="weight-25"/>
          <p:cNvSpPr txBox="1"/>
          <p:nvPr/>
        </p:nvSpPr>
        <p:spPr>
          <a:xfrm>
            <a:off x="8010525" y="3024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−0.76</a:t>
            </a:r>
            <a:endParaRPr lang="en-US" sz="1000" dirty="0"/>
          </a:p>
        </p:txBody>
      </p:sp>
      <p:sp>
        <p:nvSpPr>
          <p:cNvPr id="72" name="weight-26"/>
          <p:cNvSpPr txBox="1"/>
          <p:nvPr/>
        </p:nvSpPr>
        <p:spPr>
          <a:xfrm>
            <a:off x="8010525" y="33099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−0.38</a:t>
            </a:r>
            <a:endParaRPr lang="en-US" sz="1000" dirty="0"/>
          </a:p>
        </p:txBody>
      </p:sp>
      <p:sp>
        <p:nvSpPr>
          <p:cNvPr id="73" name="weight-27"/>
          <p:cNvSpPr txBox="1"/>
          <p:nvPr/>
        </p:nvSpPr>
        <p:spPr>
          <a:xfrm>
            <a:off x="8010525" y="35956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0.63</a:t>
            </a:r>
            <a:endParaRPr lang="en-US" sz="1000" dirty="0"/>
          </a:p>
        </p:txBody>
      </p:sp>
      <p:sp>
        <p:nvSpPr>
          <p:cNvPr id="74" name="weight-28"/>
          <p:cNvSpPr txBox="1"/>
          <p:nvPr/>
        </p:nvSpPr>
        <p:spPr>
          <a:xfrm>
            <a:off x="8010525" y="38814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−0.64</a:t>
            </a:r>
            <a:endParaRPr lang="en-US" sz="1000" dirty="0"/>
          </a:p>
        </p:txBody>
      </p:sp>
      <p:sp>
        <p:nvSpPr>
          <p:cNvPr id="75" name="weight-29"/>
          <p:cNvSpPr txBox="1"/>
          <p:nvPr/>
        </p:nvSpPr>
        <p:spPr>
          <a:xfrm>
            <a:off x="8391525" y="46434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0.16</a:t>
            </a:r>
            <a:endParaRPr lang="en-US" sz="1000" dirty="0"/>
          </a:p>
        </p:txBody>
      </p:sp>
      <p:sp>
        <p:nvSpPr>
          <p:cNvPr id="76" name="weight-30"/>
          <p:cNvSpPr txBox="1"/>
          <p:nvPr/>
        </p:nvSpPr>
        <p:spPr>
          <a:xfrm>
            <a:off x="8582025" y="29670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0.28</a:t>
            </a:r>
            <a:endParaRPr lang="en-US" sz="1000" dirty="0"/>
          </a:p>
        </p:txBody>
      </p:sp>
      <p:sp>
        <p:nvSpPr>
          <p:cNvPr id="77" name="weight-31"/>
          <p:cNvSpPr txBox="1"/>
          <p:nvPr/>
        </p:nvSpPr>
        <p:spPr>
          <a:xfrm>
            <a:off x="8772525" y="3405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−0.26</a:t>
            </a:r>
            <a:endParaRPr lang="en-US" sz="1000" dirty="0"/>
          </a:p>
        </p:txBody>
      </p:sp>
      <p:sp>
        <p:nvSpPr>
          <p:cNvPr id="78" name="weight-32"/>
          <p:cNvSpPr txBox="1"/>
          <p:nvPr/>
        </p:nvSpPr>
        <p:spPr>
          <a:xfrm>
            <a:off x="8010525" y="42624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0.10</a:t>
            </a:r>
            <a:endParaRPr lang="en-US" sz="1000" dirty="0"/>
          </a:p>
        </p:txBody>
      </p:sp>
      <p:sp>
        <p:nvSpPr>
          <p:cNvPr id="79" name="weight-33"/>
          <p:cNvSpPr txBox="1"/>
          <p:nvPr/>
        </p:nvSpPr>
        <p:spPr>
          <a:xfrm>
            <a:off x="8010525" y="4548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−0.87</a:t>
            </a:r>
            <a:endParaRPr lang="en-US" sz="1000" dirty="0"/>
          </a:p>
        </p:txBody>
      </p:sp>
      <p:sp>
        <p:nvSpPr>
          <p:cNvPr id="80" name="weight-34"/>
          <p:cNvSpPr txBox="1"/>
          <p:nvPr/>
        </p:nvSpPr>
        <p:spPr>
          <a:xfrm>
            <a:off x="8391525" y="51196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−0.88</a:t>
            </a:r>
            <a:endParaRPr lang="en-US" sz="1000" dirty="0"/>
          </a:p>
        </p:txBody>
      </p:sp>
      <p:sp>
        <p:nvSpPr>
          <p:cNvPr id="81" name="weight-35"/>
          <p:cNvSpPr txBox="1"/>
          <p:nvPr/>
        </p:nvSpPr>
        <p:spPr>
          <a:xfrm>
            <a:off x="7781925" y="47577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−0.59</a:t>
            </a:r>
            <a:endParaRPr lang="en-US" sz="1000" dirty="0"/>
          </a:p>
        </p:txBody>
      </p:sp>
      <p:sp>
        <p:nvSpPr>
          <p:cNvPr id="82" name="weight-36"/>
          <p:cNvSpPr txBox="1"/>
          <p:nvPr/>
        </p:nvSpPr>
        <p:spPr>
          <a:xfrm>
            <a:off x="8582025" y="3919537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0.36</a:t>
            </a:r>
            <a:endParaRPr lang="en-US" sz="1000" dirty="0"/>
          </a:p>
        </p:txBody>
      </p:sp>
      <p:sp>
        <p:nvSpPr>
          <p:cNvPr id="83" name="weight-37"/>
          <p:cNvSpPr txBox="1"/>
          <p:nvPr/>
        </p:nvSpPr>
        <p:spPr>
          <a:xfrm>
            <a:off x="8010525" y="492918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−0.14</a:t>
            </a:r>
            <a:endParaRPr lang="en-US" sz="1000" dirty="0"/>
          </a:p>
        </p:txBody>
      </p:sp>
      <p:sp>
        <p:nvSpPr>
          <p:cNvPr id="84" name="weight-38"/>
          <p:cNvSpPr txBox="1"/>
          <p:nvPr/>
        </p:nvSpPr>
        <p:spPr>
          <a:xfrm>
            <a:off x="8010525" y="52149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/>
                </a:solidFill>
              </a:rPr>
              <a:t>−0.37</a:t>
            </a:r>
            <a:endParaRPr lang="en-US" sz="1000" dirty="0"/>
          </a:p>
        </p:txBody>
      </p:sp>
      <p:sp>
        <p:nvSpPr>
          <p:cNvPr id="85" name="weight-39"/>
          <p:cNvSpPr txBox="1"/>
          <p:nvPr/>
        </p:nvSpPr>
        <p:spPr>
          <a:xfrm>
            <a:off x="8391525" y="5595938"/>
            <a:ext cx="361950" cy="1524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4"/>
                </a:solidFill>
              </a:rPr>
              <a:t>0.17</a:t>
            </a:r>
            <a:endParaRPr lang="en-US" sz="1000" dirty="0"/>
          </a:p>
        </p:txBody>
      </p:sp>
      <p:sp>
        <p:nvSpPr>
          <p:cNvPr id="86" name="dot-0"/>
          <p:cNvSpPr/>
          <p:nvPr/>
        </p:nvSpPr>
        <p:spPr>
          <a:xfrm>
            <a:off x="1847850" y="34671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dot-1"/>
          <p:cNvSpPr/>
          <p:nvPr/>
        </p:nvSpPr>
        <p:spPr>
          <a:xfrm>
            <a:off x="1847850" y="34671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dot-2"/>
          <p:cNvSpPr/>
          <p:nvPr/>
        </p:nvSpPr>
        <p:spPr>
          <a:xfrm>
            <a:off x="1847850" y="34671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dot-3"/>
          <p:cNvSpPr/>
          <p:nvPr/>
        </p:nvSpPr>
        <p:spPr>
          <a:xfrm>
            <a:off x="1847850" y="44196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dot-4"/>
          <p:cNvSpPr/>
          <p:nvPr/>
        </p:nvSpPr>
        <p:spPr>
          <a:xfrm>
            <a:off x="1847850" y="44196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dot-5"/>
          <p:cNvSpPr/>
          <p:nvPr/>
        </p:nvSpPr>
        <p:spPr>
          <a:xfrm>
            <a:off x="1847850" y="44196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dot-6"/>
          <p:cNvSpPr/>
          <p:nvPr/>
        </p:nvSpPr>
        <p:spPr>
          <a:xfrm>
            <a:off x="3752850" y="299085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dot-7"/>
          <p:cNvSpPr/>
          <p:nvPr/>
        </p:nvSpPr>
        <p:spPr>
          <a:xfrm>
            <a:off x="3752850" y="299085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dot-8"/>
          <p:cNvSpPr/>
          <p:nvPr/>
        </p:nvSpPr>
        <p:spPr>
          <a:xfrm>
            <a:off x="3752850" y="394335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dot-9"/>
          <p:cNvSpPr/>
          <p:nvPr/>
        </p:nvSpPr>
        <p:spPr>
          <a:xfrm>
            <a:off x="3752850" y="394335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dot-10"/>
          <p:cNvSpPr/>
          <p:nvPr/>
        </p:nvSpPr>
        <p:spPr>
          <a:xfrm>
            <a:off x="3752850" y="489585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dot-11"/>
          <p:cNvSpPr/>
          <p:nvPr/>
        </p:nvSpPr>
        <p:spPr>
          <a:xfrm>
            <a:off x="3752850" y="489585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dot-12"/>
          <p:cNvSpPr/>
          <p:nvPr/>
        </p:nvSpPr>
        <p:spPr>
          <a:xfrm>
            <a:off x="5657850" y="34671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dot-13"/>
          <p:cNvSpPr/>
          <p:nvPr/>
        </p:nvSpPr>
        <p:spPr>
          <a:xfrm>
            <a:off x="5657850" y="34671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dot-14"/>
          <p:cNvSpPr/>
          <p:nvPr/>
        </p:nvSpPr>
        <p:spPr>
          <a:xfrm>
            <a:off x="5657850" y="34671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dot-15"/>
          <p:cNvSpPr/>
          <p:nvPr/>
        </p:nvSpPr>
        <p:spPr>
          <a:xfrm>
            <a:off x="5657850" y="34671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dot-16"/>
          <p:cNvSpPr/>
          <p:nvPr/>
        </p:nvSpPr>
        <p:spPr>
          <a:xfrm>
            <a:off x="5657850" y="44196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dot-17"/>
          <p:cNvSpPr/>
          <p:nvPr/>
        </p:nvSpPr>
        <p:spPr>
          <a:xfrm>
            <a:off x="5657850" y="44196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dot-18"/>
          <p:cNvSpPr/>
          <p:nvPr/>
        </p:nvSpPr>
        <p:spPr>
          <a:xfrm>
            <a:off x="5657850" y="44196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dot-19"/>
          <p:cNvSpPr/>
          <p:nvPr/>
        </p:nvSpPr>
        <p:spPr>
          <a:xfrm>
            <a:off x="5657850" y="44196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dot-20"/>
          <p:cNvSpPr/>
          <p:nvPr/>
        </p:nvSpPr>
        <p:spPr>
          <a:xfrm>
            <a:off x="7562850" y="25146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dot-21"/>
          <p:cNvSpPr/>
          <p:nvPr/>
        </p:nvSpPr>
        <p:spPr>
          <a:xfrm>
            <a:off x="7562850" y="25146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dot-22"/>
          <p:cNvSpPr/>
          <p:nvPr/>
        </p:nvSpPr>
        <p:spPr>
          <a:xfrm>
            <a:off x="7562850" y="25146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dot-23"/>
          <p:cNvSpPr/>
          <p:nvPr/>
        </p:nvSpPr>
        <p:spPr>
          <a:xfrm>
            <a:off x="7562850" y="25146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dot-24"/>
          <p:cNvSpPr/>
          <p:nvPr/>
        </p:nvSpPr>
        <p:spPr>
          <a:xfrm>
            <a:off x="7562850" y="25146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dot-25"/>
          <p:cNvSpPr/>
          <p:nvPr/>
        </p:nvSpPr>
        <p:spPr>
          <a:xfrm>
            <a:off x="7562850" y="34671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dot-26"/>
          <p:cNvSpPr/>
          <p:nvPr/>
        </p:nvSpPr>
        <p:spPr>
          <a:xfrm>
            <a:off x="7562850" y="34671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dot-27"/>
          <p:cNvSpPr/>
          <p:nvPr/>
        </p:nvSpPr>
        <p:spPr>
          <a:xfrm>
            <a:off x="7562850" y="34671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dot-28"/>
          <p:cNvSpPr/>
          <p:nvPr/>
        </p:nvSpPr>
        <p:spPr>
          <a:xfrm>
            <a:off x="7562850" y="34671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dot-29"/>
          <p:cNvSpPr/>
          <p:nvPr/>
        </p:nvSpPr>
        <p:spPr>
          <a:xfrm>
            <a:off x="7562850" y="34671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dot-30"/>
          <p:cNvSpPr/>
          <p:nvPr/>
        </p:nvSpPr>
        <p:spPr>
          <a:xfrm>
            <a:off x="7562850" y="44196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dot-31"/>
          <p:cNvSpPr/>
          <p:nvPr/>
        </p:nvSpPr>
        <p:spPr>
          <a:xfrm>
            <a:off x="7562850" y="44196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dot-32"/>
          <p:cNvSpPr/>
          <p:nvPr/>
        </p:nvSpPr>
        <p:spPr>
          <a:xfrm>
            <a:off x="7562850" y="44196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dot-33"/>
          <p:cNvSpPr/>
          <p:nvPr/>
        </p:nvSpPr>
        <p:spPr>
          <a:xfrm>
            <a:off x="7562850" y="44196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dot-34"/>
          <p:cNvSpPr/>
          <p:nvPr/>
        </p:nvSpPr>
        <p:spPr>
          <a:xfrm>
            <a:off x="7562850" y="44196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dot-35"/>
          <p:cNvSpPr/>
          <p:nvPr/>
        </p:nvSpPr>
        <p:spPr>
          <a:xfrm>
            <a:off x="7562850" y="53721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dot-36"/>
          <p:cNvSpPr/>
          <p:nvPr/>
        </p:nvSpPr>
        <p:spPr>
          <a:xfrm>
            <a:off x="7562850" y="53721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dot-37"/>
          <p:cNvSpPr/>
          <p:nvPr/>
        </p:nvSpPr>
        <p:spPr>
          <a:xfrm>
            <a:off x="7562850" y="53721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dot-38"/>
          <p:cNvSpPr/>
          <p:nvPr/>
        </p:nvSpPr>
        <p:spPr>
          <a:xfrm>
            <a:off x="7562850" y="53721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dot-39"/>
          <p:cNvSpPr/>
          <p:nvPr/>
        </p:nvSpPr>
        <p:spPr>
          <a:xfrm>
            <a:off x="7562850" y="5372100"/>
            <a:ext cx="114300" cy="1143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node-0-0"/>
          <p:cNvSpPr/>
          <p:nvPr/>
        </p:nvSpPr>
        <p:spPr>
          <a:xfrm>
            <a:off x="1714500" y="33337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node-0-1"/>
          <p:cNvSpPr/>
          <p:nvPr/>
        </p:nvSpPr>
        <p:spPr>
          <a:xfrm>
            <a:off x="1714500" y="42862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node-1-0"/>
          <p:cNvSpPr/>
          <p:nvPr/>
        </p:nvSpPr>
        <p:spPr>
          <a:xfrm>
            <a:off x="3619500" y="28575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node-1-1"/>
          <p:cNvSpPr/>
          <p:nvPr/>
        </p:nvSpPr>
        <p:spPr>
          <a:xfrm>
            <a:off x="3619500" y="38100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node-1-2"/>
          <p:cNvSpPr/>
          <p:nvPr/>
        </p:nvSpPr>
        <p:spPr>
          <a:xfrm>
            <a:off x="3619500" y="47625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node-2-0"/>
          <p:cNvSpPr/>
          <p:nvPr/>
        </p:nvSpPr>
        <p:spPr>
          <a:xfrm>
            <a:off x="5524500" y="33337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node-2-1"/>
          <p:cNvSpPr/>
          <p:nvPr/>
        </p:nvSpPr>
        <p:spPr>
          <a:xfrm>
            <a:off x="5524500" y="42862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node-3-0"/>
          <p:cNvSpPr/>
          <p:nvPr/>
        </p:nvSpPr>
        <p:spPr>
          <a:xfrm>
            <a:off x="7429500" y="23812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node-3-1"/>
          <p:cNvSpPr/>
          <p:nvPr/>
        </p:nvSpPr>
        <p:spPr>
          <a:xfrm>
            <a:off x="7429500" y="33337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node-3-2"/>
          <p:cNvSpPr/>
          <p:nvPr/>
        </p:nvSpPr>
        <p:spPr>
          <a:xfrm>
            <a:off x="7429500" y="42862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node-3-3"/>
          <p:cNvSpPr/>
          <p:nvPr/>
        </p:nvSpPr>
        <p:spPr>
          <a:xfrm>
            <a:off x="7429500" y="523875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node-4-0"/>
          <p:cNvSpPr/>
          <p:nvPr/>
        </p:nvSpPr>
        <p:spPr>
          <a:xfrm>
            <a:off x="9334500" y="19050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node-4-1"/>
          <p:cNvSpPr/>
          <p:nvPr/>
        </p:nvSpPr>
        <p:spPr>
          <a:xfrm>
            <a:off x="9334500" y="28575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node-4-2"/>
          <p:cNvSpPr/>
          <p:nvPr/>
        </p:nvSpPr>
        <p:spPr>
          <a:xfrm>
            <a:off x="9334500" y="38100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node-4-3"/>
          <p:cNvSpPr/>
          <p:nvPr/>
        </p:nvSpPr>
        <p:spPr>
          <a:xfrm>
            <a:off x="9334500" y="47625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node-4-4"/>
          <p:cNvSpPr/>
          <p:nvPr/>
        </p:nvSpPr>
        <p:spPr>
          <a:xfrm>
            <a:off x="9334500" y="5715000"/>
            <a:ext cx="381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lit-0-0"/>
          <p:cNvSpPr/>
          <p:nvPr/>
        </p:nvSpPr>
        <p:spPr>
          <a:xfrm>
            <a:off x="1714500" y="3333750"/>
            <a:ext cx="381000" cy="381000"/>
          </a:xfrm>
          <a:prstGeom prst="ellipse">
            <a:avLst/>
          </a:prstGeom>
          <a:solidFill>
            <a:srgbClr val="DBE6FD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lit-0-1"/>
          <p:cNvSpPr/>
          <p:nvPr/>
        </p:nvSpPr>
        <p:spPr>
          <a:xfrm>
            <a:off x="1714500" y="4286250"/>
            <a:ext cx="381000" cy="381000"/>
          </a:xfrm>
          <a:prstGeom prst="ellipse">
            <a:avLst/>
          </a:prstGeom>
          <a:solidFill>
            <a:srgbClr val="DBE6FD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lit-1-0"/>
          <p:cNvSpPr/>
          <p:nvPr/>
        </p:nvSpPr>
        <p:spPr>
          <a:xfrm>
            <a:off x="3619500" y="2857500"/>
            <a:ext cx="381000" cy="381000"/>
          </a:xfrm>
          <a:prstGeom prst="ellipse">
            <a:avLst/>
          </a:prstGeom>
          <a:solidFill>
            <a:srgbClr val="DBE6FD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lit-1-1"/>
          <p:cNvSpPr/>
          <p:nvPr/>
        </p:nvSpPr>
        <p:spPr>
          <a:xfrm>
            <a:off x="3619500" y="3810000"/>
            <a:ext cx="381000" cy="381000"/>
          </a:xfrm>
          <a:prstGeom prst="ellipse">
            <a:avLst/>
          </a:prstGeom>
          <a:solidFill>
            <a:srgbClr val="DBE6FD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lit-1-2"/>
          <p:cNvSpPr/>
          <p:nvPr/>
        </p:nvSpPr>
        <p:spPr>
          <a:xfrm>
            <a:off x="3619500" y="4762500"/>
            <a:ext cx="381000" cy="381000"/>
          </a:xfrm>
          <a:prstGeom prst="ellipse">
            <a:avLst/>
          </a:prstGeom>
          <a:solidFill>
            <a:srgbClr val="DBE6FD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lit-2-0"/>
          <p:cNvSpPr/>
          <p:nvPr/>
        </p:nvSpPr>
        <p:spPr>
          <a:xfrm>
            <a:off x="5524500" y="3333750"/>
            <a:ext cx="381000" cy="381000"/>
          </a:xfrm>
          <a:prstGeom prst="ellipse">
            <a:avLst/>
          </a:prstGeom>
          <a:solidFill>
            <a:srgbClr val="DBE6FD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lit-2-1"/>
          <p:cNvSpPr/>
          <p:nvPr/>
        </p:nvSpPr>
        <p:spPr>
          <a:xfrm>
            <a:off x="5524500" y="4286250"/>
            <a:ext cx="381000" cy="381000"/>
          </a:xfrm>
          <a:prstGeom prst="ellipse">
            <a:avLst/>
          </a:prstGeom>
          <a:solidFill>
            <a:srgbClr val="DBE6FD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lit-3-0"/>
          <p:cNvSpPr/>
          <p:nvPr/>
        </p:nvSpPr>
        <p:spPr>
          <a:xfrm>
            <a:off x="7429500" y="2381250"/>
            <a:ext cx="381000" cy="381000"/>
          </a:xfrm>
          <a:prstGeom prst="ellipse">
            <a:avLst/>
          </a:prstGeom>
          <a:solidFill>
            <a:srgbClr val="DBE6FD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lit-3-1"/>
          <p:cNvSpPr/>
          <p:nvPr/>
        </p:nvSpPr>
        <p:spPr>
          <a:xfrm>
            <a:off x="7429500" y="3333750"/>
            <a:ext cx="381000" cy="381000"/>
          </a:xfrm>
          <a:prstGeom prst="ellipse">
            <a:avLst/>
          </a:prstGeom>
          <a:solidFill>
            <a:srgbClr val="DBE6FD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lit-3-2"/>
          <p:cNvSpPr/>
          <p:nvPr/>
        </p:nvSpPr>
        <p:spPr>
          <a:xfrm>
            <a:off x="7429500" y="4286250"/>
            <a:ext cx="381000" cy="381000"/>
          </a:xfrm>
          <a:prstGeom prst="ellipse">
            <a:avLst/>
          </a:prstGeom>
          <a:solidFill>
            <a:srgbClr val="DBE6FD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lit-3-3"/>
          <p:cNvSpPr/>
          <p:nvPr/>
        </p:nvSpPr>
        <p:spPr>
          <a:xfrm>
            <a:off x="7429500" y="5238750"/>
            <a:ext cx="381000" cy="381000"/>
          </a:xfrm>
          <a:prstGeom prst="ellipse">
            <a:avLst/>
          </a:prstGeom>
          <a:solidFill>
            <a:srgbClr val="DBE6FD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lit-4-0"/>
          <p:cNvSpPr/>
          <p:nvPr/>
        </p:nvSpPr>
        <p:spPr>
          <a:xfrm>
            <a:off x="9334500" y="1905000"/>
            <a:ext cx="381000" cy="381000"/>
          </a:xfrm>
          <a:prstGeom prst="ellipse">
            <a:avLst/>
          </a:prstGeom>
          <a:solidFill>
            <a:srgbClr val="DBE6FD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lit-4-1"/>
          <p:cNvSpPr/>
          <p:nvPr/>
        </p:nvSpPr>
        <p:spPr>
          <a:xfrm>
            <a:off x="9334500" y="2857500"/>
            <a:ext cx="381000" cy="381000"/>
          </a:xfrm>
          <a:prstGeom prst="ellipse">
            <a:avLst/>
          </a:prstGeom>
          <a:solidFill>
            <a:srgbClr val="DBE6FD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lit-4-2"/>
          <p:cNvSpPr/>
          <p:nvPr/>
        </p:nvSpPr>
        <p:spPr>
          <a:xfrm>
            <a:off x="9334500" y="3810000"/>
            <a:ext cx="381000" cy="381000"/>
          </a:xfrm>
          <a:prstGeom prst="ellipse">
            <a:avLst/>
          </a:prstGeom>
          <a:solidFill>
            <a:srgbClr val="DBE6FD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lit-4-3"/>
          <p:cNvSpPr/>
          <p:nvPr/>
        </p:nvSpPr>
        <p:spPr>
          <a:xfrm>
            <a:off x="9334500" y="4762500"/>
            <a:ext cx="381000" cy="381000"/>
          </a:xfrm>
          <a:prstGeom prst="ellipse">
            <a:avLst/>
          </a:prstGeom>
          <a:solidFill>
            <a:srgbClr val="DBE6FD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lit-4-4"/>
          <p:cNvSpPr/>
          <p:nvPr/>
        </p:nvSpPr>
        <p:spPr>
          <a:xfrm>
            <a:off x="9334500" y="5715000"/>
            <a:ext cx="381000" cy="381000"/>
          </a:xfrm>
          <a:prstGeom prst="ellipse">
            <a:avLst/>
          </a:prstGeom>
          <a:solidFill>
            <a:srgbClr val="DBE6FD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input-0"/>
          <p:cNvSpPr txBox="1"/>
          <p:nvPr/>
        </p:nvSpPr>
        <p:spPr>
          <a:xfrm>
            <a:off x="609600" y="3333750"/>
            <a:ext cx="914400" cy="381000"/>
          </a:xfrm>
          <a:prstGeom prst="roundRect">
            <a:avLst>
              <a:gd name="adj" fmla="val 192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320</a:t>
            </a:r>
            <a:endParaRPr lang="en-US" sz="1400" dirty="0"/>
          </a:p>
        </p:txBody>
      </p:sp>
      <p:sp>
        <p:nvSpPr>
          <p:cNvPr id="159" name="input-1"/>
          <p:cNvSpPr txBox="1"/>
          <p:nvPr/>
        </p:nvSpPr>
        <p:spPr>
          <a:xfrm>
            <a:off x="609600" y="4286250"/>
            <a:ext cx="914400" cy="381000"/>
          </a:xfrm>
          <a:prstGeom prst="roundRect">
            <a:avLst>
              <a:gd name="adj" fmla="val 192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endParaRPr lang="en-US" sz="1400" dirty="0"/>
          </a:p>
        </p:txBody>
      </p:sp>
      <p:sp>
        <p:nvSpPr>
          <p:cNvPr id="160" name="label-0"/>
          <p:cNvSpPr txBox="1"/>
          <p:nvPr/>
        </p:nvSpPr>
        <p:spPr>
          <a:xfrm>
            <a:off x="9906000" y="194310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/done/</a:t>
            </a:r>
            <a:endParaRPr lang="en-US" sz="1600" dirty="0"/>
          </a:p>
        </p:txBody>
      </p:sp>
      <p:sp>
        <p:nvSpPr>
          <p:cNvPr id="161" name="label-1"/>
          <p:cNvSpPr txBox="1"/>
          <p:nvPr/>
        </p:nvSpPr>
        <p:spPr>
          <a:xfrm>
            <a:off x="9906000" y="289560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/dune/</a:t>
            </a:r>
            <a:endParaRPr lang="en-US" sz="1600" dirty="0"/>
          </a:p>
        </p:txBody>
      </p:sp>
      <p:sp>
        <p:nvSpPr>
          <p:cNvPr id="162" name="label-2"/>
          <p:cNvSpPr txBox="1"/>
          <p:nvPr/>
        </p:nvSpPr>
        <p:spPr>
          <a:xfrm>
            <a:off x="9906000" y="384810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/dean/</a:t>
            </a:r>
            <a:endParaRPr lang="en-US" sz="1600" dirty="0"/>
          </a:p>
        </p:txBody>
      </p:sp>
      <p:sp>
        <p:nvSpPr>
          <p:cNvPr id="163" name="label-3"/>
          <p:cNvSpPr txBox="1"/>
          <p:nvPr/>
        </p:nvSpPr>
        <p:spPr>
          <a:xfrm>
            <a:off x="9906000" y="480060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/Don/</a:t>
            </a:r>
            <a:endParaRPr lang="en-US" sz="1600" dirty="0"/>
          </a:p>
        </p:txBody>
      </p:sp>
      <p:sp>
        <p:nvSpPr>
          <p:cNvPr id="164" name="label-4"/>
          <p:cNvSpPr txBox="1"/>
          <p:nvPr/>
        </p:nvSpPr>
        <p:spPr>
          <a:xfrm>
            <a:off x="9906000" y="575310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/Dan/</a:t>
            </a:r>
            <a:endParaRPr lang="en-US" sz="1600" dirty="0"/>
          </a:p>
        </p:txBody>
      </p:sp>
      <p:sp>
        <p:nvSpPr>
          <p:cNvPr id="165" name="caption-0"/>
          <p:cNvSpPr txBox="1"/>
          <p:nvPr/>
        </p:nvSpPr>
        <p:spPr>
          <a:xfrm>
            <a:off x="1143000" y="6286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input · 2</a:t>
            </a:r>
            <a:endParaRPr lang="en-US" sz="1100" dirty="0"/>
          </a:p>
        </p:txBody>
      </p:sp>
      <p:sp>
        <p:nvSpPr>
          <p:cNvPr id="166" name="caption-1"/>
          <p:cNvSpPr txBox="1"/>
          <p:nvPr/>
        </p:nvSpPr>
        <p:spPr>
          <a:xfrm>
            <a:off x="3048000" y="6286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hidden 1 · 3</a:t>
            </a:r>
            <a:endParaRPr lang="en-US" sz="1100" dirty="0"/>
          </a:p>
        </p:txBody>
      </p:sp>
      <p:sp>
        <p:nvSpPr>
          <p:cNvPr id="167" name="caption-2"/>
          <p:cNvSpPr txBox="1"/>
          <p:nvPr/>
        </p:nvSpPr>
        <p:spPr>
          <a:xfrm>
            <a:off x="4953000" y="6286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hidden 2 · 2</a:t>
            </a:r>
            <a:endParaRPr lang="en-US" sz="1100" dirty="0"/>
          </a:p>
        </p:txBody>
      </p:sp>
      <p:sp>
        <p:nvSpPr>
          <p:cNvPr id="168" name="caption-3"/>
          <p:cNvSpPr txBox="1"/>
          <p:nvPr/>
        </p:nvSpPr>
        <p:spPr>
          <a:xfrm>
            <a:off x="6858000" y="6286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hidden 3 · 4</a:t>
            </a:r>
            <a:endParaRPr lang="en-US" sz="1100" dirty="0"/>
          </a:p>
        </p:txBody>
      </p:sp>
      <p:sp>
        <p:nvSpPr>
          <p:cNvPr id="169" name="caption-4"/>
          <p:cNvSpPr txBox="1"/>
          <p:nvPr/>
        </p:nvSpPr>
        <p:spPr>
          <a:xfrm>
            <a:off x="8763000" y="6286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output · 5</a:t>
            </a:r>
            <a:endParaRPr lang="en-US" sz="1100" dirty="0"/>
          </a:p>
        </p:txBody>
      </p:sp>
      <p:sp>
        <p:nvSpPr>
          <p:cNvPr id="170" name="pdf-header"/>
          <p:cNvSpPr txBox="1"/>
          <p:nvPr/>
        </p:nvSpPr>
        <p:spPr>
          <a:xfrm>
            <a:off x="10763250" y="1638300"/>
            <a:ext cx="76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p(word)</a:t>
            </a:r>
            <a:endParaRPr lang="en-US" sz="1100" dirty="0"/>
          </a:p>
        </p:txBody>
      </p:sp>
      <p:sp>
        <p:nvSpPr>
          <p:cNvPr id="171" name="bar-0"/>
          <p:cNvSpPr/>
          <p:nvPr/>
        </p:nvSpPr>
        <p:spPr>
          <a:xfrm>
            <a:off x="10763250" y="2028825"/>
            <a:ext cx="762000" cy="13335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val-0"/>
          <p:cNvSpPr txBox="1"/>
          <p:nvPr/>
        </p:nvSpPr>
        <p:spPr>
          <a:xfrm>
            <a:off x="11601450" y="19812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.5</a:t>
            </a:r>
            <a:endParaRPr lang="en-US" sz="1200" dirty="0"/>
          </a:p>
        </p:txBody>
      </p:sp>
      <p:sp>
        <p:nvSpPr>
          <p:cNvPr id="173" name="bar-1"/>
          <p:cNvSpPr/>
          <p:nvPr/>
        </p:nvSpPr>
        <p:spPr>
          <a:xfrm>
            <a:off x="10763250" y="2981325"/>
            <a:ext cx="152400" cy="13335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" name="val-1"/>
          <p:cNvSpPr txBox="1"/>
          <p:nvPr/>
        </p:nvSpPr>
        <p:spPr>
          <a:xfrm>
            <a:off x="10991850" y="29337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</a:t>
            </a:r>
            <a:endParaRPr lang="en-US" sz="1200" dirty="0"/>
          </a:p>
        </p:txBody>
      </p:sp>
      <p:sp>
        <p:nvSpPr>
          <p:cNvPr id="175" name="bar-2"/>
          <p:cNvSpPr/>
          <p:nvPr/>
        </p:nvSpPr>
        <p:spPr>
          <a:xfrm>
            <a:off x="10763250" y="3933825"/>
            <a:ext cx="152400" cy="13335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" name="val-2"/>
          <p:cNvSpPr txBox="1"/>
          <p:nvPr/>
        </p:nvSpPr>
        <p:spPr>
          <a:xfrm>
            <a:off x="10991850" y="38862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</a:t>
            </a:r>
            <a:endParaRPr lang="en-US" sz="1200" dirty="0"/>
          </a:p>
        </p:txBody>
      </p:sp>
      <p:sp>
        <p:nvSpPr>
          <p:cNvPr id="177" name="bar-3"/>
          <p:cNvSpPr/>
          <p:nvPr/>
        </p:nvSpPr>
        <p:spPr>
          <a:xfrm>
            <a:off x="10763250" y="4886325"/>
            <a:ext cx="152400" cy="13335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val-3"/>
          <p:cNvSpPr txBox="1"/>
          <p:nvPr/>
        </p:nvSpPr>
        <p:spPr>
          <a:xfrm>
            <a:off x="10991850" y="48387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</a:t>
            </a:r>
            <a:endParaRPr lang="en-US" sz="1200" dirty="0"/>
          </a:p>
        </p:txBody>
      </p:sp>
      <p:sp>
        <p:nvSpPr>
          <p:cNvPr id="179" name="bar-4"/>
          <p:cNvSpPr/>
          <p:nvPr/>
        </p:nvSpPr>
        <p:spPr>
          <a:xfrm>
            <a:off x="10763250" y="5838825"/>
            <a:ext cx="304800" cy="13335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" name="val-4"/>
          <p:cNvSpPr txBox="1"/>
          <p:nvPr/>
        </p:nvSpPr>
        <p:spPr>
          <a:xfrm>
            <a:off x="11144250" y="57912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</a:t>
            </a:r>
            <a:endParaRPr lang="en-US" sz="1200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B6BC0C1-8159-C469-E01F-159B498D0D8D}"/>
              </a:ext>
            </a:extLst>
          </p:cNvPr>
          <p:cNvSpPr txBox="1"/>
          <p:nvPr/>
        </p:nvSpPr>
        <p:spPr>
          <a:xfrm>
            <a:off x="10190922" y="381000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/>
              <a:t>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381000"/>
            <a:ext cx="10096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The same network in PyTorch</a:t>
            </a:r>
            <a:endParaRPr lang="en-US" sz="3600" dirty="0"/>
          </a:p>
        </p:txBody>
      </p:sp>
      <p:sp>
        <p:nvSpPr>
          <p:cNvPr id="5" name="edge-0"/>
          <p:cNvSpPr/>
          <p:nvPr/>
        </p:nvSpPr>
        <p:spPr>
          <a:xfrm flipV="1">
            <a:off x="986790" y="2777490"/>
            <a:ext cx="1066800" cy="2667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edge-1"/>
          <p:cNvSpPr/>
          <p:nvPr/>
        </p:nvSpPr>
        <p:spPr>
          <a:xfrm>
            <a:off x="986790" y="3044190"/>
            <a:ext cx="1066800" cy="2667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edge-2"/>
          <p:cNvSpPr/>
          <p:nvPr/>
        </p:nvSpPr>
        <p:spPr>
          <a:xfrm>
            <a:off x="986790" y="3044190"/>
            <a:ext cx="1066800" cy="8001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dge-3"/>
          <p:cNvSpPr/>
          <p:nvPr/>
        </p:nvSpPr>
        <p:spPr>
          <a:xfrm flipV="1">
            <a:off x="986790" y="2777490"/>
            <a:ext cx="1066800" cy="8001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dge-4"/>
          <p:cNvSpPr/>
          <p:nvPr/>
        </p:nvSpPr>
        <p:spPr>
          <a:xfrm flipV="1">
            <a:off x="986790" y="3310890"/>
            <a:ext cx="1066800" cy="2667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edge-5"/>
          <p:cNvSpPr/>
          <p:nvPr/>
        </p:nvSpPr>
        <p:spPr>
          <a:xfrm>
            <a:off x="986790" y="3577590"/>
            <a:ext cx="1066800" cy="2667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edge-6"/>
          <p:cNvSpPr/>
          <p:nvPr/>
        </p:nvSpPr>
        <p:spPr>
          <a:xfrm>
            <a:off x="2053590" y="2777490"/>
            <a:ext cx="1066800" cy="2667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edge-7"/>
          <p:cNvSpPr/>
          <p:nvPr/>
        </p:nvSpPr>
        <p:spPr>
          <a:xfrm>
            <a:off x="2053590" y="2777490"/>
            <a:ext cx="1066800" cy="8001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edge-8"/>
          <p:cNvSpPr/>
          <p:nvPr/>
        </p:nvSpPr>
        <p:spPr>
          <a:xfrm flipV="1">
            <a:off x="2053590" y="3044190"/>
            <a:ext cx="1066800" cy="2667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edge-9"/>
          <p:cNvSpPr/>
          <p:nvPr/>
        </p:nvSpPr>
        <p:spPr>
          <a:xfrm>
            <a:off x="2053590" y="3310890"/>
            <a:ext cx="1066800" cy="2667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edge-10"/>
          <p:cNvSpPr/>
          <p:nvPr/>
        </p:nvSpPr>
        <p:spPr>
          <a:xfrm flipV="1">
            <a:off x="2053590" y="3044190"/>
            <a:ext cx="1066800" cy="8001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edge-11"/>
          <p:cNvSpPr/>
          <p:nvPr/>
        </p:nvSpPr>
        <p:spPr>
          <a:xfrm flipV="1">
            <a:off x="2053590" y="3577590"/>
            <a:ext cx="1066800" cy="2667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edge-12"/>
          <p:cNvSpPr/>
          <p:nvPr/>
        </p:nvSpPr>
        <p:spPr>
          <a:xfrm flipV="1">
            <a:off x="3120390" y="2510790"/>
            <a:ext cx="1066800" cy="5334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edge-13"/>
          <p:cNvSpPr/>
          <p:nvPr/>
        </p:nvSpPr>
        <p:spPr>
          <a:xfrm>
            <a:off x="3120390" y="3044190"/>
            <a:ext cx="1066800" cy="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dge-14"/>
          <p:cNvSpPr/>
          <p:nvPr/>
        </p:nvSpPr>
        <p:spPr>
          <a:xfrm>
            <a:off x="3120390" y="3044190"/>
            <a:ext cx="1066800" cy="5334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edge-15"/>
          <p:cNvSpPr/>
          <p:nvPr/>
        </p:nvSpPr>
        <p:spPr>
          <a:xfrm>
            <a:off x="3120390" y="3044190"/>
            <a:ext cx="1066800" cy="10668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edge-16"/>
          <p:cNvSpPr/>
          <p:nvPr/>
        </p:nvSpPr>
        <p:spPr>
          <a:xfrm flipV="1">
            <a:off x="3120390" y="2510790"/>
            <a:ext cx="1066800" cy="10668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edge-17"/>
          <p:cNvSpPr/>
          <p:nvPr/>
        </p:nvSpPr>
        <p:spPr>
          <a:xfrm flipV="1">
            <a:off x="3120390" y="3044190"/>
            <a:ext cx="1066800" cy="5334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edge-18"/>
          <p:cNvSpPr/>
          <p:nvPr/>
        </p:nvSpPr>
        <p:spPr>
          <a:xfrm>
            <a:off x="3120390" y="3577590"/>
            <a:ext cx="1066800" cy="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edge-19"/>
          <p:cNvSpPr/>
          <p:nvPr/>
        </p:nvSpPr>
        <p:spPr>
          <a:xfrm>
            <a:off x="3120390" y="3577590"/>
            <a:ext cx="1066800" cy="5334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edge-20"/>
          <p:cNvSpPr/>
          <p:nvPr/>
        </p:nvSpPr>
        <p:spPr>
          <a:xfrm flipV="1">
            <a:off x="4187190" y="2244090"/>
            <a:ext cx="1066800" cy="2667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edge-21"/>
          <p:cNvSpPr/>
          <p:nvPr/>
        </p:nvSpPr>
        <p:spPr>
          <a:xfrm>
            <a:off x="4187190" y="2510790"/>
            <a:ext cx="1066800" cy="2667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edge-22"/>
          <p:cNvSpPr/>
          <p:nvPr/>
        </p:nvSpPr>
        <p:spPr>
          <a:xfrm>
            <a:off x="4187190" y="2510790"/>
            <a:ext cx="1066800" cy="8001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edge-23"/>
          <p:cNvSpPr/>
          <p:nvPr/>
        </p:nvSpPr>
        <p:spPr>
          <a:xfrm>
            <a:off x="4187190" y="2510790"/>
            <a:ext cx="1066800" cy="13335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edge-24"/>
          <p:cNvSpPr/>
          <p:nvPr/>
        </p:nvSpPr>
        <p:spPr>
          <a:xfrm>
            <a:off x="4187190" y="2510790"/>
            <a:ext cx="1066800" cy="18669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edge-25"/>
          <p:cNvSpPr/>
          <p:nvPr/>
        </p:nvSpPr>
        <p:spPr>
          <a:xfrm flipV="1">
            <a:off x="4187190" y="2244090"/>
            <a:ext cx="1066800" cy="8001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edge-26"/>
          <p:cNvSpPr/>
          <p:nvPr/>
        </p:nvSpPr>
        <p:spPr>
          <a:xfrm flipV="1">
            <a:off x="4187190" y="2777490"/>
            <a:ext cx="1066800" cy="2667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edge-27"/>
          <p:cNvSpPr/>
          <p:nvPr/>
        </p:nvSpPr>
        <p:spPr>
          <a:xfrm>
            <a:off x="4187190" y="3044190"/>
            <a:ext cx="1066800" cy="2667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edge-28"/>
          <p:cNvSpPr/>
          <p:nvPr/>
        </p:nvSpPr>
        <p:spPr>
          <a:xfrm>
            <a:off x="4187190" y="3044190"/>
            <a:ext cx="1066800" cy="8001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edge-29"/>
          <p:cNvSpPr/>
          <p:nvPr/>
        </p:nvSpPr>
        <p:spPr>
          <a:xfrm>
            <a:off x="4187190" y="3044190"/>
            <a:ext cx="1066800" cy="13335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edge-30"/>
          <p:cNvSpPr/>
          <p:nvPr/>
        </p:nvSpPr>
        <p:spPr>
          <a:xfrm flipV="1">
            <a:off x="4187190" y="2244090"/>
            <a:ext cx="1066800" cy="13335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edge-31"/>
          <p:cNvSpPr/>
          <p:nvPr/>
        </p:nvSpPr>
        <p:spPr>
          <a:xfrm flipV="1">
            <a:off x="4187190" y="2777490"/>
            <a:ext cx="1066800" cy="8001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edge-32"/>
          <p:cNvSpPr/>
          <p:nvPr/>
        </p:nvSpPr>
        <p:spPr>
          <a:xfrm flipV="1">
            <a:off x="4187190" y="3310890"/>
            <a:ext cx="1066800" cy="2667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edge-33"/>
          <p:cNvSpPr/>
          <p:nvPr/>
        </p:nvSpPr>
        <p:spPr>
          <a:xfrm>
            <a:off x="4187190" y="3577590"/>
            <a:ext cx="1066800" cy="2667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edge-34"/>
          <p:cNvSpPr/>
          <p:nvPr/>
        </p:nvSpPr>
        <p:spPr>
          <a:xfrm>
            <a:off x="4187190" y="3577590"/>
            <a:ext cx="1066800" cy="8001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edge-35"/>
          <p:cNvSpPr/>
          <p:nvPr/>
        </p:nvSpPr>
        <p:spPr>
          <a:xfrm flipV="1">
            <a:off x="4187190" y="2244090"/>
            <a:ext cx="1066800" cy="18669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edge-36"/>
          <p:cNvSpPr/>
          <p:nvPr/>
        </p:nvSpPr>
        <p:spPr>
          <a:xfrm flipV="1">
            <a:off x="4187190" y="2777490"/>
            <a:ext cx="1066800" cy="13335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edge-37"/>
          <p:cNvSpPr/>
          <p:nvPr/>
        </p:nvSpPr>
        <p:spPr>
          <a:xfrm flipV="1">
            <a:off x="4187190" y="3310890"/>
            <a:ext cx="1066800" cy="8001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edge-38"/>
          <p:cNvSpPr/>
          <p:nvPr/>
        </p:nvSpPr>
        <p:spPr>
          <a:xfrm flipV="1">
            <a:off x="4187190" y="3844290"/>
            <a:ext cx="1066800" cy="2667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edge-39"/>
          <p:cNvSpPr/>
          <p:nvPr/>
        </p:nvSpPr>
        <p:spPr>
          <a:xfrm>
            <a:off x="4187190" y="4110990"/>
            <a:ext cx="1066800" cy="266700"/>
          </a:xfrm>
          <a:prstGeom prst="line">
            <a:avLst/>
          </a:prstGeom>
          <a:noFill/>
          <a:ln w="10716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node-0-0"/>
          <p:cNvSpPr/>
          <p:nvPr/>
        </p:nvSpPr>
        <p:spPr>
          <a:xfrm>
            <a:off x="880110" y="2937510"/>
            <a:ext cx="213360" cy="213360"/>
          </a:xfrm>
          <a:prstGeom prst="ellipse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node-0-1"/>
          <p:cNvSpPr/>
          <p:nvPr/>
        </p:nvSpPr>
        <p:spPr>
          <a:xfrm>
            <a:off x="880110" y="3470910"/>
            <a:ext cx="213360" cy="213360"/>
          </a:xfrm>
          <a:prstGeom prst="ellipse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node-1-0"/>
          <p:cNvSpPr/>
          <p:nvPr/>
        </p:nvSpPr>
        <p:spPr>
          <a:xfrm>
            <a:off x="1946910" y="2670810"/>
            <a:ext cx="213360" cy="213360"/>
          </a:xfrm>
          <a:prstGeom prst="ellipse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node-1-1"/>
          <p:cNvSpPr/>
          <p:nvPr/>
        </p:nvSpPr>
        <p:spPr>
          <a:xfrm>
            <a:off x="1946910" y="3204210"/>
            <a:ext cx="213360" cy="213360"/>
          </a:xfrm>
          <a:prstGeom prst="ellipse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node-1-2"/>
          <p:cNvSpPr/>
          <p:nvPr/>
        </p:nvSpPr>
        <p:spPr>
          <a:xfrm>
            <a:off x="1946910" y="3737610"/>
            <a:ext cx="213360" cy="213360"/>
          </a:xfrm>
          <a:prstGeom prst="ellipse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node-2-0"/>
          <p:cNvSpPr/>
          <p:nvPr/>
        </p:nvSpPr>
        <p:spPr>
          <a:xfrm>
            <a:off x="3013710" y="2937510"/>
            <a:ext cx="213360" cy="213360"/>
          </a:xfrm>
          <a:prstGeom prst="ellipse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node-2-1"/>
          <p:cNvSpPr/>
          <p:nvPr/>
        </p:nvSpPr>
        <p:spPr>
          <a:xfrm>
            <a:off x="3013710" y="3470910"/>
            <a:ext cx="213360" cy="213360"/>
          </a:xfrm>
          <a:prstGeom prst="ellipse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node-3-0"/>
          <p:cNvSpPr/>
          <p:nvPr/>
        </p:nvSpPr>
        <p:spPr>
          <a:xfrm>
            <a:off x="4080510" y="2404110"/>
            <a:ext cx="213360" cy="213360"/>
          </a:xfrm>
          <a:prstGeom prst="ellipse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node-3-1"/>
          <p:cNvSpPr/>
          <p:nvPr/>
        </p:nvSpPr>
        <p:spPr>
          <a:xfrm>
            <a:off x="4080510" y="2937510"/>
            <a:ext cx="213360" cy="213360"/>
          </a:xfrm>
          <a:prstGeom prst="ellipse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node-3-2"/>
          <p:cNvSpPr/>
          <p:nvPr/>
        </p:nvSpPr>
        <p:spPr>
          <a:xfrm>
            <a:off x="4080510" y="3470910"/>
            <a:ext cx="213360" cy="213360"/>
          </a:xfrm>
          <a:prstGeom prst="ellipse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node-3-3"/>
          <p:cNvSpPr/>
          <p:nvPr/>
        </p:nvSpPr>
        <p:spPr>
          <a:xfrm>
            <a:off x="4080510" y="4004310"/>
            <a:ext cx="213360" cy="213360"/>
          </a:xfrm>
          <a:prstGeom prst="ellipse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node-4-0"/>
          <p:cNvSpPr/>
          <p:nvPr/>
        </p:nvSpPr>
        <p:spPr>
          <a:xfrm>
            <a:off x="5147310" y="2137410"/>
            <a:ext cx="213360" cy="213360"/>
          </a:xfrm>
          <a:prstGeom prst="ellipse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node-4-1"/>
          <p:cNvSpPr/>
          <p:nvPr/>
        </p:nvSpPr>
        <p:spPr>
          <a:xfrm>
            <a:off x="5147310" y="2670810"/>
            <a:ext cx="213360" cy="213360"/>
          </a:xfrm>
          <a:prstGeom prst="ellipse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node-4-2"/>
          <p:cNvSpPr/>
          <p:nvPr/>
        </p:nvSpPr>
        <p:spPr>
          <a:xfrm>
            <a:off x="5147310" y="3204210"/>
            <a:ext cx="213360" cy="213360"/>
          </a:xfrm>
          <a:prstGeom prst="ellipse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node-4-3"/>
          <p:cNvSpPr/>
          <p:nvPr/>
        </p:nvSpPr>
        <p:spPr>
          <a:xfrm>
            <a:off x="5147310" y="3737610"/>
            <a:ext cx="213360" cy="213360"/>
          </a:xfrm>
          <a:prstGeom prst="ellipse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node-4-4"/>
          <p:cNvSpPr/>
          <p:nvPr/>
        </p:nvSpPr>
        <p:spPr>
          <a:xfrm>
            <a:off x="5147310" y="4271010"/>
            <a:ext cx="213360" cy="213360"/>
          </a:xfrm>
          <a:prstGeom prst="ellipse">
            <a:avLst/>
          </a:prstGeom>
          <a:solidFill>
            <a:schemeClr val="bg1"/>
          </a:solidFill>
          <a:ln w="14288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label-0"/>
          <p:cNvSpPr txBox="1"/>
          <p:nvPr/>
        </p:nvSpPr>
        <p:spPr>
          <a:xfrm>
            <a:off x="5467350" y="2158746"/>
            <a:ext cx="685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/done/</a:t>
            </a:r>
            <a:endParaRPr lang="en-US" sz="1100" dirty="0"/>
          </a:p>
        </p:txBody>
      </p:sp>
      <p:sp>
        <p:nvSpPr>
          <p:cNvPr id="62" name="label-1"/>
          <p:cNvSpPr txBox="1"/>
          <p:nvPr/>
        </p:nvSpPr>
        <p:spPr>
          <a:xfrm>
            <a:off x="5467350" y="2692146"/>
            <a:ext cx="685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/dune/</a:t>
            </a:r>
            <a:endParaRPr lang="en-US" sz="1100" dirty="0"/>
          </a:p>
        </p:txBody>
      </p:sp>
      <p:sp>
        <p:nvSpPr>
          <p:cNvPr id="63" name="label-2"/>
          <p:cNvSpPr txBox="1"/>
          <p:nvPr/>
        </p:nvSpPr>
        <p:spPr>
          <a:xfrm>
            <a:off x="5467350" y="3225546"/>
            <a:ext cx="685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/dean/</a:t>
            </a:r>
            <a:endParaRPr lang="en-US" sz="1100" dirty="0"/>
          </a:p>
        </p:txBody>
      </p:sp>
      <p:sp>
        <p:nvSpPr>
          <p:cNvPr id="64" name="label-3"/>
          <p:cNvSpPr txBox="1"/>
          <p:nvPr/>
        </p:nvSpPr>
        <p:spPr>
          <a:xfrm>
            <a:off x="5467350" y="3758946"/>
            <a:ext cx="685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/Don/</a:t>
            </a:r>
            <a:endParaRPr lang="en-US" sz="1100" dirty="0"/>
          </a:p>
        </p:txBody>
      </p:sp>
      <p:sp>
        <p:nvSpPr>
          <p:cNvPr id="65" name="label-4"/>
          <p:cNvSpPr txBox="1"/>
          <p:nvPr/>
        </p:nvSpPr>
        <p:spPr>
          <a:xfrm>
            <a:off x="5467350" y="4292346"/>
            <a:ext cx="685800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/Dan/</a:t>
            </a:r>
            <a:endParaRPr lang="en-US" sz="1100" dirty="0"/>
          </a:p>
        </p:txBody>
      </p:sp>
      <p:sp>
        <p:nvSpPr>
          <p:cNvPr id="66" name="caption-0"/>
          <p:cNvSpPr txBox="1"/>
          <p:nvPr/>
        </p:nvSpPr>
        <p:spPr>
          <a:xfrm>
            <a:off x="415290" y="45910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input · 2</a:t>
            </a:r>
            <a:endParaRPr lang="en-US" sz="1100" dirty="0"/>
          </a:p>
        </p:txBody>
      </p:sp>
      <p:sp>
        <p:nvSpPr>
          <p:cNvPr id="67" name="caption-1"/>
          <p:cNvSpPr txBox="1"/>
          <p:nvPr/>
        </p:nvSpPr>
        <p:spPr>
          <a:xfrm>
            <a:off x="1482090" y="45910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hidden 1 · 3</a:t>
            </a:r>
            <a:endParaRPr lang="en-US" sz="1100" dirty="0"/>
          </a:p>
        </p:txBody>
      </p:sp>
      <p:sp>
        <p:nvSpPr>
          <p:cNvPr id="68" name="caption-2"/>
          <p:cNvSpPr txBox="1"/>
          <p:nvPr/>
        </p:nvSpPr>
        <p:spPr>
          <a:xfrm>
            <a:off x="2548890" y="45910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hidden 2 · 2</a:t>
            </a:r>
            <a:endParaRPr lang="en-US" sz="1100" dirty="0"/>
          </a:p>
        </p:txBody>
      </p:sp>
      <p:sp>
        <p:nvSpPr>
          <p:cNvPr id="69" name="caption-3"/>
          <p:cNvSpPr txBox="1"/>
          <p:nvPr/>
        </p:nvSpPr>
        <p:spPr>
          <a:xfrm>
            <a:off x="3615690" y="45910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hidden 3 · 4</a:t>
            </a:r>
            <a:endParaRPr lang="en-US" sz="1100" dirty="0"/>
          </a:p>
        </p:txBody>
      </p:sp>
      <p:sp>
        <p:nvSpPr>
          <p:cNvPr id="70" name="caption-4"/>
          <p:cNvSpPr txBox="1"/>
          <p:nvPr/>
        </p:nvSpPr>
        <p:spPr>
          <a:xfrm>
            <a:off x="4682490" y="45910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output · 5</a:t>
            </a:r>
            <a:endParaRPr lang="en-US" sz="1100" dirty="0"/>
          </a:p>
        </p:txBody>
      </p:sp>
      <p:sp>
        <p:nvSpPr>
          <p:cNvPr id="71" name="pytorch-code"/>
          <p:cNvSpPr/>
          <p:nvPr/>
        </p:nvSpPr>
        <p:spPr>
          <a:xfrm>
            <a:off x="6286500" y="1809750"/>
            <a:ext cx="5372100" cy="3238500"/>
          </a:xfrm>
          <a:prstGeom prst="roundRect">
            <a:avLst>
              <a:gd name="adj" fmla="val 3388"/>
            </a:avLst>
          </a:prstGeom>
          <a:solidFill>
            <a:schemeClr val="tx1"/>
          </a:solidFill>
          <a:ln/>
        </p:spPr>
        <p:txBody>
          <a:bodyPr wrap="square" lIns="228600" tIns="279400" rIns="279400" bIns="22860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torch.nn 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7B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purely linear: 2 → 3 → 2 → 4 → 5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= nn.Sequential(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nn.Linear(</a:t>
            </a: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bias=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 </a:t>
            </a:r>
            <a:r>
              <a:rPr lang="en-US" sz="1300" dirty="0">
                <a:solidFill>
                  <a:srgbClr val="A7B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in → 3 out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nn.Linear(</a:t>
            </a: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bias=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 </a:t>
            </a:r>
            <a:r>
              <a:rPr lang="en-US" sz="1300" dirty="0">
                <a:solidFill>
                  <a:srgbClr val="A7B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in → 2 out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nn.Linear(</a:t>
            </a: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bias=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 </a:t>
            </a:r>
            <a:r>
              <a:rPr lang="en-US" sz="1300" dirty="0">
                <a:solidFill>
                  <a:srgbClr val="A7B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in → 4 out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nn.Linear(</a:t>
            </a: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bias=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 </a:t>
            </a:r>
            <a:r>
              <a:rPr lang="en-US" sz="1300" dirty="0">
                <a:solidFill>
                  <a:srgbClr val="A7B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 in → 5 out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72" name="code-caption"/>
          <p:cNvSpPr txBox="1"/>
          <p:nvPr/>
        </p:nvSpPr>
        <p:spPr>
          <a:xfrm>
            <a:off x="6286500" y="5238750"/>
            <a:ext cx="5372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Declaration only, no training.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bias=False</a:t>
            </a:r>
            <a:r>
              <a:rPr lang="en-US" sz="1400" dirty="0">
                <a:solidFill>
                  <a:schemeClr val="tx2"/>
                </a:solidFill>
              </a:rPr>
              <a:t> keeps every layer purely linear, as in the picture.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3153</TotalTime>
  <Words>1426</Words>
  <Application>Microsoft Macintosh PowerPoint</Application>
  <PresentationFormat>Widescreen</PresentationFormat>
  <Paragraphs>211</Paragraphs>
  <Slides>25</Slides>
  <Notes>8</Notes>
  <HiddenSlides>0</HiddenSlides>
  <MMClips>11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Courier New</vt:lpstr>
      <vt:lpstr>Wingdings</vt:lpstr>
      <vt:lpstr>Office Theme</vt:lpstr>
      <vt:lpstr>Ling 285 Human Language and Technology Lecture 14  Speech  Neural Networks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Pop quiz</vt:lpstr>
      <vt:lpstr>Vowels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Where were you a year ago?</vt:lpstr>
      <vt:lpstr>My favorite experiment to show how complex speech is!!!!!</vt:lpstr>
      <vt:lpstr>Back to AI: We will build an NN that will be trained on your Formants and will decide which vowel is being spoken</vt:lpstr>
      <vt:lpstr>A purely linear network</vt:lpstr>
      <vt:lpstr>An input, and random weights</vt:lpstr>
      <vt:lpstr>Forward flow</vt:lpstr>
      <vt:lpstr>The same network in PyTorch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Khalil Iskarous</dc:creator>
  <cp:lastModifiedBy>Khalil Iskarous</cp:lastModifiedBy>
  <cp:revision>140</cp:revision>
  <dcterms:created xsi:type="dcterms:W3CDTF">2026-08-23T15:08:49Z</dcterms:created>
  <dcterms:modified xsi:type="dcterms:W3CDTF">2026-10-20T16:19:52Z</dcterms:modified>
</cp:coreProperties>
</file>