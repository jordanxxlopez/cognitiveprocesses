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373" r:id="rId3"/>
    <p:sldId id="382" r:id="rId4"/>
    <p:sldId id="383" r:id="rId5"/>
    <p:sldId id="263" r:id="rId6"/>
    <p:sldId id="384" r:id="rId7"/>
    <p:sldId id="385" r:id="rId8"/>
    <p:sldId id="374" r:id="rId9"/>
    <p:sldId id="380" r:id="rId10"/>
    <p:sldId id="370" r:id="rId11"/>
    <p:sldId id="387" r:id="rId12"/>
    <p:sldId id="388" r:id="rId13"/>
    <p:sldId id="257" r:id="rId14"/>
    <p:sldId id="258" r:id="rId15"/>
    <p:sldId id="259" r:id="rId16"/>
    <p:sldId id="260" r:id="rId17"/>
    <p:sldId id="261" r:id="rId18"/>
    <p:sldId id="262" r:id="rId19"/>
    <p:sldId id="389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FF9"/>
    <a:srgbClr val="DDFFEE"/>
    <a:srgbClr val="EBEBEB"/>
    <a:srgbClr val="B8B618"/>
    <a:srgbClr val="F6A79E"/>
    <a:srgbClr val="FFD0D9"/>
    <a:srgbClr val="FF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93"/>
    <p:restoredTop sz="94658"/>
  </p:normalViewPr>
  <p:slideViewPr>
    <p:cSldViewPr snapToGrid="0">
      <p:cViewPr varScale="1">
        <p:scale>
          <a:sx n="109" d="100"/>
          <a:sy n="109" d="100"/>
        </p:scale>
        <p:origin x="192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33.8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3717 24575,'28'0'0,"8"0"0,21-6 0,3-3 0,4-8 0,-8-2 0,-14 2 0,-8 3 0,-13 5 0,-4-2 0,-1-1 0,3-10 0,5-12 0,-1-5 0,2-12 0,2-13 0,4-8 0,4-12 0,-1 0 0,0 1 0,-3 2 0,-6 11 0,-5 7 0,-5 11 0,-1 9 0,-2 6 0,-1 8 0,1 0 0,2-5 0,3-1 0,0 0 0,0 1 0,0 2 0,2 1 0,1 2 0,0 7 0,-4 5 0,-3 4 0,0 4 0,0 0 0,-1 2 0,1 3 0,-1 1 0,-1 5 0,1 10 0,1 7 0,3 11 0,9 10 0,9 7 0,8 11 0,6 3 0,-4-4 0,0-5 0,-6-9 0,-5-7 0,-7-9 0,-8-10 0,-6-4 0,-2-6 0,0-1 0,2-2 0,0-3 0,-1-1 0,-1 0 0,2 0 0,1 0 0,5 0 0,3 0 0,1 0 0,3 0 0,-2 0 0,-1 0 0,0 0 0,-4-5 0,2-8 0,-1-13 0,0-12 0,5-8 0,-1-12 0,0-4 0,1-6 0,-3 1 0,1 3 0,-2 7 0,-3 8 0,1 5 0,-3 3 0,4-1 0,1 1 0,1 5 0,2 4 0,0 4 0,-1 5 0,0 3 0,-3 7 0,-5 5 0,-1 3 0,-4 2 0,1 0 0,4 2 0,1 1 0,0-1 0,3 1 0,2-3 0,2-6 0,3-6 0,0-7 0,-2-3 0,0-6 0,2-10 0,1-9 0,1-5 0,0-2 0,-4 4 0,-3 3 0,-1 5 0,-5 10 0,-1 8 0,-3 10 0,-2 4 0,0 4 0,0 3 0,1 3 0,5 2 0,4 0 0,7 1 0,4 4 0,4 9 0,4 12 0,0 14 0,10 22 0,1 12-309,-25-29 1,0 1 308,18 47 0,-24-45 0,-2 2 0,-1 2 0,0 0 0,-3-2 0,0-1 0,9 46 0,-6-15 0,0-4-5,1-2 5,1 1 0,2-3 0,5-5 0,4-1 0,4-1 0,2-5 0,-1-2 0,-6-9 616,-2-6-616,-5-3 6,0-4-6,-1-3 0,-4-7 0,-1-7 0,-4-5 0,-2 0 0,-2-4 0,0-1 0,3-1 0,2-1 0,4 0 0,1-3 0,7 0 0,4 1 0,0 0 0,5-1 0,1-3 0,5 0 0,5 2 0,4 2 0,1-1 0,5 0 0,1-2 0,-5-1 0,-1 0 0,-6 0 0,-3 0 0,-2-5 0,-3-6 0,1-10 0,2-8 0,-3-5 0,-4 0 0,-7 2 0,-2 2 0,-3 7 0,-2 4 0,-2 7 0,-5 4 0,0 1 0,-1-1 0,2 0 0,2 2 0,0 2 0,1 3 0,6 1 0,4 0 0,4 0 0,3 0 0,0 0 0,2 2 0,3 4 0,4 9 0,2 9 0,5 9 0,0 7 0,0 1 0,0 4 0,-8-8 0,-5-5 0,-6-6 0,-4-6 0,1 0 0,-3-4 0,-4-2 0,-3-2 0,-2-3 0,0-3 0,-1-3 0,0-3 0,1 0 0,0 0 0,1 0 0,0 0 0,-1-5 0,4-8 0,0-4 0,1-7 0,1-2 0,1-4 0,2-3 0,-2-1 0,1 0 0,-1 2 0,-1 2 0,-1 3 0,-4 4 0,1 4 0,0 3 0,0 3 0,3-1 0,0 3 0,0 3 0,-1 4 0,-3 3 0,0 1 0,0-1 0,0 1 0,-2 0 0,-1 0 0,1-2 0,-2-5 0,6-2 0,3-2 0,12-5 0,13-5 0,15-13 0,3-8 0,1-5 0,-4-9 0,-6-2 0,3-9 0,-3 1 0,-2 0 0,-5 6 0,-6 1 0,0 0 0,-2-1 0,4-5 0,0 4 0,-7 8 0,-5 10 0,-10 13 0,-4 9 0,-2 5 0,-2 7 0,0 3 0,1 11 0,7 21 0,4 21 0,15 34 0,-12-29 0,0 2-553,-2 0 1,2 0 552,7 10 0,3 1 0,-2-3 0,1-3 0,-3-7 0,0-3 0,1-1 0,-2-3 0,18 17 0,-8-11 0,2-4 0,-2-14 0,0-12 0,3-8 1105,0-4-1105,-4-6 0,-2-2 0,-7-5 0,-4-3 0,-1-6 0,-5-4 0,-1 2 0,-2 2 0,-4 6 0,-1 2 0,0 2 0,-2 10 0,5 9 0,2 11 0,9 12 0,6 4 0,3 3 0,2 0 0,1-1 0,-2-5 0,-5-5 0,-6-10 0,-8-9 0,-5-3 0,-1-5 0,0-1 0,-1-6 0,-4-16 0,-3-24 0,-2-31 0,-1 21 0,0-3-634,0-10 1,0-2 633,0-7 0,0-2 0,0-5 0,0 0 0,0 4 0,0 1 0,2 4 0,0 1 0,2 3 0,1 3 0,2 3 0,0 2 0,2 3 0,0 1 0,13-40-442,4 7 442,2 4 0,1-3 0,0 5 0,-3 8 0,2-1 0,-4 3 0,-3-8 0,-1-4 0,-4 1 0,-1-10 0,-3-6 0,-3-2 0,-5 48 0,0 1 0,2-43 0,2 13 0,0 8 0,-3 16 0,-2 16 0,0 10 0,0 9 1238,3 4-1238,1 2 471,1 2-471,3-5 0,1-3 0,0 1 0,1-2 0,-1 3 0,3 0 0,1-3 0,-2 4 0,-1 1 0,-3 2 0,1 1 0,1-1 0,0 0 0,-2 2 0,-2 4 0,1 3 0,-1 3 0,2 3 0,2 4 0,0 4 0,2 2 0,0 5 0,-2 6 0,1 5 0,1 7 0,0 5 0,-1-3 0,-2 6 0,-5-1 0,-3 4 0,-3 9 0,0-2 0,0 5 0,0 10 0,0 0 0,0 3 0,0-6 0,-3-14 0,-1-6 0,0-14 0,1-7 0,3-6 0,0-2 0,0 0 0,0 2 0,0 2 0,0 4 0,0 4 0,0-1 0,0-2 0,0 0 0,0 8 0,0 4 0,3 11 0,3 2 0,4 5 0,4 9 0,5 2 0,4 2 0,4 1 0,1 4 0,-4-3 0,-1 2 0,2 1 0,1-2 0,-1 4 0,-4-5 0,-4-7 0,-1-6 0,-1-6 0,-4-12 0,-4-6 0,-3-10 0,-4-7 0,0-2 0,0-2 0,0 11 0,0 11 0,2 11 0,2 11 0,3 2 0,3 2 0,2 3 0,2-2 0,1-7 0,3-8 0,3-4 0,1-5 0,2 0 0,-2-3 0,-5-4 0,0-2 0,-7 1 0,0-5 0,-4-4 0,-3-5 0,-1-4 0,1 7 0,7 8 0,11 10 0,12 9 0,24 12 0,8-3 0,2-6 0,-4-10 0,-17-21 0,-6-7 0,-7-4 0,-4-4 0,-6 0 0,0 0 0,-2 0 0,-4 0 0,-1 0 0,-3-3 0,-1-2 0,0-4 0,-1-2 0,1 0 0,0 0 0,0 1 0,4 0 0,1-1 0,-1-1 0,-1 2 0,-2 1 0,-1 2 0,0 3 0,-1 2 0,-2-1 0,-1-1 0,0 1 0,5 1 0,7 2 0,7 0 0,6 0 0,5 0 0,4 0 0,0 0 0,-3 0 0,-5 0 0,-8 0 0,-7 2 0,-3 0 0,-2 1 0,-1-1 0,-3 1 0,-1 0 0,-1 0 0,1-2 0,2-9 0,0-5 0,0-2 0,1-2 0,0 1 0,-2 2 0,0 3 0,0 4 0,0 1 0,2 0 0,0 0 0,3 2 0,1 2 0,5 2 0,7 0 0,5 0 0,10 0 0,3 0 0,-1 0 0,-6 2 0,-7 2 0,-7 1 0,-6 1 0,-5-3 0,-4 0 0,0-3 0,0 0 0,2 0 0,0 0 0,0 0 0,-1 0 0,0 0 0,0 2 0,1 3 0,1 1 0,3 1 0,0 1 0,1-1 0,-2 2 0,-3-3 0,-2 0 0,-1 0 0,0-3 0,-2 0 0,5-3 0,3 0 0,8 0 0,7 0 0,4 0 0,4-9 0,-2-12 0,-2-11 0,-2-10 0,-6 1 0,-7 5 0,-5 7 0,-3 6 0,0 5 0,-1 3 0,-4 1 0,0 4 0,0 1 0,3 2 0,5 4 0,1-3 0,1 3 0,2 0 0,0 0 0,7 3 0,4 0 0,4 0 0,1 5 0,2 11 0,4 12 0,2 12 0,4 9 0,-4-3 0,-2 2 0,1 3 0,2 3 0,6 6 0,-1-3 0,-3-4 0,-6-10 0,-10-9 0,-8-10 0,-6-8 0,-4-6 0,1-2 0,1-3 0,0-2 0,1-2 0,-1-1 0,-1-4 0,1-8 0,3-7 0,0-6 0,0-1 0,-1 1 0,-2 3 0,0 2 0,1 1 0,2 0 0,3-3 0,1-4 0,2 0 0,0 0 0,2 0 0,1 0 0,0 0 0,-2 5 0,-2 4 0,1 4 0,3 1 0,4 1 0,4 4 0,1 2 0,2 4 0,2 0 0,0 1 0,4 0 0,-7 0 0,-5 2 0,-5 3 0,-2 3 0,-1 1 0,1 1 0,-4-3 0,-2-3 0,-2-1 0,0-3 0,1 0 0,-1 0 0,3 0 0,-1 0 0,2 0 0,5 0 0,2 0 0,4 0 0,3 0 0,2 0 0,4 0 0,-1 3 0,-5 2 0,-2 4 0,1 5 0,5 1 0,2 2 0,-6 0 0,-5-3 0,-7-1 0,-4-1 0,-2-2 0,-3-4 0,-2-4 0,0-2 0,-1 0 0,1 0 0,2 0 0,0 0 0,0-2 0,-1-4 0,1-2 0,2-4 0,1 0 0,-1 3 0,-1 2 0,-1 1 0,2 1 0,1 0 0,2 1 0,2 1 0,0 3 0,7-1 0,-3 1 0,3 0 0,1 0 0,-4 0 0,3 0 0,-6 2 0,2 3 0,-3 1 0,-2 0 0,-1-3 0,-4-2 0,-3-8 0,-3-5 0,-3 3 0,-3-2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4:57:24.4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3385 24575,'19'0'0,"-2"0"0,5 0 0,-4 0 0,-2 0 0,-2 0 0,-2-3 0,5-9 0,7-7 0,9-8 0,5-3 0,1 3 0,3 1 0,-3 4 0,-1 6 0,-3 7 0,-4 4 0,-3 3 0,-5 2 0,-3 0 0,-4-1 0,-1 1 0,-3 0 0,0 2 0,0 4 0,-1 6 0,1 3 0,0 0 0,2 0 0,5-3 0,6-3 0,4-3 0,4-3 0,5-3 0,6-3 0,9-5 0,2-5 0,1-7 0,-3-2 0,-7 3 0,-5 4 0,-11 4 0,-8 3 0,-6 4 0,-4 1 0,-1 3 0,-2 2 0,1 10 0,-3 8 0,-1 6 0,1 0 0,-1-8 0,2-3 0,1-4 0,1-1 0,0-2 0,2-2 0,3-4 0,5-1 0,2 0 0,2-1 0,-1 0 0,1 0 0,-2 0 0,-3-3 0,1-2 0,-2-4 0,1-2 0,0 2 0,-1 0 0,1 2 0,3 1 0,-3-1 0,3 4 0,-4 0 0,1 2 0,-1 1 0,-3 0 0,0 0 0,-5 0 0,2 0 0,1 2 0,0 2 0,1 4 0,0 2 0,4-1 0,3-2 0,6-3 0,2-3 0,4 0 0,1-1 0,0 0 0,0 0 0,0 0 0,1 0 0,-5 0 0,0-6 0,-4-3 0,0-7 0,-1-3 0,0 0 0,4-3 0,1-5 0,0-3 0,0 0 0,-5 1 0,-2 8 0,-1 3 0,-3 5 0,0 4 0,0 2 0,0 3 0,0 2 0,-3 6 0,3 10 0,-2 7 0,0 10 0,3 5 0,-3-2 0,3 0 0,0-4 0,-1-3 0,3-4 0,-2-4 0,5-3 0,-2-3 0,0-1 0,2-2 0,-3-4 0,3-3 0,-3-3 0,-5 0 0,-2 0 0,-2 0 0,1 0 0,0 0 0,-2 0 0,1 0 0,-2-2 0,1-3 0,0-1 0,-1-2 0,1-3 0,0-2 0,3-2 0,0-3 0,1-1 0,0 0 0,-4 0 0,0 1 0,0-1 0,0 0 0,1-2 0,-1 2 0,-1 1 0,1 0 0,-1 3 0,-1 0 0,0 2 0,0-1 0,2 0 0,-1 1 0,1 1 0,-1 0 0,-1 0 0,-1 3 0,-3 0 0,1 2 0,-2 2 0,0-2 0,0 0 0,0-6 0,0-1 0,1 0 0,-1-3 0,1 2 0,0-1 0,-2-1 0,1 1 0,-2 0 0,0-1 0,2 1 0,-2 0 0,0 1 0,3 1 0,-3-2 0,3 0 0,0 1 0,0 4 0,-1-1 0,-1 1 0,0 0 0,-1 0 0,2 1 0,0-3 0,-2-4 0,2-3 0,-2-5 0,1 0 0,1-1 0,-1-3 0,3-9 0,-1-5 0,-1-4 0,2-3 0,-3 2 0,3-3 0,1-4 0,-4-1 0,2-4 0,-2 6 0,0 2 0,2 0 0,-2-1 0,2-7 0,1-1 0,0 0 0,3 0 0,-1 0 0,1-1 0,1 0 0,-2 0 0,2 0 0,0 4 0,-3 9 0,2 8 0,-3 9 0,-3 8 0,2 5 0,-3 4 0,0 4 0,0-5 0,-3-21 0,0-14 0,0-9 0,0 0 0,0 19 0,0 6 0,0 5 0,0 1 0,0 0 0,0 2 0,0 2 0,0 6 0,0 5 0,0 1 0,0 2 0,2 1 0,0-1 0,3 0 0,0-3 0,-2 0 0,2-2 0,-1 1 0,-1 3 0,2 0 0,-2 0 0,3-2 0,0-2 0,0 1 0,0-3 0,-3 3 0,2 2 0,-2 2 0,0 3 0,0 0 0,-3-5 0,0-5 0,0-1 0,2-4 0,4 0 0,2 2 0,3-1 0,1 2 0,-2 0 0,-1 6 0,-3 2 0,-2 2 0,-1 5 0,-3 4 0,7 6 0,-3 5 0,3 1 0,-4-1 0,-3 4 0,0 4 0,3 8 0,3 4 0,3 1 0,0 5 0,0 3 0,-1 5 0,0 1 0,-1-2 0,0-6 0,-1-2 0,-2-1 0,-1-3 0,0-1 0,1 0 0,2 3 0,0 2 0,1 2 0,3 1 0,-2 1 0,2 3 0,0 0 0,1 0 0,3-1 0,-1 0 0,1 0 0,-3 0 0,-3-6 0,0-2 0,-2-1 0,3 1 0,-1 4 0,-1 0 0,0-2 0,0-4 0,0 2 0,-1-2 0,0 0 0,1-2 0,-1-2 0,1 2 0,-1 0 0,1 1 0,2 0 0,-2-1 0,2 2 0,-2-1 0,-1-1 0,0-4 0,1 4 0,2 0 0,-2 1 0,1-4 0,-2-4 0,-3-3 0,2 0 0,-1 2 0,0 2 0,1-1 0,-2 0 0,1-1 0,1 5 0,-1 3 0,0 1 0,1-1 0,-1 1 0,2 0 0,0 0 0,1 3 0,0-3 0,-3 1 0,2-2 0,0-3 0,4-1 0,2 4 0,1 0 0,0 0 0,0 0 0,-2-6 0,0-1 0,0 2 0,1 3 0,0 2 0,4 3 0,3-2 0,4 4 0,3 2 0,1 2 0,0 3 0,1 1 0,0 0 0,0 0 0,-2-2 0,-2-2 0,0-4 0,0 0 0,0 0 0,-2-3 0,-2-5 0,-2-5 0,0-3 0,-4-2 0,1 1 0,-5-3 0,1 0 0,0-2 0,-1-2 0,3-1 0,5-2 0,17-3 0,23-3 0,23 0 0,2-1 0,-8-3 0,-9-3 0,-6-5 0,3-2 0,-5-2 0,-11-1 0,-9-1 0,-8 0 0,-8 2 0,-5 2 0,-4 1 0,-1 2 0,0 2 0,-1-1 0,1 0 0,-1-3 0,4 3 0,0 3 0,1 3 0,1 3 0,-1-1 0,-1 1 0,-1 0 0,-2 0 0,-1 0 0,-1 0 0,0 0 0,0 0 0,2 0 0,3 0 0,5 0 0,5 0 0,4 0 0,3 0 0,2 0 0,2 0 0,-1 0 0,-1 0 0,-6 0 0,-5 0 0,-4 0 0,-3 0 0,-1-2 0,-3-4 0,0-6 0,-1-3 0,1-3 0,1-7 0,-1-5 0,2-2 0,2 2 0,1 2 0,1 2 0,-1-3 0,-3 2 0,-1 6 0,-1 4 0,0 3 0,0 4 0,-1 3 0,1 3 0,-1 3 0,0 1 0,1-1 0,-1 1 0,4 3 0,3 3 0,4 4 0,3 2 0,0-2 0,0-4 0,-3-3 0,-3-3 0,-3 0 0,-1 0 0,2 0 0,1 0 0,1-2 0,-1-5 0,1-5 0,-2-5 0,-2 0 0,0 0 0,1 4 0,2 6 0,0 3 0,1 3 0,2 1 0,2 0 0,2-1 0,1 4 0,0 10 0,3 7 0,6 12 0,1 3 0,2 0 0,-3-2 0,-5-5 0,3-4 0,-4-3 0,2-2 0,-1-1 0,-3-1 0,-1-6 0,-3-3 0,-3-3 0,-4-4 0,-3-1 0,-1 0 0,0 0 0,-1 3 0,1 2 0,0 3 0,-1 6 0,2 5 0,-1 3 0,4 3 0,0 0 0,3-3 0,-1 0 0,-2-4 0,-2-2 0,-3-3 0,-1-5 0,-2-7 0,-2-11 0,0-17 0,1-12 0,4-5 0,2-6 0,1 2 0,3 1 0,4 0 0,3 7 0,7 5 0,-1 4 0,0 7 0,-1 2 0,-4 3 0,0 3 0,-3 4 0,-3 4 0,-1 2 0,1 3 0,3-2 0,3 0 0,0 1 0,0 1 0,-1 3 0,-2-1 0,-3 1 0,-2 0 0,1-3 0,-2 0 0,-1-1 0,0-1 0,-3-1 0,3 0 0,0-2 0,1-1 0,-2 2 0,-2 1 0,2 1 0,1 1 0,4 1 0,-1 0 0,7 3 0,3 0 0,-1 0 0,3 0 0,-1 2 0,7 4 0,4 3 0,2 4 0,0-2 0,1 0 0,-4-4 0,-4-2 0,-7-1 0,-5-4 0,-3 0 0,-4 0 0,-4-7 0,-6-12 0,-3-15 0,-3-20 0,-3-12 0,3 8 0,8 17 0,12 23 0,24 15 0,10-3 0,2-2 0,-7 0 0,-15 5 0,-10 2 0,-5 1 0,-4 0 0,-4 0 0,-1 0 0,0 0 0,1 0 0,0 0 0,0 0 0,4 0 0,8 2 0,1 1 0,4 2 0,6 4 0,-5-1 0,3 2 0,-3-2 0,-9-1 0,2 1 0,0-1 0,1 0 0,2 1 0,0 0 0,1 1 0,0-3 0,-3 1 0,-4-2 0,-1-1 0,-3-2 0,1-2 0,-2 0 0,-1 0 0,1 0 0,2-3 0,8 0 0,10-1 0,3 2 0,7 2 0,15 0 0,3 4 0,8 8 0,-4 11 0,-7 9 0,7 7 0,2 0 0,-4-2 0,-5-2 0,-5-7 0,-8-4 0,-2-6 0,-9-3 0,-1-5 0,0 0 0,-4-3 0,3 0 0,-2 2 0,2 1 0,5 4 0,0-1 0,3 1 0,0 3 0,-2 1 0,2 6 0,4 8 0,2 2 0,6 3 0,0 1 0,-3-3 0,-2-4 0,-7-4 0,-5-8 0,-4-4 0,-5-1 0,-3-4 0,-2-3 0,-3-3 0,-2-3 0,-2-1 0,-3 0 0,0 0 0,-1-2 0,1-4 0,-1-3 0,0-3 0,4 1 0,3-1 0,4-1 0,3 2 0,3-1 0,7-2 0,6-2 0,8-3 0,5 1 0,1 2 0,5 3 0,1 4 0,0 1 0,1 3 0,-4 0 0,-1 1 0,-4 4 0,-4-1 0,-2 1 0,-4 0 0,-1 0 0,0 0 0,0 0 0,0 0 0,0 0 0,-5 0 0,0 0 0,-7 0 0,-3 0 0,-2 0 0,-3 0 0,3 0 0,-3 0 0,0 0 0,3 0 0,2 0 0,6 0 0,3 0 0,2 0 0,0 0 0,0 3 0,-1 3 0,-1 4 0,1 3 0,-3-3 0,-3 0 0,-1 0 0,-4-3 0,-1-1 0,0-3 0,0-3 0,0 0 0,0 0 0,-2 0 0,-1 0 0,0 0 0,0 0 0,3 0 0,3 0 0,4 0 0,5 0 0,4 0 0,1 0 0,4 0 0,12 0 0,5 0 0,5 0 0,2 0 0,-5 0 0,3 0 0,-5 0 0,-10 0 0,-11 0 0,-9 0 0,-7 0 0,-5 0 0,-3 0 0,-4 0 0,-1 0 0,-3 0 0,0 0 0,2 0 0,0 0 0,-6 0 0,-1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4:59:53.8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4252 24575,'29'0'0,"5"0"0,7 0 0,-2 0 0,1 0 0,7-4 0,5 0 0,7 0 0,3-3 0,-6 0 0,5-2 0,3-2 0,2 0 0,-1 2 0,-3-1 0,-3 3 0,-4 2 0,-1 1 0,2 0 0,-6 0 0,1 0 0,1 1 0,-4 2 0,1-2 0,1-1 0,-2 0 0,0 1 0,2-1 0,-1 0 0,2-3 0,5 0 0,0 2 0,10-2 0,1 2 0,6 0 0,3-2 0,-3 2 0,2-3 0,-5 0 0,-5 3 0,-6 1 0,-6 2 0,-4-1 0,0-1 0,5-3 0,-1 3 0,3-1 0,0-1 0,1 1 0,7 1 0,6-3 0,2 2 0,4 0 0,1 1 0,1 4 0,0-1 0,0 1 0,-6 0 0,1 0 0,-1 0 0,0 0 0,0 0 0,-7-4 0,0 0 0,-1 0 0,2 1 0,-3 3 0,-2 0 0,0 0 0,6 0 0,9 0 0,4 0 0,6 0 0,1 0 0,2 0 0,-1 0 0,-4 0 0,0 0 0,-5 0 0,-1 0 0,-5 0 0,1 0 0,-2 0 0,1 0 0,0 0 0,-5 0 0,-2 0 0,-6 0 0,0 0 0,-1 0 0,-7 0 0,-7 0 0,-2 0 0,-5 0 0,4 0 0,-1 0 0,-2 0 0,0-2 0,-1-2 0,0 1 0,-2 0 0,-2 2 0,-1 1 0,-4 0 0,-2-3 0,-4 0 0,-6-3 0,-2-2 0,-3-1 0,-2-3 0,-2 3 0,0 3 0,0 3 0,2 3 0,3 0 0,2 0 0,7 0 0,8 0 0,8 0 0,7 0 0,4 0 0,6 0 0,-3 3 0,4 0 0,0 4 0,-3 0 0,-1 0 0,-1 0 0,-3 0 0,0 0 0,-1-3 0,-5 3 0,-4-4 0,-1 1 0,0-1 0,-3-3 0,2 0 0,-5 0 0,-2 0 0,0 0 0,-3 0 0,3 0 0,-3 0 0,0 0 0,0 0 0,0 0 0,-3 0 0,-3 0 0,-4 0 0,-4 0 0,1 0 0,-2 0 0,1 0 0,-1 0 0,-1 0 0,1 0 0,3 0 0,6 0 0,8 0 0,6 0 0,0 0 0,3 0 0,-2 0 0,-4 0 0,-4 0 0,-8 0 0,-3 0 0,-3 0 0,-2 0 0,1 0 0,-1 0 0,4 0 0,3 0 0,4 0 0,3 0 0,0 0 0,0 0 0,1 0 0,-3 0 0,1 0 0,-4 0 0,-3 0 0,-2 0 0,-2 0 0,-1 0 0,2 0 0,7 0 0,8 0 0,11 0 0,10 0 0,7 0 0,3 3 0,1 5 0,-4 3 0,-9 0 0,-10-1 0,-12-3 0,-8-4 0,-5 0 0,-3-3 0,0 0 0,1 0 0,0 0 0,1 0 0,-1 0 0,6 0 0,1 0 0,1 0 0,-2 0 0,-5 0 0,-1 0 0,-2-2 0,-6-4 0,-4-5 0,-2-4 0,-2 0 0,1-2 0,1 3 0,1 1 0,2 0 0,0 3 0,0-4 0,0-9 0,0-6 0,0-8 0,0-2 0,0 3 0,0-2 0,0-8 0,3-11 0,1-6 0,3-3 0,1 8 0,0 9 0,-1 1 0,-3 9 0,-1 8 0,-3 9 0,0 7 0,0 3 0,0 1 0,0 0 0,0-7 0,0-23 0,0-21 0,0-15 0,0-7 0,0 10 0,0 3 0,0 7 0,0 12 0,0 7 0,0-2 0,0-3 0,0-3 0,0 2 0,0 7 0,0 4 0,0 5 0,0 5 0,0 6 0,0 5 0,0 5 0,0-1 0,0-11 0,0-14 0,0-6 0,0-7 0,0 4 0,0 3 0,0 2 0,0 7 0,0 7 0,0 8 0,0 5 0,0 3 0,0-1 0,0-20 0,0-20 0,0-20 0,0-11 0,0 8 0,0 8 0,0 9 0,0 11 0,0 10 0,0 12 0,0 8 0,0 7 0,0 0 0,0 0 0,0 0 0,0-4 0,0-13 0,0-12 0,0-13 0,0-2 0,0 5 0,0 9 0,0 9 0,0 5 0,0 7 0,0 5 0,0 3 0,0 2 0,0-7 0,0-14 0,0-14 0,0-14 0,0-8 0,0-3 0,0 0 0,0 4 0,0 5 0,0 13 0,0 12 0,0 13 0,0 9 0,0 8 0,0 8 0,0 10 0,0 1 0,0 4 0,0-5 0,0 0 0,0 1 0,0-1 0,0 1 0,0 7 0,0 4 0,0 8 0,0 3 0,-3-3 0,0-1 0,-1-4 0,1-3 0,3-4 0,0-5 0,0-3 0,0 2 0,0 4 0,0 5 0,0 3 0,0-1 0,0-4 0,0-5 0,0-1 0,0-3 0,0 2 0,0-1 0,0 4 0,0 3 0,0 8 0,0 7 0,0 1 0,0-3 0,0-6 0,0-4 0,0-2 0,0-1 0,0-3 0,0-2 0,0 2 0,0 2 0,0-1 0,0-1 0,0-2 0,0-1 0,0-1 0,0 1 0,0 0 0,0 2 0,0 4 0,0 3 0,0 4 0,0 1 0,0-3 0,0-1 0,0-4 0,0-3 0,0 0 0,0-1 0,0 4 0,0 8 0,0 1 0,0-1 0,0-1 0,0-5 0,0 11 0,0 14 0,0 8 0,0 10 0,0-3 0,0-1 0,0 6 0,0 2 0,-3 0 0,-1-1 0,0-3 0,-2-6 0,2 0 0,0-5 0,1-4 0,2 3 0,1-4 0,0 4 0,0 4 0,0 1 0,0 3 0,0-5 0,0-1 0,0-2 0,0-1 0,2 2 0,4-4 0,1-9 0,-1-6 0,0-7 0,-2-8 0,0-2 0,-2-3 0,-1-1 0,-1 0 0,0-1 0,0 3 0,0 8 0,3 8 0,1 8 0,0 7 0,-1 6 0,-3 4 0,3 5 0,1-6 0,0-4 0,-1-6 0,-3-3 0,0 2 0,0-4 0,0-6 0,0-5 0,0-4 0,0 0 0,0 4 0,0-1 0,0 0 0,0-4 0,0-7 0,0 0 0,0-4 0,0-1 0,0 1 0,0 0 0,0-1 0,0 0 0,0 1 0,0-1 0,0 0 0,0 1 0,0-2 0,0 1 0,0-1 0,0 3 0,-2 0 0,0 3 0,-4 4 0,-2-1 0,1-1 0,2-3 0,0-6 0,1 0 0,-2 0 0,0-1 0,1 4 0,-4-1 0,3 1 0,-3-1 0,4 0 0,-1 1 0,0-1 0,9-2 0,10-4 0,9-2 0,10-6 0,2 0 0,6-1 0,-1 1 0,-1 2 0,4-2 0,-1-1 0,6-1 0,-1 2 0,-4 2 0,0 1 0,1 0 0,-2 0 0,5 0 0,0 0 0,5 0 0,-1-3 0,-5-1 0,2 0 0,1 1 0,2 3 0,6 0 0,-1 0 0,2 0 0,4 0 0,-1 0 0,2 0 0,-1 0 0,0 0 0,0 0 0,0 0 0,6 0 0,0 0 0,5 0 0,0 0 0,-4 0 0,-2 0 0,-5 0 0,-1 0 0,0 0 0,5 0 0,-6 0 0,10 0 0,-4 0 0,-5 0 0,6 0 0,-7 0 0,5 0 0,2 0 0,-4 0 0,0 0 0,0 0 0,-1 0 0,-3 0 0,-1 0 0,0 0 0,0 0 0,5 0 0,-1 0 0,-4 0 0,0 0 0,-1 0 0,0 0 0,1 0 0,-2 0 0,-1 0 0,-2 0 0,2 0 0,-7 0 0,-2 0 0,2 0 0,2 0 0,9 0 0,1 0 0,2 0 0,1 0 0,-1 0 0,1 0 0,3 0 0,2 0 0,4 0 0,1 3 0,0 1 0,0 0 0,-4 2 0,-1-1 0,-5-1 0,-1-1 0,0-3 0,-5 3 0,-1 1 0,-5 0 0,-5-1 0,4-3 0,-4 0 0,1 0 0,3 3 0,0 0 0,4 1 0,2-1 0,-2-2 0,-2-1 0,1 1 0,0-1 0,0 0 0,-4 0 0,-1 0 0,-4 0 0,-4 0 0,-1 0 0,-3 0 0,-4 0 0,3 0 0,-4 0 0,-4 0 0,-1 0 0,-7 0 0,-4 0 0,-1 0 0,-3 0 0,0 0 0,-4 0 0,-1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B4B262-1B8B-4A4C-819C-0B7118916BFD}" type="datetimeFigureOut">
              <a:t>9/1/26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C66DEC-9F58-194B-86B9-A0870E5C215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549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sgd(1).pptx for pedagogy, wording, typography, and preserved slides.</a:t>
            </a:r>
          </a:p>
          <a:p>
            <a:r>
              <a:t>- Arithmetic and chart values computed directly from the displayed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sgd(1).pptx for pedagogy, wording, typography, and preserved slides.</a:t>
            </a:r>
          </a:p>
          <a:p>
            <a:r>
              <a:t>- Arithmetic and chart values computed directly from the displayed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sgd(1).pptx for pedagogy, wording, typography, and preserved slides.</a:t>
            </a:r>
          </a:p>
          <a:p>
            <a:r>
              <a:t>- Arithmetic and chart values computed directly from the displayed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sgd(1).pptx for pedagogy, wording, typography, and preserved slides.</a:t>
            </a:r>
          </a:p>
          <a:p>
            <a:r>
              <a:t>- Arithmetic and chart values computed directly from the displayed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sgd(1).pptx for pedagogy, wording, typography, and preserved slides.</a:t>
            </a:r>
          </a:p>
          <a:p>
            <a:r>
              <a:t>- Arithmetic and chart values computed directly from the displayed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sgd(1).pptx for pedagogy, wording, typography, and preserved slides.</a:t>
            </a:r>
          </a:p>
          <a:p>
            <a:r>
              <a:t>- Arithmetic and chart values computed directly from the displayed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sgd(1).pptx for pedagogy, wording, typography, and preserved slides.</a:t>
            </a:r>
          </a:p>
          <a:p>
            <a:r>
              <a:t>- Arithmetic and chart values computed directly from the displayed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sgd(1).pptx for pedagogy, wording, typography, and preserved slides.</a:t>
            </a:r>
          </a:p>
          <a:p>
            <a:r>
              <a:t>- Arithmetic and chart values computed directly from the displayed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sgd(1).pptx for pedagogy, wording, typography, and preserved slides.</a:t>
            </a:r>
          </a:p>
          <a:p>
            <a:r>
              <a:t>- Arithmetic and chart values computed directly from the displayed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sgd(1).pptx for pedagogy, wording, typography, and preserved slides.</a:t>
            </a:r>
          </a:p>
          <a:p>
            <a:r>
              <a:t>- Arithmetic and chart values computed directly from the displayed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sgd(1).pptx for pedagogy, wording, typography, and preserved slides.</a:t>
            </a:r>
          </a:p>
          <a:p>
            <a:r>
              <a:t>- Arithmetic and chart values computed directly from the displayed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sgd(1).pptx for pedagogy, wording, typography, and preserved slides.</a:t>
            </a:r>
          </a:p>
          <a:p>
            <a:r>
              <a:t>- Arithmetic and chart values computed directly from the displayed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sgd(1).pptx for pedagogy, wording, typography, and preserved slides.</a:t>
            </a:r>
          </a:p>
          <a:p>
            <a:r>
              <a:t>- Arithmetic and chart values computed directly from the displayed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sgd(1).pptx for pedagogy, wording, typography, and preserved slides.</a:t>
            </a:r>
          </a:p>
          <a:p>
            <a:r>
              <a:t>- Arithmetic and chart values computed directly from the displayed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sgd(1).pptx for pedagogy, wording, typography, and preserved slides.</a:t>
            </a:r>
          </a:p>
          <a:p>
            <a:r>
              <a:t>- Arithmetic and chart values computed directly from the displayed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sgd(1).pptx for pedagogy, wording, typography, and preserved slides.</a:t>
            </a:r>
          </a:p>
          <a:p>
            <a:r>
              <a:t>- Arithmetic and chart values computed directly from the displayed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sgd(1).pptx for pedagogy, wording, typography, and preserved slides.</a:t>
            </a:r>
          </a:p>
          <a:p>
            <a:r>
              <a:t>- Arithmetic and chart values computed directly from the displayed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B033E-B3E4-D8BF-B72B-3F99C8E4EB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FD9EF3-5FE3-C61F-98D6-E8FD88A41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6192D-F152-FAA0-B4DC-84915309E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1B1A3-698B-7644-26F4-7E25AAA22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689BC-ABA8-801D-6039-2BCAF2737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209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3D340-2A5D-9FB2-EE63-A5A7BE044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CB61D-74C6-3CE1-EB04-9CB162B2C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A2CCA-CE9B-F23C-A59D-29C7370D5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091C1-7A87-2073-0250-B7D55D8B3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BC2CF-7EB1-F436-0711-D29B9E2CA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234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61481-777C-F700-6715-6054DE70F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D9CBD-F458-29FA-8E35-4AA82B861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2357B-2F6B-3B74-1166-DA395732C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6B74B-EF09-9330-B5EF-CD3382F32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4A8CE-01F8-FA16-5B9F-2862FEEC5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722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4AEF-07C2-1ADC-16F8-ABC7717A9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E002D-5A6D-9C8C-3421-75B9117A1D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4A8773-94D3-8AB1-FB00-B17AA969BF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0059AB-2836-81D1-C0BE-2E656A19A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4C135-8FE2-FA2E-C91D-EE1B1B05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054F4-CE46-86B3-21E3-5B6ABC966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619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38AE6-1C38-FA87-7D05-081716617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9F5E04-953C-6026-E6B7-CD1557147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1890B6-7E39-0F59-D422-B34787C22C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9CB19E-1F65-EA6B-1DE7-C4617E2323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3C98FD-BF81-6C18-5296-BCEB361956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92DB79-8863-0DA7-F8E4-229B6561C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12CC33-1C75-C6A3-8803-22C0B52CB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9EE189-3744-D268-6860-5C0D0810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841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5E1F1-7BAE-6DF2-0597-710BB1750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C64002-DECD-1DD5-370C-36935B736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8C536A-1252-F499-406F-883794863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22F046-1AC9-B7E5-7053-BFA9C3480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145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08825C-C265-5CAB-7AC0-23439495E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9341E9-CE1B-FFF8-0DFF-7374EA2A1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EB226-0556-2DD2-A2F4-E84E8F99B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573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8E27F-0FE7-B99E-99CA-715FE1B10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A9ADE-C28A-1C3D-D71D-F439E74F8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4A4577-3B61-9617-C828-92398BAF7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BA225C-6E8F-3199-5A3B-C315D2BA5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5E875-97F1-4B2A-5AC0-2708F95A8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9913F0-2055-E8BD-7B35-7E894E49B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518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786A4-D083-E51D-7524-E16AB0944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09D880-38EE-237D-3B88-94692F1002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3C8615-1F31-7C21-7C9F-42E9CAF533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A19CCF-F8C3-71E1-3349-C5899E5CF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00CE98-EA24-C4F2-2E03-187AED28F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80172-B8E6-505C-52B3-AE108F4AA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24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CC4F2-4109-BD4B-6D8C-A57D0513A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57E555-8D2E-C3F2-9CA2-43C5006F1E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D83CD-08CA-0D74-7CDD-56087C9B7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6D11C-63FE-4B11-B038-2FE264562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5DCBD-EC9E-3896-73AC-1D10CD393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175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5FED0E-7240-2A07-6730-FCED2E24E2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0051B0-D11C-F6BC-941E-5F6EA59DD7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8A2D8-5FF9-4174-9DEA-697BE8BEE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FEC65-256E-FCF4-185C-ED1C94475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277BC-7B02-B700-CCD6-342F9BF43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11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>
            <a:extLst>
              <a:ext uri="{FF2B5EF4-FFF2-40B4-BE49-F238E27FC236}">
                <a16:creationId xmlns:a16="http://schemas.microsoft.com/office/drawing/2014/main" id="{A415E6A4-AA1A-40BB-B808-8AF76F521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4400" b="0" u="none">
                <a:solidFill>
                  <a:schemeClr val="dk1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Click to edit Master title style</a:t>
            </a:r>
          </a:p>
        </p:txBody>
      </p:sp>
      <p:sp>
        <p:nvSpPr>
          <p:cNvPr id="17" name="PlaceHolder 2">
            <a:extLst>
              <a:ext uri="{FF2B5EF4-FFF2-40B4-BE49-F238E27FC236}">
                <a16:creationId xmlns:a16="http://schemas.microsoft.com/office/drawing/2014/main" id="{01985D88-BBAD-4EF2-916E-AFC47E5A78C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28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4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0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level</a:t>
            </a:r>
          </a:p>
        </p:txBody>
      </p:sp>
      <p:sp>
        <p:nvSpPr>
          <p:cNvPr id="18" name="PlaceHolder 3">
            <a:extLst>
              <a:ext uri="{FF2B5EF4-FFF2-40B4-BE49-F238E27FC236}">
                <a16:creationId xmlns:a16="http://schemas.microsoft.com/office/drawing/2014/main" id="{14755EE1-279C-490C-AFA8-CBDA70D3FAA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9" name="PlaceHolder 4">
            <a:extLst>
              <a:ext uri="{FF2B5EF4-FFF2-40B4-BE49-F238E27FC236}">
                <a16:creationId xmlns:a16="http://schemas.microsoft.com/office/drawing/2014/main" id="{07D5AB3A-3F2A-47DA-A98A-954835F977D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20" name="PlaceHolder 5">
            <a:extLst>
              <a:ext uri="{FF2B5EF4-FFF2-40B4-BE49-F238E27FC236}">
                <a16:creationId xmlns:a16="http://schemas.microsoft.com/office/drawing/2014/main" id="{93512098-4543-4003-A874-37A463F9447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3040D5-FDE0-4EC7-80EA-06D5BD4E9D59}" type="slidenum">
              <a: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rPr>
              <a:t>‹#›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47149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9B67B5-93D6-11CF-76A0-070C5F42A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0E95ED-9CA4-E2D1-3B66-C39D94808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15462-D29C-2E3A-787F-43D9CCDE42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646F92-438E-6F40-B57C-2225BFA3E3AC}" type="datetimeFigureOut"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167E5-E6D2-5D53-ED01-171102C405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B2A63-327D-25E4-F362-1FC7B3E17D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594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customXml" Target="../ink/ink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3E54E-FC70-7D3C-FB87-2A4422261F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3102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sz="4400"/>
              <a:t>Ling 285</a:t>
            </a:r>
            <a:br>
              <a:rPr lang="en-US" sz="4400"/>
            </a:br>
            <a:r>
              <a:rPr lang="en-US" sz="4400"/>
              <a:t>Human Language and Technology</a:t>
            </a:r>
            <a:br>
              <a:rPr lang="en-US" sz="4400"/>
            </a:br>
            <a:r>
              <a:rPr lang="en-US" sz="4400"/>
              <a:t>Lecture 3</a:t>
            </a:r>
            <a:br>
              <a:rPr lang="en-US" sz="4400"/>
            </a:br>
            <a:br>
              <a:rPr lang="en-US" sz="4400"/>
            </a:br>
            <a:r>
              <a:rPr lang="en-US" sz="4400"/>
              <a:t>Dynamical Systems 1</a:t>
            </a:r>
            <a:br>
              <a:rPr lang="en-US" sz="4400"/>
            </a:br>
            <a:endParaRPr lang="en-US" sz="44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7E1F82-DB91-1E57-EE5B-ECA1A523FB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9700" y="4459288"/>
            <a:ext cx="9144000" cy="1655762"/>
          </a:xfrm>
        </p:spPr>
        <p:txBody>
          <a:bodyPr/>
          <a:lstStyle/>
          <a:p>
            <a:r>
              <a:rPr lang="en-US"/>
              <a:t>Khalil Iskarous</a:t>
            </a:r>
          </a:p>
          <a:p>
            <a:r>
              <a:rPr lang="en-US"/>
              <a:t>Department of Linguistics</a:t>
            </a:r>
          </a:p>
          <a:p>
            <a:r>
              <a:rPr lang="en-US"/>
              <a:t>University of Southern California</a:t>
            </a:r>
          </a:p>
        </p:txBody>
      </p:sp>
    </p:spTree>
    <p:extLst>
      <p:ext uri="{BB962C8B-B14F-4D97-AF65-F5344CB8AC3E}">
        <p14:creationId xmlns:p14="http://schemas.microsoft.com/office/powerpoint/2010/main" val="1581519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7C577-2637-D752-5729-263BB89D0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63240-0973-1855-8F85-34D3A4892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Dynamical Systems in behavior (Animal)</a:t>
            </a:r>
          </a:p>
          <a:p>
            <a:r>
              <a:rPr lang="en-US"/>
              <a:t>Dynamical Systems in learning (AI)</a:t>
            </a:r>
          </a:p>
        </p:txBody>
      </p:sp>
    </p:spTree>
    <p:extLst>
      <p:ext uri="{BB962C8B-B14F-4D97-AF65-F5344CB8AC3E}">
        <p14:creationId xmlns:p14="http://schemas.microsoft.com/office/powerpoint/2010/main" val="4074584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4D590-7D4A-B9F2-67D1-05E6BC2F8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DS: 1) Elements, 2) Relations, 3) Goal</a:t>
            </a:r>
          </a:p>
        </p:txBody>
      </p:sp>
    </p:spTree>
    <p:extLst>
      <p:ext uri="{BB962C8B-B14F-4D97-AF65-F5344CB8AC3E}">
        <p14:creationId xmlns:p14="http://schemas.microsoft.com/office/powerpoint/2010/main" val="251291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54E0C-D1FB-750A-D7BB-060BA5163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BB7D0-E990-24D1-E927-7D21959BC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DS: 1) Elements, 2) Relations, 3)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C8AC9-94D5-FA81-EC28-AAF0275CC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27028" cy="4401754"/>
          </a:xfrm>
        </p:spPr>
        <p:txBody>
          <a:bodyPr/>
          <a:lstStyle/>
          <a:p>
            <a:r>
              <a:rPr lang="en-US"/>
              <a:t>Elements: </a:t>
            </a:r>
          </a:p>
          <a:p>
            <a:pPr lvl="1"/>
            <a:r>
              <a:rPr lang="en-US"/>
              <a:t>8 arms</a:t>
            </a:r>
          </a:p>
          <a:p>
            <a:pPr lvl="1"/>
            <a:r>
              <a:rPr lang="en-US"/>
              <a:t>Ground</a:t>
            </a:r>
          </a:p>
          <a:p>
            <a:r>
              <a:rPr lang="en-US"/>
              <a:t>Relations between individual arms, ground, and fish are planned by a neural system residing in its head and the rest of its body.</a:t>
            </a:r>
          </a:p>
          <a:p>
            <a:r>
              <a:rPr lang="en-US"/>
              <a:t>Goal: Keep den</a:t>
            </a:r>
          </a:p>
        </p:txBody>
      </p:sp>
    </p:spTree>
    <p:extLst>
      <p:ext uri="{BB962C8B-B14F-4D97-AF65-F5344CB8AC3E}">
        <p14:creationId xmlns:p14="http://schemas.microsoft.com/office/powerpoint/2010/main" val="1106386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ont_ask_me_to_carry">
            <a:hlinkClick r:id="" action="ppaction://media"/>
            <a:extLst>
              <a:ext uri="{FF2B5EF4-FFF2-40B4-BE49-F238E27FC236}">
                <a16:creationId xmlns:a16="http://schemas.microsoft.com/office/drawing/2014/main" id="{E6C6DA2B-BEF1-21BD-CC4A-29D3FAF57A8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085068" y="1456778"/>
            <a:ext cx="4318000" cy="431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3F86896-F5AA-35EA-0B45-7F0646002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DS: 1) Elements, 2) Relations, 3) Goal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F9435D8-D0D3-EF76-15F5-AA619669B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27028" cy="4401754"/>
          </a:xfrm>
        </p:spPr>
        <p:txBody>
          <a:bodyPr>
            <a:normAutofit/>
          </a:bodyPr>
          <a:lstStyle/>
          <a:p>
            <a:r>
              <a:rPr lang="en-US"/>
              <a:t>Elements: </a:t>
            </a:r>
          </a:p>
          <a:p>
            <a:pPr lvl="1"/>
            <a:r>
              <a:rPr lang="en-US"/>
              <a:t>Many parts of tongue</a:t>
            </a:r>
          </a:p>
          <a:p>
            <a:pPr lvl="1"/>
            <a:r>
              <a:rPr lang="en-US"/>
              <a:t>Lips</a:t>
            </a:r>
          </a:p>
          <a:p>
            <a:pPr lvl="1"/>
            <a:r>
              <a:rPr lang="en-US"/>
              <a:t>Velum</a:t>
            </a:r>
          </a:p>
          <a:p>
            <a:pPr lvl="1"/>
            <a:r>
              <a:rPr lang="en-US"/>
              <a:t>larynx</a:t>
            </a:r>
          </a:p>
          <a:p>
            <a:pPr lvl="1"/>
            <a:r>
              <a:rPr lang="en-US"/>
              <a:t>Palate</a:t>
            </a:r>
          </a:p>
          <a:p>
            <a:pPr lvl="1"/>
            <a:r>
              <a:rPr lang="en-US"/>
              <a:t>Pharyngeal Wall</a:t>
            </a:r>
          </a:p>
          <a:p>
            <a:r>
              <a:rPr lang="en-US"/>
              <a:t>Relations between all these planned by the brain.</a:t>
            </a:r>
          </a:p>
          <a:p>
            <a:r>
              <a:rPr lang="en-US"/>
              <a:t>Goal: Convey a thought</a:t>
            </a:r>
          </a:p>
        </p:txBody>
      </p:sp>
    </p:spTree>
    <p:extLst>
      <p:ext uri="{BB962C8B-B14F-4D97-AF65-F5344CB8AC3E}">
        <p14:creationId xmlns:p14="http://schemas.microsoft.com/office/powerpoint/2010/main" val="3641277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5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43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8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6" grpId="0" build="p" bldLvl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578C0-CBE3-9FC5-4D68-E54FB1991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Some Dynamical Systems in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C8AB4-FDF4-A01F-6353-3EFCDD8CF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All of your daily voluntary actions, as well as involuntary actions of your heart, pancreas, neurons, etc…. They’re all dynamical systems</a:t>
            </a:r>
          </a:p>
          <a:p>
            <a:r>
              <a:rPr lang="en-US"/>
              <a:t>Their elements could be as big as organs or parts theorof downright to cells, and chemicals in them… Biology, Chemistry, and Physics are all about dynamical systems.</a:t>
            </a:r>
          </a:p>
          <a:p>
            <a:r>
              <a:rPr lang="en-US"/>
              <a:t>So your speech system is a very complex dynamical system. </a:t>
            </a:r>
          </a:p>
          <a:p>
            <a:r>
              <a:rPr lang="en-US"/>
              <a:t>Since there are so many dynamical systems, we can use one dynamical system to study another, due to the underlying similarity, despite extreme difference (We’re going up Diotima’s ladder!)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901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1A1678-9F64-7B7C-70AD-34CFA11795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681" y="223235"/>
            <a:ext cx="9109567" cy="62394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235D41-474A-ECC5-975A-4ACB83D38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2899" y="419522"/>
            <a:ext cx="4554784" cy="5846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337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04CFB-7A67-3DDD-5063-6B3A32265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84D80-EC92-D942-68D2-6592C105B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AI is a model of several animal psychological skills:</a:t>
            </a:r>
          </a:p>
          <a:p>
            <a:pPr lvl="1"/>
            <a:r>
              <a:rPr lang="en-US"/>
              <a:t>Knowing</a:t>
            </a:r>
          </a:p>
          <a:p>
            <a:pPr lvl="1"/>
            <a:r>
              <a:rPr lang="en-US"/>
              <a:t>Recognizing</a:t>
            </a:r>
          </a:p>
          <a:p>
            <a:pPr lvl="1"/>
            <a:r>
              <a:rPr lang="en-US"/>
              <a:t>Attending</a:t>
            </a:r>
          </a:p>
          <a:p>
            <a:pPr lvl="1"/>
            <a:r>
              <a:rPr lang="en-US"/>
              <a:t>Acting</a:t>
            </a:r>
          </a:p>
          <a:p>
            <a:pPr lvl="1"/>
            <a:r>
              <a:rPr lang="en-US"/>
              <a:t>Learning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F005E3-B52D-C61A-F9B0-480C2B412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905" y="2417817"/>
            <a:ext cx="5491452" cy="3894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4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56739-451A-465D-0A08-7ABB7AB84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217" y="112604"/>
            <a:ext cx="10515600" cy="1325563"/>
          </a:xfrm>
        </p:spPr>
        <p:txBody>
          <a:bodyPr/>
          <a:lstStyle/>
          <a:p>
            <a:r>
              <a:rPr lang="en-US"/>
              <a:t>GPT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7A1D5-52F2-8D1D-DEE3-180D2E4B3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836402" cy="4919771"/>
          </a:xfrm>
        </p:spPr>
        <p:txBody>
          <a:bodyPr>
            <a:normAutofit fontScale="70000" lnSpcReduction="20000"/>
          </a:bodyPr>
          <a:lstStyle/>
          <a:p>
            <a:r>
              <a:rPr lang="en-US"/>
              <a:t>Each word is a </a:t>
            </a:r>
            <a:r>
              <a:rPr lang="en-US" i="1"/>
              <a:t>vector </a:t>
            </a:r>
            <a:r>
              <a:rPr lang="en-US"/>
              <a:t>with thousands of numbers.</a:t>
            </a:r>
          </a:p>
          <a:p>
            <a:r>
              <a:rPr lang="en-US"/>
              <a:t>We will call them x’s or </a:t>
            </a:r>
            <a:r>
              <a:rPr lang="en-US" i="1"/>
              <a:t>tokens.</a:t>
            </a:r>
            <a:endParaRPr lang="en-US"/>
          </a:p>
          <a:p>
            <a:r>
              <a:rPr lang="en-US"/>
              <a:t>AI </a:t>
            </a:r>
            <a:r>
              <a:rPr lang="en-US" b="1">
                <a:solidFill>
                  <a:srgbClr val="FF0000"/>
                </a:solidFill>
              </a:rPr>
              <a:t>knowledge</a:t>
            </a:r>
            <a:r>
              <a:rPr lang="en-US"/>
              <a:t> about speech/language whatever is in a few trillion number called </a:t>
            </a:r>
            <a:r>
              <a:rPr lang="en-US" i="1"/>
              <a:t>weights </a:t>
            </a:r>
            <a:r>
              <a:rPr lang="en-US"/>
              <a:t> or w’s</a:t>
            </a:r>
          </a:p>
          <a:p>
            <a:r>
              <a:rPr lang="en-US"/>
              <a:t>AI then uses mostly +, - , × , ÷ to combine its knowledge W’s with the vectors you give it</a:t>
            </a:r>
          </a:p>
          <a:p>
            <a:r>
              <a:rPr lang="en-US"/>
              <a:t>The calculations result in the system predicting a probability distribution function that say: this is my guess for the next word!</a:t>
            </a:r>
          </a:p>
          <a:p>
            <a:r>
              <a:rPr lang="en-US"/>
              <a:t>How the W’s combine with the X’s is a dynamical system that we will meet later</a:t>
            </a:r>
          </a:p>
          <a:p>
            <a:r>
              <a:rPr lang="en-US"/>
              <a:t>We will now go to an easier dynamical system: Learning!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63B0FB-6F6C-616F-7F43-8731827ABCD5}"/>
              </a:ext>
            </a:extLst>
          </p:cNvPr>
          <p:cNvSpPr/>
          <p:nvPr/>
        </p:nvSpPr>
        <p:spPr>
          <a:xfrm>
            <a:off x="7299702" y="743919"/>
            <a:ext cx="201478" cy="2045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E84A5B-6F76-A41C-E43A-21F033522279}"/>
              </a:ext>
            </a:extLst>
          </p:cNvPr>
          <p:cNvSpPr/>
          <p:nvPr/>
        </p:nvSpPr>
        <p:spPr>
          <a:xfrm>
            <a:off x="8334213" y="743919"/>
            <a:ext cx="201478" cy="2045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96DAA8-7AE0-ABA1-9EDC-EB3CB4A2CD07}"/>
              </a:ext>
            </a:extLst>
          </p:cNvPr>
          <p:cNvSpPr/>
          <p:nvPr/>
        </p:nvSpPr>
        <p:spPr>
          <a:xfrm>
            <a:off x="9284778" y="743919"/>
            <a:ext cx="201478" cy="2045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59FAB3-22FA-F64E-E9A4-FA5595F04A3D}"/>
              </a:ext>
            </a:extLst>
          </p:cNvPr>
          <p:cNvSpPr/>
          <p:nvPr/>
        </p:nvSpPr>
        <p:spPr>
          <a:xfrm>
            <a:off x="10319289" y="735269"/>
            <a:ext cx="201478" cy="2045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BD9479-F636-E236-BD89-535C4A754346}"/>
              </a:ext>
            </a:extLst>
          </p:cNvPr>
          <p:cNvSpPr txBox="1"/>
          <p:nvPr/>
        </p:nvSpPr>
        <p:spPr>
          <a:xfrm>
            <a:off x="6896746" y="3037668"/>
            <a:ext cx="1076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chickens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983BF5-BF44-2E13-420B-1984111F5CC5}"/>
              </a:ext>
            </a:extLst>
          </p:cNvPr>
          <p:cNvSpPr txBox="1"/>
          <p:nvPr/>
        </p:nvSpPr>
        <p:spPr>
          <a:xfrm>
            <a:off x="7973579" y="3037668"/>
            <a:ext cx="843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cackle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2A03B0-B309-3666-C575-2AA032B3C67E}"/>
              </a:ext>
            </a:extLst>
          </p:cNvPr>
          <p:cNvSpPr txBox="1"/>
          <p:nvPr/>
        </p:nvSpPr>
        <p:spPr>
          <a:xfrm>
            <a:off x="9103228" y="303766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B93188-17BD-8EB7-B46B-F1B1B01F84FC}"/>
              </a:ext>
            </a:extLst>
          </p:cNvPr>
          <p:cNvSpPr txBox="1"/>
          <p:nvPr/>
        </p:nvSpPr>
        <p:spPr>
          <a:xfrm>
            <a:off x="9780872" y="3037668"/>
            <a:ext cx="785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ducks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7374B4-3B5D-1F8D-77D6-B96198208B94}"/>
              </a:ext>
            </a:extLst>
          </p:cNvPr>
          <p:cNvSpPr/>
          <p:nvPr/>
        </p:nvSpPr>
        <p:spPr>
          <a:xfrm>
            <a:off x="6757261" y="5300420"/>
            <a:ext cx="5222929" cy="2014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A941550-18D3-72DB-E9FC-4CE903E1BEA5}"/>
                  </a:ext>
                </a:extLst>
              </p14:cNvPr>
              <p14:cNvContentPartPr/>
              <p14:nvPr/>
            </p14:nvContentPartPr>
            <p14:xfrm>
              <a:off x="6819291" y="3841450"/>
              <a:ext cx="5173920" cy="13384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A941550-18D3-72DB-E9FC-4CE903E1BEA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01651" y="3823450"/>
                <a:ext cx="5209560" cy="137412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B0BCC470-85D3-4F0D-A093-279BFB700119}"/>
              </a:ext>
            </a:extLst>
          </p:cNvPr>
          <p:cNvSpPr txBox="1"/>
          <p:nvPr/>
        </p:nvSpPr>
        <p:spPr>
          <a:xfrm>
            <a:off x="6648773" y="58893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BED811-859F-B26A-D7F7-732EA9CA1DED}"/>
              </a:ext>
            </a:extLst>
          </p:cNvPr>
          <p:cNvSpPr txBox="1"/>
          <p:nvPr/>
        </p:nvSpPr>
        <p:spPr>
          <a:xfrm>
            <a:off x="8083278" y="5929415"/>
            <a:ext cx="501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cat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051765-5872-AA9D-4FEC-74A1C2F9A6EC}"/>
              </a:ext>
            </a:extLst>
          </p:cNvPr>
          <p:cNvSpPr txBox="1"/>
          <p:nvPr/>
        </p:nvSpPr>
        <p:spPr>
          <a:xfrm>
            <a:off x="9667806" y="588935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quack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30075C-3113-3E3C-77C4-9BC73F47DB3E}"/>
              </a:ext>
            </a:extLst>
          </p:cNvPr>
          <p:cNvSpPr txBox="1"/>
          <p:nvPr/>
        </p:nvSpPr>
        <p:spPr>
          <a:xfrm>
            <a:off x="11684504" y="5889356"/>
            <a:ext cx="617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Zulu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B11A4F-D33D-329B-C5F9-ED13983A9347}"/>
              </a:ext>
            </a:extLst>
          </p:cNvPr>
          <p:cNvSpPr txBox="1"/>
          <p:nvPr/>
        </p:nvSpPr>
        <p:spPr>
          <a:xfrm>
            <a:off x="6292312" y="1438167"/>
            <a:ext cx="706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/>
              <a:t>x’s</a:t>
            </a:r>
          </a:p>
        </p:txBody>
      </p:sp>
    </p:spTree>
    <p:extLst>
      <p:ext uri="{BB962C8B-B14F-4D97-AF65-F5344CB8AC3E}">
        <p14:creationId xmlns:p14="http://schemas.microsoft.com/office/powerpoint/2010/main" val="116747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2FE93-2BCB-592F-D8BD-E397C936C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185" y="125467"/>
            <a:ext cx="6508531" cy="1700158"/>
          </a:xfrm>
        </p:spPr>
        <p:txBody>
          <a:bodyPr>
            <a:normAutofit/>
          </a:bodyPr>
          <a:lstStyle/>
          <a:p>
            <a:r>
              <a:rPr lang="en-US"/>
              <a:t>Where do W’s (knowledge) come from????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E68C3-BE78-4CA6-94DF-E32B38F50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925207" cy="4906908"/>
          </a:xfrm>
        </p:spPr>
        <p:txBody>
          <a:bodyPr>
            <a:normAutofit fontScale="85000" lnSpcReduction="20000"/>
          </a:bodyPr>
          <a:lstStyle/>
          <a:p>
            <a:r>
              <a:rPr lang="en-US"/>
              <a:t>Fake it till you make it!</a:t>
            </a:r>
          </a:p>
          <a:p>
            <a:r>
              <a:rPr lang="en-US"/>
              <a:t>Start out with random, yes totally random, completely random W’s-- any number you want!</a:t>
            </a:r>
          </a:p>
          <a:p>
            <a:r>
              <a:rPr lang="en-US"/>
              <a:t>We give the system a sequence of words “chickens cackle and ducks ” and ask it to predict the next word by combining its W’s with the input vectors </a:t>
            </a:r>
          </a:p>
          <a:p>
            <a:r>
              <a:rPr lang="en-US"/>
              <a:t>Since we know that the next word should be “quack”, we tell it: Change your W’s so that your output pdf looks more like this</a:t>
            </a:r>
          </a:p>
          <a:p>
            <a:r>
              <a:rPr lang="en-US"/>
              <a:t>Keep exposing the system to more sequences and ask it to predict the next word, billions of times, and keep changing its W’s to improve its guessing.</a:t>
            </a:r>
          </a:p>
          <a:p>
            <a:r>
              <a:rPr lang="en-US"/>
              <a:t>That’s how LLMs </a:t>
            </a:r>
            <a:r>
              <a:rPr lang="en-US" i="1"/>
              <a:t>learn</a:t>
            </a:r>
            <a:r>
              <a:rPr lang="en-US"/>
              <a:t> and </a:t>
            </a:r>
            <a:r>
              <a:rPr lang="en-US" i="1"/>
              <a:t>know</a:t>
            </a:r>
            <a:r>
              <a:rPr lang="en-US"/>
              <a:t>!</a:t>
            </a:r>
          </a:p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330653-D3B9-E0CC-557C-05F074FE5203}"/>
              </a:ext>
            </a:extLst>
          </p:cNvPr>
          <p:cNvSpPr/>
          <p:nvPr/>
        </p:nvSpPr>
        <p:spPr>
          <a:xfrm>
            <a:off x="7299702" y="743919"/>
            <a:ext cx="201478" cy="2045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223157-6283-E848-F6AA-758343AE87A3}"/>
              </a:ext>
            </a:extLst>
          </p:cNvPr>
          <p:cNvSpPr/>
          <p:nvPr/>
        </p:nvSpPr>
        <p:spPr>
          <a:xfrm>
            <a:off x="8334213" y="743919"/>
            <a:ext cx="201478" cy="2045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589AED-4A72-2E16-E0AE-F3A7A52BCFA9}"/>
              </a:ext>
            </a:extLst>
          </p:cNvPr>
          <p:cNvSpPr/>
          <p:nvPr/>
        </p:nvSpPr>
        <p:spPr>
          <a:xfrm>
            <a:off x="9284778" y="743919"/>
            <a:ext cx="201478" cy="2045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4D9FB8-70C6-0671-B992-17E30DD310AC}"/>
              </a:ext>
            </a:extLst>
          </p:cNvPr>
          <p:cNvSpPr/>
          <p:nvPr/>
        </p:nvSpPr>
        <p:spPr>
          <a:xfrm>
            <a:off x="10319289" y="735269"/>
            <a:ext cx="201478" cy="2045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EA9EE-041A-60A7-622C-E428ABDE2254}"/>
              </a:ext>
            </a:extLst>
          </p:cNvPr>
          <p:cNvSpPr txBox="1"/>
          <p:nvPr/>
        </p:nvSpPr>
        <p:spPr>
          <a:xfrm>
            <a:off x="6896746" y="3037668"/>
            <a:ext cx="1076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chickens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B1F310-0F1E-9AA4-8710-DACF893782B7}"/>
              </a:ext>
            </a:extLst>
          </p:cNvPr>
          <p:cNvSpPr txBox="1"/>
          <p:nvPr/>
        </p:nvSpPr>
        <p:spPr>
          <a:xfrm>
            <a:off x="7973579" y="3037668"/>
            <a:ext cx="843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cackle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26785F-C837-C9A6-182A-866D6B7B2A8D}"/>
              </a:ext>
            </a:extLst>
          </p:cNvPr>
          <p:cNvSpPr txBox="1"/>
          <p:nvPr/>
        </p:nvSpPr>
        <p:spPr>
          <a:xfrm>
            <a:off x="9103228" y="303766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and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59C2B8-61B3-E6D3-1162-1C3EE310C8F9}"/>
              </a:ext>
            </a:extLst>
          </p:cNvPr>
          <p:cNvSpPr txBox="1"/>
          <p:nvPr/>
        </p:nvSpPr>
        <p:spPr>
          <a:xfrm>
            <a:off x="9780872" y="3037668"/>
            <a:ext cx="785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ducks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55622A-EE44-98EE-A530-C69740B2F378}"/>
              </a:ext>
            </a:extLst>
          </p:cNvPr>
          <p:cNvSpPr/>
          <p:nvPr/>
        </p:nvSpPr>
        <p:spPr>
          <a:xfrm>
            <a:off x="6757261" y="5300420"/>
            <a:ext cx="5222929" cy="2014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1B6018-1E61-9A11-D47A-05CB7CAF60EE}"/>
              </a:ext>
            </a:extLst>
          </p:cNvPr>
          <p:cNvSpPr txBox="1"/>
          <p:nvPr/>
        </p:nvSpPr>
        <p:spPr>
          <a:xfrm>
            <a:off x="6648773" y="58893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43EA7A-F428-8774-C8C2-5531A8BFC6CA}"/>
              </a:ext>
            </a:extLst>
          </p:cNvPr>
          <p:cNvSpPr txBox="1"/>
          <p:nvPr/>
        </p:nvSpPr>
        <p:spPr>
          <a:xfrm>
            <a:off x="8083278" y="5929415"/>
            <a:ext cx="501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cat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10E7C7-953F-FDB8-0A6F-FDDBD13785A2}"/>
              </a:ext>
            </a:extLst>
          </p:cNvPr>
          <p:cNvSpPr txBox="1"/>
          <p:nvPr/>
        </p:nvSpPr>
        <p:spPr>
          <a:xfrm>
            <a:off x="9667806" y="588935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quack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2D78F2-B4F5-5AF7-4888-AEA413A6C8BB}"/>
              </a:ext>
            </a:extLst>
          </p:cNvPr>
          <p:cNvSpPr txBox="1"/>
          <p:nvPr/>
        </p:nvSpPr>
        <p:spPr>
          <a:xfrm>
            <a:off x="6292312" y="1438167"/>
            <a:ext cx="706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/>
              <a:t>x’s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CA21DC3-C6DB-5D7B-712D-9243FC106699}"/>
                  </a:ext>
                </a:extLst>
              </p14:cNvPr>
              <p14:cNvContentPartPr/>
              <p14:nvPr/>
            </p14:nvContentPartPr>
            <p14:xfrm>
              <a:off x="6786273" y="3901854"/>
              <a:ext cx="5410440" cy="12189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CA21DC3-C6DB-5D7B-712D-9243FC10669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68273" y="3883854"/>
                <a:ext cx="5446080" cy="12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AF51128-CE17-009F-E578-F46999C7E40C}"/>
                  </a:ext>
                </a:extLst>
              </p14:cNvPr>
              <p14:cNvContentPartPr/>
              <p14:nvPr/>
            </p14:nvContentPartPr>
            <p14:xfrm>
              <a:off x="6742713" y="3626454"/>
              <a:ext cx="5532480" cy="15307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AF51128-CE17-009F-E578-F46999C7E40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24713" y="3608814"/>
                <a:ext cx="5568120" cy="156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0439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6" grpId="0" animBg="1"/>
      <p:bldP spid="8" grpId="0" animBg="1"/>
      <p:bldP spid="9" grpId="0" animBg="1"/>
      <p:bldP spid="10" grpId="0"/>
      <p:bldP spid="11" grpId="0"/>
      <p:bldP spid="12" grpId="0"/>
      <p:bldP spid="13" grpId="0"/>
      <p:bldP spid="14" grpId="0" animBg="1"/>
      <p:bldP spid="16" grpId="0"/>
      <p:bldP spid="17" grpId="0"/>
      <p:bldP spid="18" grpId="0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AB39C2D-7FA2-E4DA-9BC0-02C9F0CF2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573" y="783268"/>
            <a:ext cx="4062646" cy="50764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8DAC0C-9606-CF37-479A-A978B9033455}"/>
              </a:ext>
            </a:extLst>
          </p:cNvPr>
          <p:cNvSpPr txBox="1"/>
          <p:nvPr/>
        </p:nvSpPr>
        <p:spPr>
          <a:xfrm>
            <a:off x="6363306" y="6074732"/>
            <a:ext cx="19543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/>
              <a:t>ChatGPT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6931D15-B1C1-5201-7743-5369C9834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189" y="688675"/>
            <a:ext cx="10515600" cy="1325563"/>
          </a:xfrm>
        </p:spPr>
        <p:txBody>
          <a:bodyPr/>
          <a:lstStyle/>
          <a:p>
            <a:r>
              <a:rPr lang="en-US"/>
              <a:t>2 Tricks to</a:t>
            </a:r>
            <a:br>
              <a:rPr lang="en-US"/>
            </a:br>
            <a:r>
              <a:rPr lang="en-US"/>
              <a:t>AI Learning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3EEB513-4842-9313-2975-0B8659A08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497" y="783268"/>
            <a:ext cx="4062645" cy="507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074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>
            <a:extLst>
              <a:ext uri="{FF2B5EF4-FFF2-40B4-BE49-F238E27FC236}">
                <a16:creationId xmlns:a16="http://schemas.microsoft.com/office/drawing/2014/main" id="{38115907-03A9-47BE-9325-03E4C2F8F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What’s the big deal? Averaging is so easy</a:t>
            </a:r>
          </a:p>
        </p:txBody>
      </p:sp>
      <p:sp>
        <p:nvSpPr>
          <p:cNvPr id="60" name="PlaceHolder 2">
            <a:extLst>
              <a:ext uri="{FF2B5EF4-FFF2-40B4-BE49-F238E27FC236}">
                <a16:creationId xmlns:a16="http://schemas.microsoft.com/office/drawing/2014/main" id="{68885CC6-4323-44CA-B7F2-4A5A04F9B11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836193"/>
            <a:ext cx="10515240" cy="4667040"/>
          </a:xfrm>
          <a:prstGeom prst="rect">
            <a:avLst/>
          </a:prstGeom>
          <a:blipFill rotWithShape="0">
            <a:blip r:embed="rId3"/>
            <a:stretch/>
          </a:blipFill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1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0" b="0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​</a:t>
            </a:r>
            <a:endParaRPr sz="28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7703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>
            <a:extLst>
              <a:ext uri="{FF2B5EF4-FFF2-40B4-BE49-F238E27FC236}">
                <a16:creationId xmlns:a16="http://schemas.microsoft.com/office/drawing/2014/main" id="{E180D9BA-D927-4DC4-8E85-9BC56FD01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446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 u="none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SGD starts with a wild guess</a:t>
            </a:r>
            <a:endParaRPr sz="4400" b="0" u="none">
              <a:solidFill>
                <a:schemeClr val="dk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6" name="PlaceHolder 2">
            <a:extLst>
              <a:ext uri="{FF2B5EF4-FFF2-40B4-BE49-F238E27FC236}">
                <a16:creationId xmlns:a16="http://schemas.microsoft.com/office/drawing/2014/main" id="{9B015905-67A0-454B-A392-B554D4FB9DC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825560"/>
            <a:ext cx="4466520" cy="4350960"/>
          </a:xfrm>
          <a:prstGeom prst="rect">
            <a:avLst/>
          </a:prstGeom>
          <a:solidFill>
            <a:srgbClr val="F4F4F4"/>
          </a:solidFill>
          <a:ln w="9525">
            <a:solidFill>
              <a:srgbClr val="E7E6E6"/>
            </a:solidFill>
            <a:prstDash val="solid"/>
          </a:ln>
        </p:spPr>
        <p:txBody>
          <a:bodyPr lIns="171450" tIns="171450" rIns="171450" bIns="133350" anchor="t">
            <a:noAutofit/>
          </a:bodyPr>
          <a:lstStyle/>
          <a:p>
            <a:pPr algn="l">
              <a:lnSpc>
                <a:spcPct val="93000"/>
              </a:lnSpc>
              <a:spcAft>
                <a:spcPts val="7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What’s the average—</a:t>
            </a:r>
            <a:r>
              <a:rPr sz="2400" b="0" i="1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essence</a:t>
            </a:r>
            <a:r>
              <a:rPr sz="24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—of:</a:t>
            </a:r>
          </a:p>
          <a:p>
            <a:pPr algn="l">
              <a:lnSpc>
                <a:spcPct val="93000"/>
              </a:lnSpc>
              <a:spcAft>
                <a:spcPts val="7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[78, 67, 98, 85, 76, 68, 98, 72]</a:t>
            </a:r>
          </a:p>
          <a:p>
            <a:pPr algn="l">
              <a:lnSpc>
                <a:spcPct val="93000"/>
              </a:lnSpc>
              <a:spcAft>
                <a:spcPts val="12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Pick any random number x as the estimate.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At time 0:</a:t>
            </a:r>
          </a:p>
          <a:p>
            <a:pPr algn="l">
              <a:lnSpc>
                <a:spcPct val="93000"/>
              </a:lnSpc>
              <a:spcAft>
                <a:spcPts val="12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x[0] = 130</a:t>
            </a:r>
          </a:p>
          <a:p>
            <a:pPr algn="l">
              <a:lnSpc>
                <a:spcPct val="93000"/>
              </a:lnSpc>
              <a:spcAft>
                <a:spcPts val="7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Learning rate γ = 25%</a:t>
            </a:r>
          </a:p>
        </p:txBody>
      </p:sp>
      <p:pic>
        <p:nvPicPr>
          <p:cNvPr id="70" name="Content Placeholder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4960" y="1027800"/>
            <a:ext cx="6568920" cy="435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617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>
            <a:extLst>
              <a:ext uri="{FF2B5EF4-FFF2-40B4-BE49-F238E27FC236}">
                <a16:creationId xmlns:a16="http://schemas.microsoft.com/office/drawing/2014/main" id="{E180D9BA-D927-4DC4-8E85-9BC56FD01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446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 u="none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One observation creates error</a:t>
            </a:r>
            <a:endParaRPr sz="4400" b="0" u="none">
              <a:solidFill>
                <a:schemeClr val="dk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6" name="PlaceHolder 2">
            <a:extLst>
              <a:ext uri="{FF2B5EF4-FFF2-40B4-BE49-F238E27FC236}">
                <a16:creationId xmlns:a16="http://schemas.microsoft.com/office/drawing/2014/main" id="{9B015905-67A0-454B-A392-B554D4FB9DC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825560"/>
            <a:ext cx="4466520" cy="4350960"/>
          </a:xfrm>
          <a:prstGeom prst="rect">
            <a:avLst/>
          </a:prstGeom>
          <a:solidFill>
            <a:srgbClr val="F4F4F4"/>
          </a:solidFill>
          <a:ln w="9525">
            <a:solidFill>
              <a:srgbClr val="E7E6E6"/>
            </a:solidFill>
            <a:prstDash val="solid"/>
          </a:ln>
        </p:spPr>
        <p:txBody>
          <a:bodyPr lIns="171450" tIns="171450" rIns="171450" bIns="133350" anchor="t">
            <a:noAutofit/>
          </a:bodyPr>
          <a:lstStyle/>
          <a:p>
            <a:pPr algn="l">
              <a:lnSpc>
                <a:spcPct val="93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Randomly pick one number d from the data.</a:t>
            </a:r>
          </a:p>
          <a:p>
            <a:pPr algn="l">
              <a:lnSpc>
                <a:spcPct val="93000"/>
              </a:lnSpc>
              <a:spcAft>
                <a:spcPts val="12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d[0] = 98</a:t>
            </a:r>
          </a:p>
          <a:p>
            <a:pPr algn="l">
              <a:lnSpc>
                <a:spcPct val="93000"/>
              </a:lnSpc>
              <a:spcAft>
                <a:spcPts val="8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Current estimate: x[0] = 130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Discrepancy / Loss:</a:t>
            </a:r>
          </a:p>
          <a:p>
            <a:pPr algn="l">
              <a:lnSpc>
                <a:spcPct val="93000"/>
              </a:lnSpc>
              <a:spcAft>
                <a:spcPts val="12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130 − 98 = 32</a:t>
            </a:r>
          </a:p>
          <a:p>
            <a:pPr algn="l">
              <a:lnSpc>
                <a:spcPct val="93000"/>
              </a:lnSpc>
              <a:spcAft>
                <a:spcPts val="7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0" i="1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average should be close to the data.</a:t>
            </a:r>
          </a:p>
        </p:txBody>
      </p:sp>
      <p:pic>
        <p:nvPicPr>
          <p:cNvPr id="70" name="Content Placeholder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4960" y="1027800"/>
            <a:ext cx="6568920" cy="435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669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>
            <a:extLst>
              <a:ext uri="{FF2B5EF4-FFF2-40B4-BE49-F238E27FC236}">
                <a16:creationId xmlns:a16="http://schemas.microsoft.com/office/drawing/2014/main" id="{E180D9BA-D927-4DC4-8E85-9BC56FD01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446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 u="none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Move 25% of the error</a:t>
            </a:r>
            <a:endParaRPr sz="4400" b="0" u="none">
              <a:solidFill>
                <a:schemeClr val="dk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6" name="PlaceHolder 2">
            <a:extLst>
              <a:ext uri="{FF2B5EF4-FFF2-40B4-BE49-F238E27FC236}">
                <a16:creationId xmlns:a16="http://schemas.microsoft.com/office/drawing/2014/main" id="{9B015905-67A0-454B-A392-B554D4FB9DC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825560"/>
            <a:ext cx="4466520" cy="4350960"/>
          </a:xfrm>
          <a:prstGeom prst="rect">
            <a:avLst/>
          </a:prstGeom>
          <a:solidFill>
            <a:srgbClr val="F4F4F4"/>
          </a:solidFill>
          <a:ln w="9525">
            <a:solidFill>
              <a:srgbClr val="E7E6E6"/>
            </a:solidFill>
            <a:prstDash val="solid"/>
          </a:ln>
        </p:spPr>
        <p:txBody>
          <a:bodyPr lIns="171450" tIns="171450" rIns="171450" bIns="133350" anchor="t">
            <a:noAutofit/>
          </a:bodyPr>
          <a:lstStyle/>
          <a:p>
            <a:pPr algn="l">
              <a:lnSpc>
                <a:spcPct val="93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Random observation: d[0] = 98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Discrepancy / Loss:</a:t>
            </a:r>
          </a:p>
          <a:p>
            <a:pPr algn="l">
              <a:lnSpc>
                <a:spcPct val="93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130 − 98 = 32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Subtract 25% of that discrepancy: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x[1] = 130 − 0.25(32)</a:t>
            </a:r>
          </a:p>
          <a:p>
            <a:pPr algn="l">
              <a:lnSpc>
                <a:spcPct val="93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= 122</a:t>
            </a:r>
          </a:p>
          <a:p>
            <a:pPr algn="l">
              <a:lnSpc>
                <a:spcPct val="93000"/>
              </a:lnSpc>
              <a:spcAft>
                <a:spcPts val="7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0" i="1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estimate moves toward this observation.</a:t>
            </a:r>
          </a:p>
        </p:txBody>
      </p:sp>
      <p:pic>
        <p:nvPicPr>
          <p:cNvPr id="70" name="Content Placeholder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4960" y="1027800"/>
            <a:ext cx="6568920" cy="435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0923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>
            <a:extLst>
              <a:ext uri="{FF2B5EF4-FFF2-40B4-BE49-F238E27FC236}">
                <a16:creationId xmlns:a16="http://schemas.microsoft.com/office/drawing/2014/main" id="{E180D9BA-D927-4DC4-8E85-9BC56FD01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446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 u="none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Repeat the correction</a:t>
            </a:r>
            <a:endParaRPr sz="4400" b="0" u="none">
              <a:solidFill>
                <a:schemeClr val="dk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6" name="PlaceHolder 2">
            <a:extLst>
              <a:ext uri="{FF2B5EF4-FFF2-40B4-BE49-F238E27FC236}">
                <a16:creationId xmlns:a16="http://schemas.microsoft.com/office/drawing/2014/main" id="{9B015905-67A0-454B-A392-B554D4FB9DC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825560"/>
            <a:ext cx="4466520" cy="4350960"/>
          </a:xfrm>
          <a:prstGeom prst="rect">
            <a:avLst/>
          </a:prstGeom>
          <a:solidFill>
            <a:srgbClr val="F4F4F4"/>
          </a:solidFill>
          <a:ln w="9525">
            <a:solidFill>
              <a:srgbClr val="E7E6E6"/>
            </a:solidFill>
            <a:prstDash val="solid"/>
          </a:ln>
        </p:spPr>
        <p:txBody>
          <a:bodyPr lIns="171450" tIns="171450" rIns="171450" bIns="133350" anchor="t">
            <a:noAutofit/>
          </a:bodyPr>
          <a:lstStyle/>
          <a:p>
            <a:pPr algn="l">
              <a:lnSpc>
                <a:spcPct val="93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Random observation: d[1] = 85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Discrepancy / Loss:</a:t>
            </a:r>
          </a:p>
          <a:p>
            <a:pPr algn="l">
              <a:lnSpc>
                <a:spcPct val="93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122 − 85 = 37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Subtract 25% of that discrepancy: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x[2] = 122 − 0.25(37)</a:t>
            </a:r>
          </a:p>
          <a:p>
            <a:pPr algn="l">
              <a:lnSpc>
                <a:spcPct val="93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= 112.75</a:t>
            </a:r>
          </a:p>
          <a:p>
            <a:pPr algn="l">
              <a:lnSpc>
                <a:spcPct val="93000"/>
              </a:lnSpc>
              <a:spcAft>
                <a:spcPts val="7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0" i="1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estimate moves toward this observation.</a:t>
            </a:r>
          </a:p>
        </p:txBody>
      </p:sp>
      <p:pic>
        <p:nvPicPr>
          <p:cNvPr id="70" name="Content Placeholder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4960" y="1027800"/>
            <a:ext cx="6568920" cy="435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63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>
            <a:extLst>
              <a:ext uri="{FF2B5EF4-FFF2-40B4-BE49-F238E27FC236}">
                <a16:creationId xmlns:a16="http://schemas.microsoft.com/office/drawing/2014/main" id="{E180D9BA-D927-4DC4-8E85-9BC56FD01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446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 u="none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Repeat the correction</a:t>
            </a:r>
            <a:endParaRPr sz="4400" b="0" u="none">
              <a:solidFill>
                <a:schemeClr val="dk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6" name="PlaceHolder 2">
            <a:extLst>
              <a:ext uri="{FF2B5EF4-FFF2-40B4-BE49-F238E27FC236}">
                <a16:creationId xmlns:a16="http://schemas.microsoft.com/office/drawing/2014/main" id="{9B015905-67A0-454B-A392-B554D4FB9DC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825560"/>
            <a:ext cx="4466520" cy="4350960"/>
          </a:xfrm>
          <a:prstGeom prst="rect">
            <a:avLst/>
          </a:prstGeom>
          <a:solidFill>
            <a:srgbClr val="F4F4F4"/>
          </a:solidFill>
          <a:ln w="9525">
            <a:solidFill>
              <a:srgbClr val="E7E6E6"/>
            </a:solidFill>
            <a:prstDash val="solid"/>
          </a:ln>
        </p:spPr>
        <p:txBody>
          <a:bodyPr lIns="171450" tIns="171450" rIns="171450" bIns="133350" anchor="t">
            <a:noAutofit/>
          </a:bodyPr>
          <a:lstStyle/>
          <a:p>
            <a:pPr algn="l">
              <a:lnSpc>
                <a:spcPct val="93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Random observation: d[2] = 76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Discrepancy / Loss:</a:t>
            </a:r>
          </a:p>
          <a:p>
            <a:pPr algn="l">
              <a:lnSpc>
                <a:spcPct val="93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112.75 − 76 = 36.75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Subtract 25% of that discrepancy: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x[3] = 112.75 − 0.25(36.75)</a:t>
            </a:r>
          </a:p>
          <a:p>
            <a:pPr algn="l">
              <a:lnSpc>
                <a:spcPct val="93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= 103.563</a:t>
            </a:r>
          </a:p>
          <a:p>
            <a:pPr algn="l">
              <a:lnSpc>
                <a:spcPct val="93000"/>
              </a:lnSpc>
              <a:spcAft>
                <a:spcPts val="7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0" i="1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estimate moves toward this observation.</a:t>
            </a:r>
          </a:p>
        </p:txBody>
      </p:sp>
      <p:pic>
        <p:nvPicPr>
          <p:cNvPr id="70" name="Content Placeholder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4960" y="1027800"/>
            <a:ext cx="6568920" cy="435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4293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>
            <a:extLst>
              <a:ext uri="{FF2B5EF4-FFF2-40B4-BE49-F238E27FC236}">
                <a16:creationId xmlns:a16="http://schemas.microsoft.com/office/drawing/2014/main" id="{E180D9BA-D927-4DC4-8E85-9BC56FD01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446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 u="none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Repeat the correction</a:t>
            </a:r>
            <a:endParaRPr sz="4400" b="0" u="none">
              <a:solidFill>
                <a:schemeClr val="dk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6" name="PlaceHolder 2">
            <a:extLst>
              <a:ext uri="{FF2B5EF4-FFF2-40B4-BE49-F238E27FC236}">
                <a16:creationId xmlns:a16="http://schemas.microsoft.com/office/drawing/2014/main" id="{9B015905-67A0-454B-A392-B554D4FB9DC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825560"/>
            <a:ext cx="4466520" cy="4350960"/>
          </a:xfrm>
          <a:prstGeom prst="rect">
            <a:avLst/>
          </a:prstGeom>
          <a:solidFill>
            <a:srgbClr val="F4F4F4"/>
          </a:solidFill>
          <a:ln w="9525">
            <a:solidFill>
              <a:srgbClr val="E7E6E6"/>
            </a:solidFill>
            <a:prstDash val="solid"/>
          </a:ln>
        </p:spPr>
        <p:txBody>
          <a:bodyPr lIns="171450" tIns="171450" rIns="171450" bIns="133350" anchor="t">
            <a:noAutofit/>
          </a:bodyPr>
          <a:lstStyle/>
          <a:p>
            <a:pPr algn="l">
              <a:lnSpc>
                <a:spcPct val="93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Random observation: d[3] = 68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Discrepancy / Loss:</a:t>
            </a:r>
          </a:p>
          <a:p>
            <a:pPr algn="l">
              <a:lnSpc>
                <a:spcPct val="93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103.563 − 68 = 35.563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Subtract 25% of that discrepancy: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x[4] = 103.563 − 0.25(35.563)</a:t>
            </a:r>
          </a:p>
          <a:p>
            <a:pPr algn="l">
              <a:lnSpc>
                <a:spcPct val="93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= 94.672</a:t>
            </a:r>
          </a:p>
          <a:p>
            <a:pPr algn="l">
              <a:lnSpc>
                <a:spcPct val="93000"/>
              </a:lnSpc>
              <a:spcAft>
                <a:spcPts val="7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0" i="1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estimate moves toward this observation.</a:t>
            </a:r>
          </a:p>
        </p:txBody>
      </p:sp>
      <p:pic>
        <p:nvPicPr>
          <p:cNvPr id="70" name="Content Placeholder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4960" y="1027800"/>
            <a:ext cx="6568920" cy="435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3335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>
            <a:extLst>
              <a:ext uri="{FF2B5EF4-FFF2-40B4-BE49-F238E27FC236}">
                <a16:creationId xmlns:a16="http://schemas.microsoft.com/office/drawing/2014/main" id="{E180D9BA-D927-4DC4-8E85-9BC56FD01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446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 u="none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A high datum pulls x upward</a:t>
            </a:r>
            <a:endParaRPr sz="4400" b="0" u="none">
              <a:solidFill>
                <a:schemeClr val="dk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6" name="PlaceHolder 2">
            <a:extLst>
              <a:ext uri="{FF2B5EF4-FFF2-40B4-BE49-F238E27FC236}">
                <a16:creationId xmlns:a16="http://schemas.microsoft.com/office/drawing/2014/main" id="{9B015905-67A0-454B-A392-B554D4FB9DC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825560"/>
            <a:ext cx="4466520" cy="4350960"/>
          </a:xfrm>
          <a:prstGeom prst="rect">
            <a:avLst/>
          </a:prstGeom>
          <a:solidFill>
            <a:srgbClr val="F4F4F4"/>
          </a:solidFill>
          <a:ln w="9525">
            <a:solidFill>
              <a:srgbClr val="E7E6E6"/>
            </a:solidFill>
            <a:prstDash val="solid"/>
          </a:ln>
        </p:spPr>
        <p:txBody>
          <a:bodyPr lIns="171450" tIns="171450" rIns="171450" bIns="133350" anchor="t">
            <a:noAutofit/>
          </a:bodyPr>
          <a:lstStyle/>
          <a:p>
            <a:pPr algn="l">
              <a:lnSpc>
                <a:spcPct val="93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Random observation: d[4] = 98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Discrepancy / Loss:</a:t>
            </a:r>
          </a:p>
          <a:p>
            <a:pPr algn="l">
              <a:lnSpc>
                <a:spcPct val="93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94.672 − 98 = -3.328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Subtract 25% of that discrepancy: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x[5] = 94.672 − 0.25(-3.328)</a:t>
            </a:r>
          </a:p>
          <a:p>
            <a:pPr algn="l">
              <a:lnSpc>
                <a:spcPct val="93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= 95.504</a:t>
            </a:r>
          </a:p>
          <a:p>
            <a:pPr algn="l">
              <a:lnSpc>
                <a:spcPct val="93000"/>
              </a:lnSpc>
              <a:spcAft>
                <a:spcPts val="7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0" i="1">
                <a:solidFill>
                  <a:srgbClr val="000000"/>
                </a:solidFill>
                <a:latin typeface="Aptos"/>
                <a:ea typeface="Aptos"/>
                <a:cs typeface="Aptos"/>
              </a:rPr>
              <a:t>A negative discrepancy makes subtraction move x upward.</a:t>
            </a:r>
          </a:p>
        </p:txBody>
      </p:sp>
      <p:pic>
        <p:nvPicPr>
          <p:cNvPr id="70" name="Content Placeholder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4960" y="1027800"/>
            <a:ext cx="6568920" cy="435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6497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>
            <a:extLst>
              <a:ext uri="{FF2B5EF4-FFF2-40B4-BE49-F238E27FC236}">
                <a16:creationId xmlns:a16="http://schemas.microsoft.com/office/drawing/2014/main" id="{E180D9BA-D927-4DC4-8E85-9BC56FD01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446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 u="none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Repeat the correction</a:t>
            </a:r>
            <a:endParaRPr sz="4400" b="0" u="none">
              <a:solidFill>
                <a:schemeClr val="dk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6" name="PlaceHolder 2">
            <a:extLst>
              <a:ext uri="{FF2B5EF4-FFF2-40B4-BE49-F238E27FC236}">
                <a16:creationId xmlns:a16="http://schemas.microsoft.com/office/drawing/2014/main" id="{9B015905-67A0-454B-A392-B554D4FB9DC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825560"/>
            <a:ext cx="4466520" cy="4350960"/>
          </a:xfrm>
          <a:prstGeom prst="rect">
            <a:avLst/>
          </a:prstGeom>
          <a:solidFill>
            <a:srgbClr val="F4F4F4"/>
          </a:solidFill>
          <a:ln w="9525">
            <a:solidFill>
              <a:srgbClr val="E7E6E6"/>
            </a:solidFill>
            <a:prstDash val="solid"/>
          </a:ln>
        </p:spPr>
        <p:txBody>
          <a:bodyPr lIns="171450" tIns="171450" rIns="171450" bIns="133350" anchor="t">
            <a:noAutofit/>
          </a:bodyPr>
          <a:lstStyle/>
          <a:p>
            <a:pPr algn="l">
              <a:lnSpc>
                <a:spcPct val="93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Random observation: d[5] = 72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Discrepancy / Loss:</a:t>
            </a:r>
          </a:p>
          <a:p>
            <a:pPr algn="l">
              <a:lnSpc>
                <a:spcPct val="93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95.504 − 72 = 23.504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Subtract 25% of that discrepancy: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x[6] = 95.504 − 0.25(23.504)</a:t>
            </a:r>
          </a:p>
          <a:p>
            <a:pPr algn="l">
              <a:lnSpc>
                <a:spcPct val="93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= 89.628</a:t>
            </a:r>
          </a:p>
          <a:p>
            <a:pPr algn="l">
              <a:lnSpc>
                <a:spcPct val="93000"/>
              </a:lnSpc>
              <a:spcAft>
                <a:spcPts val="7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0" i="1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estimate moves toward this observation.</a:t>
            </a:r>
          </a:p>
        </p:txBody>
      </p:sp>
      <p:pic>
        <p:nvPicPr>
          <p:cNvPr id="70" name="Content Placeholder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4960" y="1027800"/>
            <a:ext cx="6568920" cy="435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5823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>
            <a:extLst>
              <a:ext uri="{FF2B5EF4-FFF2-40B4-BE49-F238E27FC236}">
                <a16:creationId xmlns:a16="http://schemas.microsoft.com/office/drawing/2014/main" id="{E180D9BA-D927-4DC4-8E85-9BC56FD01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446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 u="none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Repeat the correction</a:t>
            </a:r>
            <a:endParaRPr sz="4400" b="0" u="none">
              <a:solidFill>
                <a:schemeClr val="dk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6" name="PlaceHolder 2">
            <a:extLst>
              <a:ext uri="{FF2B5EF4-FFF2-40B4-BE49-F238E27FC236}">
                <a16:creationId xmlns:a16="http://schemas.microsoft.com/office/drawing/2014/main" id="{9B015905-67A0-454B-A392-B554D4FB9DC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825560"/>
            <a:ext cx="4466520" cy="4350960"/>
          </a:xfrm>
          <a:prstGeom prst="rect">
            <a:avLst/>
          </a:prstGeom>
          <a:solidFill>
            <a:srgbClr val="F4F4F4"/>
          </a:solidFill>
          <a:ln w="9525">
            <a:solidFill>
              <a:srgbClr val="E7E6E6"/>
            </a:solidFill>
            <a:prstDash val="solid"/>
          </a:ln>
        </p:spPr>
        <p:txBody>
          <a:bodyPr lIns="171450" tIns="171450" rIns="171450" bIns="133350" anchor="t">
            <a:noAutofit/>
          </a:bodyPr>
          <a:lstStyle/>
          <a:p>
            <a:pPr algn="l">
              <a:lnSpc>
                <a:spcPct val="93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Random observation: d[6] = 78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Discrepancy / Loss:</a:t>
            </a:r>
          </a:p>
          <a:p>
            <a:pPr algn="l">
              <a:lnSpc>
                <a:spcPct val="93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89.628 − 78 = 11.628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Subtract 25% of that discrepancy: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x[7] = 89.628 − 0.25(11.628)</a:t>
            </a:r>
          </a:p>
          <a:p>
            <a:pPr algn="l">
              <a:lnSpc>
                <a:spcPct val="93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= 86.721</a:t>
            </a:r>
          </a:p>
          <a:p>
            <a:pPr algn="l">
              <a:lnSpc>
                <a:spcPct val="93000"/>
              </a:lnSpc>
              <a:spcAft>
                <a:spcPts val="7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0" i="1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estimate moves toward this observation.</a:t>
            </a:r>
          </a:p>
        </p:txBody>
      </p:sp>
      <p:pic>
        <p:nvPicPr>
          <p:cNvPr id="70" name="Content Placeholder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4960" y="1027800"/>
            <a:ext cx="6568920" cy="435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635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>
            <a:extLst>
              <a:ext uri="{FF2B5EF4-FFF2-40B4-BE49-F238E27FC236}">
                <a16:creationId xmlns:a16="http://schemas.microsoft.com/office/drawing/2014/main" id="{E180D9BA-D927-4DC4-8E85-9BC56FD01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446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 u="none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Repeat the correction</a:t>
            </a:r>
            <a:endParaRPr sz="4400" b="0" u="none">
              <a:solidFill>
                <a:schemeClr val="dk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6" name="PlaceHolder 2">
            <a:extLst>
              <a:ext uri="{FF2B5EF4-FFF2-40B4-BE49-F238E27FC236}">
                <a16:creationId xmlns:a16="http://schemas.microsoft.com/office/drawing/2014/main" id="{9B015905-67A0-454B-A392-B554D4FB9DC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825560"/>
            <a:ext cx="4466520" cy="4350960"/>
          </a:xfrm>
          <a:prstGeom prst="rect">
            <a:avLst/>
          </a:prstGeom>
          <a:solidFill>
            <a:srgbClr val="F4F4F4"/>
          </a:solidFill>
          <a:ln w="9525">
            <a:solidFill>
              <a:srgbClr val="E7E6E6"/>
            </a:solidFill>
            <a:prstDash val="solid"/>
          </a:ln>
        </p:spPr>
        <p:txBody>
          <a:bodyPr lIns="171450" tIns="171450" rIns="171450" bIns="133350" anchor="t">
            <a:noAutofit/>
          </a:bodyPr>
          <a:lstStyle/>
          <a:p>
            <a:pPr algn="l">
              <a:lnSpc>
                <a:spcPct val="93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Random observation: d[7] = 67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Discrepancy / Loss:</a:t>
            </a:r>
          </a:p>
          <a:p>
            <a:pPr algn="l">
              <a:lnSpc>
                <a:spcPct val="93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86.721 − 67 = 19.721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Subtract 25% of that discrepancy: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x[8] = 86.721 − 0.25(19.721)</a:t>
            </a:r>
          </a:p>
          <a:p>
            <a:pPr algn="l">
              <a:lnSpc>
                <a:spcPct val="93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= 81.791</a:t>
            </a:r>
          </a:p>
          <a:p>
            <a:pPr algn="l">
              <a:lnSpc>
                <a:spcPct val="93000"/>
              </a:lnSpc>
              <a:spcAft>
                <a:spcPts val="7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0" i="1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estimate moves toward this observation.</a:t>
            </a:r>
          </a:p>
        </p:txBody>
      </p:sp>
      <p:pic>
        <p:nvPicPr>
          <p:cNvPr id="70" name="Content Placeholder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4960" y="1027800"/>
            <a:ext cx="6568920" cy="435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2105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>
            <a:extLst>
              <a:ext uri="{FF2B5EF4-FFF2-40B4-BE49-F238E27FC236}">
                <a16:creationId xmlns:a16="http://schemas.microsoft.com/office/drawing/2014/main" id="{E180D9BA-D927-4DC4-8E85-9BC56FD01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446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 u="none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A high datum pulls x upward</a:t>
            </a:r>
            <a:endParaRPr sz="4400" b="0" u="none">
              <a:solidFill>
                <a:schemeClr val="dk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6" name="PlaceHolder 2">
            <a:extLst>
              <a:ext uri="{FF2B5EF4-FFF2-40B4-BE49-F238E27FC236}">
                <a16:creationId xmlns:a16="http://schemas.microsoft.com/office/drawing/2014/main" id="{9B015905-67A0-454B-A392-B554D4FB9DC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825560"/>
            <a:ext cx="4466520" cy="4350960"/>
          </a:xfrm>
          <a:prstGeom prst="rect">
            <a:avLst/>
          </a:prstGeom>
          <a:solidFill>
            <a:srgbClr val="F4F4F4"/>
          </a:solidFill>
          <a:ln w="9525">
            <a:solidFill>
              <a:srgbClr val="E7E6E6"/>
            </a:solidFill>
            <a:prstDash val="solid"/>
          </a:ln>
        </p:spPr>
        <p:txBody>
          <a:bodyPr lIns="171450" tIns="171450" rIns="171450" bIns="133350" anchor="t">
            <a:noAutofit/>
          </a:bodyPr>
          <a:lstStyle/>
          <a:p>
            <a:pPr algn="l">
              <a:lnSpc>
                <a:spcPct val="93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Random observation: d[8] = 98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Discrepancy / Loss:</a:t>
            </a:r>
          </a:p>
          <a:p>
            <a:pPr algn="l">
              <a:lnSpc>
                <a:spcPct val="93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81.791 − 98 = -16.209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Subtract 25% of that discrepancy: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x[9] = 81.791 − 0.25(-16.209)</a:t>
            </a:r>
          </a:p>
          <a:p>
            <a:pPr algn="l">
              <a:lnSpc>
                <a:spcPct val="93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= 85.843</a:t>
            </a:r>
          </a:p>
          <a:p>
            <a:pPr algn="l">
              <a:lnSpc>
                <a:spcPct val="93000"/>
              </a:lnSpc>
              <a:spcAft>
                <a:spcPts val="7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0" i="1">
                <a:solidFill>
                  <a:srgbClr val="000000"/>
                </a:solidFill>
                <a:latin typeface="Aptos"/>
                <a:ea typeface="Aptos"/>
                <a:cs typeface="Aptos"/>
              </a:rPr>
              <a:t>A negative discrepancy makes subtraction move x upward.</a:t>
            </a:r>
          </a:p>
        </p:txBody>
      </p:sp>
      <p:pic>
        <p:nvPicPr>
          <p:cNvPr id="70" name="Content Placeholder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4960" y="1027800"/>
            <a:ext cx="6568920" cy="435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7363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>
            <a:extLst>
              <a:ext uri="{FF2B5EF4-FFF2-40B4-BE49-F238E27FC236}">
                <a16:creationId xmlns:a16="http://schemas.microsoft.com/office/drawing/2014/main" id="{E180D9BA-D927-4DC4-8E85-9BC56FD01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446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 u="none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Repeat the correction</a:t>
            </a:r>
            <a:endParaRPr sz="4400" b="0" u="none">
              <a:solidFill>
                <a:schemeClr val="dk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6" name="PlaceHolder 2">
            <a:extLst>
              <a:ext uri="{FF2B5EF4-FFF2-40B4-BE49-F238E27FC236}">
                <a16:creationId xmlns:a16="http://schemas.microsoft.com/office/drawing/2014/main" id="{9B015905-67A0-454B-A392-B554D4FB9DC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825560"/>
            <a:ext cx="4466520" cy="4350960"/>
          </a:xfrm>
          <a:prstGeom prst="rect">
            <a:avLst/>
          </a:prstGeom>
          <a:solidFill>
            <a:srgbClr val="F4F4F4"/>
          </a:solidFill>
          <a:ln w="9525">
            <a:solidFill>
              <a:srgbClr val="E7E6E6"/>
            </a:solidFill>
            <a:prstDash val="solid"/>
          </a:ln>
        </p:spPr>
        <p:txBody>
          <a:bodyPr lIns="171450" tIns="171450" rIns="171450" bIns="133350" anchor="t">
            <a:noAutofit/>
          </a:bodyPr>
          <a:lstStyle/>
          <a:p>
            <a:pPr algn="l">
              <a:lnSpc>
                <a:spcPct val="93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Random observation: d[9] = 85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Discrepancy / Loss:</a:t>
            </a:r>
          </a:p>
          <a:p>
            <a:pPr algn="l">
              <a:lnSpc>
                <a:spcPct val="93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85.843 − 85 = 0.843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Subtract 25% of that discrepancy: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x[10] = 85.843 − 0.25(0.843)</a:t>
            </a:r>
          </a:p>
          <a:p>
            <a:pPr algn="l">
              <a:lnSpc>
                <a:spcPct val="93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= 85.632</a:t>
            </a:r>
          </a:p>
          <a:p>
            <a:pPr algn="l">
              <a:lnSpc>
                <a:spcPct val="93000"/>
              </a:lnSpc>
              <a:spcAft>
                <a:spcPts val="7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0" i="1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estimate moves toward this observation.</a:t>
            </a:r>
          </a:p>
        </p:txBody>
      </p:sp>
      <p:pic>
        <p:nvPicPr>
          <p:cNvPr id="70" name="Content Placeholder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4960" y="1027800"/>
            <a:ext cx="6568920" cy="435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1949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>
            <a:extLst>
              <a:ext uri="{FF2B5EF4-FFF2-40B4-BE49-F238E27FC236}">
                <a16:creationId xmlns:a16="http://schemas.microsoft.com/office/drawing/2014/main" id="{E180D9BA-D927-4DC4-8E85-9BC56FD01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446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 u="none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Repeat the correction</a:t>
            </a:r>
            <a:endParaRPr sz="4400" b="0" u="none">
              <a:solidFill>
                <a:schemeClr val="dk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6" name="PlaceHolder 2">
            <a:extLst>
              <a:ext uri="{FF2B5EF4-FFF2-40B4-BE49-F238E27FC236}">
                <a16:creationId xmlns:a16="http://schemas.microsoft.com/office/drawing/2014/main" id="{9B015905-67A0-454B-A392-B554D4FB9DC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825560"/>
            <a:ext cx="4466520" cy="4350960"/>
          </a:xfrm>
          <a:prstGeom prst="rect">
            <a:avLst/>
          </a:prstGeom>
          <a:solidFill>
            <a:srgbClr val="F4F4F4"/>
          </a:solidFill>
          <a:ln w="9525">
            <a:solidFill>
              <a:srgbClr val="E7E6E6"/>
            </a:solidFill>
            <a:prstDash val="solid"/>
          </a:ln>
        </p:spPr>
        <p:txBody>
          <a:bodyPr lIns="171450" tIns="171450" rIns="171450" bIns="133350" anchor="t">
            <a:noAutofit/>
          </a:bodyPr>
          <a:lstStyle/>
          <a:p>
            <a:pPr algn="l">
              <a:lnSpc>
                <a:spcPct val="93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Random observation: d[10] = 76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Discrepancy / Loss:</a:t>
            </a:r>
          </a:p>
          <a:p>
            <a:pPr algn="l">
              <a:lnSpc>
                <a:spcPct val="93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85.632 − 76 = 9.632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Subtract 25% of that discrepancy: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x[11] = 85.632 − 0.25(9.632)</a:t>
            </a:r>
          </a:p>
          <a:p>
            <a:pPr algn="l">
              <a:lnSpc>
                <a:spcPct val="93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= 83.224</a:t>
            </a:r>
          </a:p>
          <a:p>
            <a:pPr algn="l">
              <a:lnSpc>
                <a:spcPct val="93000"/>
              </a:lnSpc>
              <a:spcAft>
                <a:spcPts val="7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0" i="1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estimate moves toward this observation.</a:t>
            </a:r>
          </a:p>
        </p:txBody>
      </p:sp>
      <p:pic>
        <p:nvPicPr>
          <p:cNvPr id="70" name="Content Placeholder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4960" y="1027800"/>
            <a:ext cx="6568920" cy="435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817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>
            <a:extLst>
              <a:ext uri="{FF2B5EF4-FFF2-40B4-BE49-F238E27FC236}">
                <a16:creationId xmlns:a16="http://schemas.microsoft.com/office/drawing/2014/main" id="{E180D9BA-D927-4DC4-8E85-9BC56FD01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446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 u="none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Repeat the correction</a:t>
            </a:r>
            <a:endParaRPr sz="4400" b="0" u="none">
              <a:solidFill>
                <a:schemeClr val="dk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6" name="PlaceHolder 2">
            <a:extLst>
              <a:ext uri="{FF2B5EF4-FFF2-40B4-BE49-F238E27FC236}">
                <a16:creationId xmlns:a16="http://schemas.microsoft.com/office/drawing/2014/main" id="{9B015905-67A0-454B-A392-B554D4FB9DC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825560"/>
            <a:ext cx="4466520" cy="4350960"/>
          </a:xfrm>
          <a:prstGeom prst="rect">
            <a:avLst/>
          </a:prstGeom>
          <a:solidFill>
            <a:srgbClr val="F4F4F4"/>
          </a:solidFill>
          <a:ln w="9525">
            <a:solidFill>
              <a:srgbClr val="E7E6E6"/>
            </a:solidFill>
            <a:prstDash val="solid"/>
          </a:ln>
        </p:spPr>
        <p:txBody>
          <a:bodyPr lIns="171450" tIns="171450" rIns="171450" bIns="133350" anchor="t">
            <a:noAutofit/>
          </a:bodyPr>
          <a:lstStyle/>
          <a:p>
            <a:pPr algn="l">
              <a:lnSpc>
                <a:spcPct val="93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Random observation: d[11] = 68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Discrepancy / Loss:</a:t>
            </a:r>
          </a:p>
          <a:p>
            <a:pPr algn="l">
              <a:lnSpc>
                <a:spcPct val="93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83.224 − 68 = 15.224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Subtract 25% of that discrepancy: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x[12] = 83.224 − 0.25(15.224)</a:t>
            </a:r>
          </a:p>
          <a:p>
            <a:pPr algn="l">
              <a:lnSpc>
                <a:spcPct val="93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= 79.418</a:t>
            </a:r>
          </a:p>
          <a:p>
            <a:pPr algn="l">
              <a:lnSpc>
                <a:spcPct val="93000"/>
              </a:lnSpc>
              <a:spcAft>
                <a:spcPts val="7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0" i="1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estimate moves toward this observation.</a:t>
            </a:r>
          </a:p>
        </p:txBody>
      </p:sp>
      <p:pic>
        <p:nvPicPr>
          <p:cNvPr id="70" name="Content Placeholder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4960" y="1027800"/>
            <a:ext cx="6568920" cy="435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5336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>
            <a:extLst>
              <a:ext uri="{FF2B5EF4-FFF2-40B4-BE49-F238E27FC236}">
                <a16:creationId xmlns:a16="http://schemas.microsoft.com/office/drawing/2014/main" id="{E180D9BA-D927-4DC4-8E85-9BC56FD01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446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 u="none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That is SGD</a:t>
            </a:r>
            <a:endParaRPr sz="4400" b="0" u="none">
              <a:solidFill>
                <a:schemeClr val="dk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6" name="PlaceHolder 2">
            <a:extLst>
              <a:ext uri="{FF2B5EF4-FFF2-40B4-BE49-F238E27FC236}">
                <a16:creationId xmlns:a16="http://schemas.microsoft.com/office/drawing/2014/main" id="{9B015905-67A0-454B-A392-B554D4FB9DC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825560"/>
            <a:ext cx="4466520" cy="4350960"/>
          </a:xfrm>
          <a:prstGeom prst="rect">
            <a:avLst/>
          </a:prstGeom>
          <a:solidFill>
            <a:srgbClr val="F4F4F4"/>
          </a:solidFill>
          <a:ln w="9525">
            <a:solidFill>
              <a:srgbClr val="E7E6E6"/>
            </a:solidFill>
            <a:prstDash val="solid"/>
          </a:ln>
        </p:spPr>
        <p:txBody>
          <a:bodyPr lIns="171450" tIns="171450" rIns="171450" bIns="133350" anchor="t">
            <a:noAutofit/>
          </a:bodyPr>
          <a:lstStyle/>
          <a:p>
            <a:pPr algn="l">
              <a:lnSpc>
                <a:spcPct val="93000"/>
              </a:lnSpc>
              <a:spcAft>
                <a:spcPts val="9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1) Make an initial estimate / guess.</a:t>
            </a:r>
          </a:p>
          <a:p>
            <a:pPr algn="l">
              <a:lnSpc>
                <a:spcPct val="93000"/>
              </a:lnSpc>
              <a:spcAft>
                <a:spcPts val="14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2) Use data to improve the estimate.</a:t>
            </a:r>
          </a:p>
          <a:p>
            <a:pPr algn="l">
              <a:lnSpc>
                <a:spcPct val="93000"/>
              </a:lnSpc>
              <a:spcAft>
                <a:spcPts val="7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Stochastic</a:t>
            </a:r>
            <a:r>
              <a:rPr sz="24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= random observation</a:t>
            </a:r>
          </a:p>
          <a:p>
            <a:pPr algn="l">
              <a:lnSpc>
                <a:spcPct val="93000"/>
              </a:lnSpc>
              <a:spcAft>
                <a:spcPts val="7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Gradient</a:t>
            </a:r>
            <a:r>
              <a:rPr sz="24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= Loss-related direction</a:t>
            </a:r>
          </a:p>
          <a:p>
            <a:pPr algn="l">
              <a:lnSpc>
                <a:spcPct val="93000"/>
              </a:lnSpc>
              <a:spcAft>
                <a:spcPts val="14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Descent</a:t>
            </a:r>
            <a:r>
              <a:rPr sz="24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= reduce the mistake</a:t>
            </a:r>
          </a:p>
          <a:p>
            <a:pPr algn="l">
              <a:lnSpc>
                <a:spcPct val="93000"/>
              </a:lnSpc>
              <a:spcAft>
                <a:spcPts val="7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0" i="1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path jitters; its tendency is toward the average.</a:t>
            </a:r>
          </a:p>
        </p:txBody>
      </p:sp>
      <p:pic>
        <p:nvPicPr>
          <p:cNvPr id="70" name="Content Placeholder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4960" y="1027800"/>
            <a:ext cx="6568920" cy="435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5396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>
            <a:extLst>
              <a:ext uri="{FF2B5EF4-FFF2-40B4-BE49-F238E27FC236}">
                <a16:creationId xmlns:a16="http://schemas.microsoft.com/office/drawing/2014/main" id="{E180D9BA-D927-4DC4-8E85-9BC56FD01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446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 u="none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Estimate ↓ means Loss ↓</a:t>
            </a:r>
            <a:endParaRPr sz="4400" b="0" u="none">
              <a:solidFill>
                <a:schemeClr val="dk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6" name="PlaceHolder 2">
            <a:extLst>
              <a:ext uri="{FF2B5EF4-FFF2-40B4-BE49-F238E27FC236}">
                <a16:creationId xmlns:a16="http://schemas.microsoft.com/office/drawing/2014/main" id="{9B015905-67A0-454B-A392-B554D4FB9DC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825560"/>
            <a:ext cx="4466520" cy="4350960"/>
          </a:xfrm>
          <a:prstGeom prst="rect">
            <a:avLst/>
          </a:prstGeom>
          <a:solidFill>
            <a:srgbClr val="F4F4F4"/>
          </a:solidFill>
          <a:ln w="9525">
            <a:solidFill>
              <a:srgbClr val="E7E6E6"/>
            </a:solidFill>
            <a:prstDash val="solid"/>
          </a:ln>
        </p:spPr>
        <p:txBody>
          <a:bodyPr lIns="171450" tIns="171450" rIns="171450" bIns="133350" anchor="t">
            <a:noAutofit/>
          </a:bodyPr>
          <a:lstStyle/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Second data set: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[62, 70, 78, 82, 90, 98]</a:t>
            </a:r>
          </a:p>
          <a:p>
            <a:pPr algn="l">
              <a:lnSpc>
                <a:spcPct val="93000"/>
              </a:lnSpc>
              <a:spcAft>
                <a:spcPts val="12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Average = 80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mean motion of SGD is:</a:t>
            </a:r>
          </a:p>
          <a:p>
            <a:pPr algn="l">
              <a:lnSpc>
                <a:spcPct val="93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x[t+1] = x[t] − 0.25(x[t] − 80)</a:t>
            </a:r>
          </a:p>
          <a:p>
            <a:pPr algn="l">
              <a:lnSpc>
                <a:spcPct val="93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Loss:  L[t] = ½(x[t] − 80)²</a:t>
            </a:r>
          </a:p>
          <a:p>
            <a:pPr algn="l">
              <a:lnSpc>
                <a:spcPct val="93000"/>
              </a:lnSpc>
              <a:spcAft>
                <a:spcPts val="7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Start: x[0] = 140</a:t>
            </a:r>
          </a:p>
        </p:txBody>
      </p:sp>
      <p:pic>
        <p:nvPicPr>
          <p:cNvPr id="70" name="Content Placeholder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4960" y="1027800"/>
            <a:ext cx="6568920" cy="435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4858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>
            <a:extLst>
              <a:ext uri="{FF2B5EF4-FFF2-40B4-BE49-F238E27FC236}">
                <a16:creationId xmlns:a16="http://schemas.microsoft.com/office/drawing/2014/main" id="{E180D9BA-D927-4DC4-8E85-9BC56FD01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446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 u="none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Estimate ↑ while Loss ↓</a:t>
            </a:r>
            <a:endParaRPr sz="4400" b="0" u="none">
              <a:solidFill>
                <a:schemeClr val="dk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6" name="PlaceHolder 2">
            <a:extLst>
              <a:ext uri="{FF2B5EF4-FFF2-40B4-BE49-F238E27FC236}">
                <a16:creationId xmlns:a16="http://schemas.microsoft.com/office/drawing/2014/main" id="{9B015905-67A0-454B-A392-B554D4FB9DC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825560"/>
            <a:ext cx="4466520" cy="4350960"/>
          </a:xfrm>
          <a:prstGeom prst="rect">
            <a:avLst/>
          </a:prstGeom>
          <a:solidFill>
            <a:srgbClr val="F4F4F4"/>
          </a:solidFill>
          <a:ln w="9525">
            <a:solidFill>
              <a:srgbClr val="E7E6E6"/>
            </a:solidFill>
            <a:prstDash val="solid"/>
          </a:ln>
        </p:spPr>
        <p:txBody>
          <a:bodyPr lIns="171450" tIns="171450" rIns="171450" bIns="133350" anchor="t">
            <a:noAutofit/>
          </a:bodyPr>
          <a:lstStyle/>
          <a:p>
            <a:pPr algn="l">
              <a:lnSpc>
                <a:spcPct val="93000"/>
              </a:lnSpc>
              <a:spcAft>
                <a:spcPts val="8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Same data. Same γ = 25%.</a:t>
            </a:r>
          </a:p>
          <a:p>
            <a:pPr algn="l">
              <a:lnSpc>
                <a:spcPct val="93000"/>
              </a:lnSpc>
              <a:spcAft>
                <a:spcPts val="3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Only the initial condition changes:</a:t>
            </a:r>
          </a:p>
          <a:p>
            <a:pPr algn="l">
              <a:lnSpc>
                <a:spcPct val="93000"/>
              </a:lnSpc>
              <a:spcAft>
                <a:spcPts val="14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x[0] = −100</a:t>
            </a:r>
          </a:p>
          <a:p>
            <a:pPr algn="l">
              <a:lnSpc>
                <a:spcPct val="93000"/>
              </a:lnSpc>
              <a:spcAft>
                <a:spcPts val="8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estimate rises toward 80.</a:t>
            </a:r>
          </a:p>
          <a:p>
            <a:pPr algn="l">
              <a:lnSpc>
                <a:spcPct val="93000"/>
              </a:lnSpc>
              <a:spcAft>
                <a:spcPts val="8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discrepancy shrinks.</a:t>
            </a:r>
          </a:p>
          <a:p>
            <a:pPr algn="l">
              <a:lnSpc>
                <a:spcPct val="93000"/>
              </a:lnSpc>
              <a:spcAft>
                <a:spcPts val="14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So ½ discrepancy² falls toward 0.</a:t>
            </a:r>
          </a:p>
          <a:p>
            <a:pPr algn="l">
              <a:lnSpc>
                <a:spcPct val="93000"/>
              </a:lnSpc>
              <a:spcAft>
                <a:spcPts val="7"/>
              </a:spcAft>
              <a:buNone/>
              <a:defRPr sz="2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0" i="1">
                <a:solidFill>
                  <a:srgbClr val="000000"/>
                </a:solidFill>
                <a:latin typeface="Aptos"/>
                <a:ea typeface="Aptos"/>
                <a:cs typeface="Aptos"/>
              </a:rPr>
              <a:t>Direction changes; learning does not.</a:t>
            </a:r>
          </a:p>
        </p:txBody>
      </p:sp>
      <p:pic>
        <p:nvPicPr>
          <p:cNvPr id="70" name="Content Placeholder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4960" y="1027800"/>
            <a:ext cx="6568920" cy="435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3028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Content Placeholder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29440" y="0"/>
            <a:ext cx="10353240" cy="6857640"/>
          </a:xfrm>
          <a:prstGeom prst="rect">
            <a:avLst/>
          </a:prstGeom>
          <a:ln w="0">
            <a:noFill/>
          </a:ln>
        </p:spPr>
      </p:pic>
      <p:sp>
        <p:nvSpPr>
          <p:cNvPr id="64" name="TextBox 3">
            <a:extLst>
              <a:ext uri="{FF2B5EF4-FFF2-40B4-BE49-F238E27FC236}">
                <a16:creationId xmlns:a16="http://schemas.microsoft.com/office/drawing/2014/main" id="{61CB71A0-3C85-42AF-AA0D-13B85ADF0201}"/>
              </a:ext>
            </a:extLst>
          </p:cNvPr>
          <p:cNvSpPr>
            <a:spLocks noGrp="1"/>
          </p:cNvSpPr>
          <p:nvPr/>
        </p:nvSpPr>
        <p:spPr>
          <a:xfrm>
            <a:off x="3614400" y="1892520"/>
            <a:ext cx="1770120" cy="132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2000" b="0" u="none">
                <a:solidFill>
                  <a:srgbClr val="FF0000"/>
                </a:solidFill>
                <a:latin typeface="Aptos"/>
                <a:ea typeface="Aptos"/>
                <a:cs typeface="Aptos"/>
              </a:rPr>
              <a:t>IC = 130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defTabSz="914400">
              <a:lnSpc>
                <a:spcPct val="100000"/>
              </a:lnSpc>
              <a:buNone/>
            </a:pPr>
            <a:r>
              <a:rPr sz="2000" b="0" u="none">
                <a:solidFill>
                  <a:srgbClr val="00B050"/>
                </a:solidFill>
                <a:latin typeface="Aptos"/>
                <a:ea typeface="Aptos"/>
                <a:cs typeface="Aptos"/>
              </a:rPr>
              <a:t>IC = 80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defTabSz="914400">
              <a:lnSpc>
                <a:spcPct val="100000"/>
              </a:lnSpc>
              <a:buNone/>
            </a:pPr>
            <a:r>
              <a:rPr sz="2000" b="0" u="none">
                <a:solidFill>
                  <a:srgbClr val="0070C0"/>
                </a:solidFill>
                <a:latin typeface="Aptos"/>
                <a:ea typeface="Aptos"/>
                <a:cs typeface="Aptos"/>
              </a:rPr>
              <a:t>IC = 10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defTabSz="914400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124414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>
            <a:extLst>
              <a:ext uri="{FF2B5EF4-FFF2-40B4-BE49-F238E27FC236}">
                <a16:creationId xmlns:a16="http://schemas.microsoft.com/office/drawing/2014/main" id="{E180D9BA-D927-4DC4-8E85-9BC56FD01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446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Fundamental Learning Tradeoff </a:t>
            </a:r>
          </a:p>
        </p:txBody>
      </p:sp>
      <p:sp>
        <p:nvSpPr>
          <p:cNvPr id="66" name="PlaceHolder 2">
            <a:extLst>
              <a:ext uri="{FF2B5EF4-FFF2-40B4-BE49-F238E27FC236}">
                <a16:creationId xmlns:a16="http://schemas.microsoft.com/office/drawing/2014/main" id="{9B015905-67A0-454B-A392-B554D4FB9DC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825560"/>
            <a:ext cx="44665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𝛾 ↑ Speed ↑ Accuracy ↓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𝛾 ↓ Speed ↓ Accuracy ↑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☹️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Thousands of people for generations make their living by finding better way to </a:t>
            </a:r>
            <a:r>
              <a:rPr sz="2800" b="0" i="1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optimize</a:t>
            </a:r>
            <a:r>
              <a:rPr sz="2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 so that 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Speed ↑ 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Accuracy ↑</a:t>
            </a: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sz="28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sz="28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70" name="Content Placeholder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4960" y="1027800"/>
            <a:ext cx="6568920" cy="435096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535332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1428</TotalTime>
  <Words>1988</Words>
  <Application>Microsoft Macintosh PowerPoint</Application>
  <PresentationFormat>Widescreen</PresentationFormat>
  <Paragraphs>266</Paragraphs>
  <Slides>31</Slides>
  <Notes>20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Aptos</vt:lpstr>
      <vt:lpstr>Aptos Display</vt:lpstr>
      <vt:lpstr>Arial</vt:lpstr>
      <vt:lpstr>Times New Roman</vt:lpstr>
      <vt:lpstr>Office Theme</vt:lpstr>
      <vt:lpstr>Ling 285 Human Language and Technology Lecture 3  Dynamical Systems 1 </vt:lpstr>
      <vt:lpstr>Today</vt:lpstr>
      <vt:lpstr>DS: 1) Elements, 2) Relations, 3) Goal</vt:lpstr>
      <vt:lpstr>DS: 1) Elements, 2) Relations, 3) Goal</vt:lpstr>
      <vt:lpstr>DS: 1) Elements, 2) Relations, 3) Goal</vt:lpstr>
      <vt:lpstr>Some Dynamical Systems in you</vt:lpstr>
      <vt:lpstr>PowerPoint Presentation</vt:lpstr>
      <vt:lpstr>What is AI?</vt:lpstr>
      <vt:lpstr>GPT</vt:lpstr>
      <vt:lpstr>Where do W’s (knowledge) come from????</vt:lpstr>
      <vt:lpstr>2 Tricks to AI Learning</vt:lpstr>
      <vt:lpstr>What’s the big deal? Averaging is so easy</vt:lpstr>
      <vt:lpstr>SGD starts with a wild guess</vt:lpstr>
      <vt:lpstr>One observation creates error</vt:lpstr>
      <vt:lpstr>Move 25% of the error</vt:lpstr>
      <vt:lpstr>Repeat the correction</vt:lpstr>
      <vt:lpstr>Repeat the correction</vt:lpstr>
      <vt:lpstr>Repeat the correction</vt:lpstr>
      <vt:lpstr>A high datum pulls x upward</vt:lpstr>
      <vt:lpstr>Repeat the correction</vt:lpstr>
      <vt:lpstr>Repeat the correction</vt:lpstr>
      <vt:lpstr>Repeat the correction</vt:lpstr>
      <vt:lpstr>A high datum pulls x upward</vt:lpstr>
      <vt:lpstr>Repeat the correction</vt:lpstr>
      <vt:lpstr>Repeat the correction</vt:lpstr>
      <vt:lpstr>Repeat the correction</vt:lpstr>
      <vt:lpstr>That is SGD</vt:lpstr>
      <vt:lpstr>Estimate ↓ means Loss ↓</vt:lpstr>
      <vt:lpstr>Estimate ↑ while Loss ↓</vt:lpstr>
      <vt:lpstr>PowerPoint Presentation</vt:lpstr>
      <vt:lpstr>Fundamental Learning Tradeoff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Khalil Iskarous</dc:creator>
  <cp:lastModifiedBy>Khalil Iskarous</cp:lastModifiedBy>
  <cp:revision>54</cp:revision>
  <dcterms:created xsi:type="dcterms:W3CDTF">2026-08-23T15:08:49Z</dcterms:created>
  <dcterms:modified xsi:type="dcterms:W3CDTF">2026-09-01T16:10:16Z</dcterms:modified>
</cp:coreProperties>
</file>