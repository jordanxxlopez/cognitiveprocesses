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425" r:id="rId3"/>
    <p:sldId id="257" r:id="rId4"/>
    <p:sldId id="258" r:id="rId5"/>
    <p:sldId id="259" r:id="rId6"/>
    <p:sldId id="260" r:id="rId7"/>
    <p:sldId id="261" r:id="rId8"/>
    <p:sldId id="432" r:id="rId9"/>
    <p:sldId id="424" r:id="rId10"/>
    <p:sldId id="427" r:id="rId11"/>
    <p:sldId id="423" r:id="rId12"/>
    <p:sldId id="263" r:id="rId13"/>
    <p:sldId id="422" r:id="rId14"/>
    <p:sldId id="264" r:id="rId15"/>
    <p:sldId id="428" r:id="rId16"/>
    <p:sldId id="392" r:id="rId17"/>
    <p:sldId id="435" r:id="rId18"/>
    <p:sldId id="434" r:id="rId19"/>
    <p:sldId id="429" r:id="rId20"/>
    <p:sldId id="430" r:id="rId21"/>
    <p:sldId id="431" r:id="rId22"/>
    <p:sldId id="433" r:id="rId23"/>
    <p:sldId id="436" r:id="rId24"/>
    <p:sldId id="43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A79E"/>
    <a:srgbClr val="F7FFF9"/>
    <a:srgbClr val="DDFFEE"/>
    <a:srgbClr val="EBEBEB"/>
    <a:srgbClr val="B8B618"/>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083"/>
    <p:restoredTop sz="94744"/>
  </p:normalViewPr>
  <p:slideViewPr>
    <p:cSldViewPr snapToGrid="0">
      <p:cViewPr varScale="1">
        <p:scale>
          <a:sx n="65" d="100"/>
          <a:sy n="65" d="100"/>
        </p:scale>
        <p:origin x="216"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transverse panel appears automatically after 3 seconds.</a:t>
            </a: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r>
              <a:t>MODEL: Single longitudinal spring has total stiffness K. Each of the two pre-tensioned transverse segments has small-displacement restoring coefficient K/2, giving equal total stiffness and matching 0.5 Hz motion. No damping. Transverse amplitudes are visually enlarged; this is the linearized idealization, not a finite-amplitude zero-tension spring model.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r>
              <a:t>All three rows run simultaneously. Reference: m, K, f=0.5 Hz. Larger mass: 4m, K, f=0.25 Hz. Stiffer system: m, 4K, f=1 Hz. f=(1/2pi)sqrt(K/m). K is total stiffness in the displayed motion direction. On the transverse side K comes from pre-tension and geometry; increasing axial spring constant alone at unchanged tension would not necessarily raise transverse frequency. Thick springs schematically indicate larger effective restoring stiffness. Blocks on a frictionless table, undamped motion.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Both systems now have FIXED ENDS and three equal coupling elements. In the longitudinal chain, K=k[[2,-1],[-1,2]]. For the transverse chain each pre-tensioned segment has matching linearized transverse coupling T/l=k. Mode 1 is (1,1), frequency 0.4 Hz. Mode 2 is (1,-1), frequency sqrt(3)*0.4 Hz. Bottom row is the exact sum of the two cosines, each with reduced display amplitude to avoid overlap. Colors identify masses. There is no single normal-mode frequency for the mixed row.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Both chains have three equal masses, four equal coupling elements, and FIXED ENDS. Eigenvectors v_j(i)=sin(ij*pi/4). Frequencies proportional to 2sin(j*pi/8), j=1,2,3. Lowest frequency is 0.32 Hz; ratios 1,1.847759,2.414214. Mode 1: (1/sqrt(2),1,1/sqrt(2)); Mode 2: (1,0,-1); Mode 3: (1/sqrt(2),-1,1/sqrt(2)). Bottom row sums three cosine modes with equal coefficients. Middle mass is motionless only in mode 2. Transverse systems use the ideal small-displacement pre-tensioned model, visually enlarged.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SLIDE 5: TRANSVERSE NORMAL-MODE ATLAS. Row N has N equal masses, N+1 identical pre-tensioned coupling elements, and two fixed endpoints. Column j shows normal mode j, for j=1,...,N. The modal vector is v_i=sin(ij*pi/(N+1)); it is scaled to the same maximum displayed displacement. f_j=1.1*sin(j*pi/(2(N+1))) Hz, so mass and effective segment coupling remain equal across rows and columns. This is the linearized transverse model. Discrete-chain frequencies are generally NOT integer multiples of the lowest frequency. All 21 systems run automatically and simultaneously. The empty upper-right triangle is intentional. Colors identify mode number, not mass identity. Amplitudes are enlarged for visibility.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8844-03B2-FBFD-D412-278F843FF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02DA6-3619-59FE-0F85-C12CB8695F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CF25FB-BD66-EC58-26BF-215E24F4E603}"/>
              </a:ext>
            </a:extLst>
          </p:cNvPr>
          <p:cNvSpPr>
            <a:spLocks noGrp="1"/>
          </p:cNvSpPr>
          <p:nvPr>
            <p:ph type="body" sz="quarter" idx="3"/>
          </p:nvPr>
        </p:nvSpPr>
        <p:spPr/>
        <p:txBody>
          <a:bodyPr/>
          <a:lstStyle/>
          <a:p>
            <a:r>
              <a:t>FIXED–FIXED STRING: Physical mode frequencies 100, 200, 300, 400, 500 Hz. Display frequencies are 0.4, 0.8, 1.2, 1.6, 2.0 Hz, uniformly slowed by a factor of 250. The pickup remains x/L=0.17. Modal coefficients are C_j=0.095/abs(sin(j*pi*0.17)), so the five measured displacement peaks have exactly equal amplitude 0.095. The combined field is the exact sum of the five individual modes. These are consecutive harmonics, including both odd and even orders.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p:txBody>
      </p:sp>
      <p:sp>
        <p:nvSpPr>
          <p:cNvPr id="4" name="Slide Number Placeholder 3">
            <a:extLst>
              <a:ext uri="{FF2B5EF4-FFF2-40B4-BE49-F238E27FC236}">
                <a16:creationId xmlns:a16="http://schemas.microsoft.com/office/drawing/2014/main" id="{59F2AEFF-A4F2-8798-E643-499FAA2F6C50}"/>
              </a:ext>
            </a:extLst>
          </p:cNvPr>
          <p:cNvSpPr>
            <a:spLocks noGrp="1"/>
          </p:cNvSpPr>
          <p:nvPr>
            <p:ph type="sldNum" sz="quarter" idx="5"/>
          </p:nvPr>
        </p:nvSpPr>
        <p:spPr/>
      </p:sp>
    </p:spTree>
    <p:extLst>
      <p:ext uri="{BB962C8B-B14F-4D97-AF65-F5344CB8AC3E}">
        <p14:creationId xmlns:p14="http://schemas.microsoft.com/office/powerpoint/2010/main" val="643053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9A12A-54F5-7207-3523-B81145E4A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DA9DF-F9A6-BED2-B4B3-D5F4237BB91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1BB548D-2903-A290-5E65-10789B8410C2}"/>
              </a:ext>
            </a:extLst>
          </p:cNvPr>
          <p:cNvSpPr>
            <a:spLocks noGrp="1"/>
          </p:cNvSpPr>
          <p:nvPr>
            <p:ph type="body" sz="quarter" idx="3"/>
          </p:nvPr>
        </p:nvSpPr>
        <p:spPr/>
        <p:txBody>
          <a:bodyPr/>
          <a:lstStyle/>
          <a:p>
            <a:r>
              <a:t>FIXED–FIXED STRING: Physical mode frequencies 100, 200, 300, 400, 500 Hz. Display frequencies are 0.4, 0.8, 1.2, 1.6, 2.0 Hz, uniformly slowed by a factor of 250. The pickup remains x/L=0.17. Modal coefficients are C_j=0.095/abs(sin(j*pi*0.17)), so the five measured displacement peaks have exactly equal amplitude 0.095. The combined field is the exact sum of the five individual modes. These are consecutive harmonics, including both odd and even orders.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p:txBody>
      </p:sp>
      <p:sp>
        <p:nvSpPr>
          <p:cNvPr id="4" name="Slide Number Placeholder 3">
            <a:extLst>
              <a:ext uri="{FF2B5EF4-FFF2-40B4-BE49-F238E27FC236}">
                <a16:creationId xmlns:a16="http://schemas.microsoft.com/office/drawing/2014/main" id="{DB56FB54-9CCC-6235-EE76-33FBC79EF5E9}"/>
              </a:ext>
            </a:extLst>
          </p:cNvPr>
          <p:cNvSpPr>
            <a:spLocks noGrp="1"/>
          </p:cNvSpPr>
          <p:nvPr>
            <p:ph type="sldNum" sz="quarter" idx="5"/>
          </p:nvPr>
        </p:nvSpPr>
        <p:spPr/>
      </p:sp>
    </p:spTree>
    <p:extLst>
      <p:ext uri="{BB962C8B-B14F-4D97-AF65-F5344CB8AC3E}">
        <p14:creationId xmlns:p14="http://schemas.microsoft.com/office/powerpoint/2010/main" val="724376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MEMBRANE: Illustrative harmonic frequencies 100, 200, 300, 400, 500 Hz are intentionally assigned for teaching, as requested; they are not the natural eigenfrequencies of this rectangular membrane. The animation and mode labels use those same frequencies, uniformly slowed by 250. Modal coefficients are 0.55/abs(phi_mn(pickup)), giving five equal-height measured spectral peaks at the marked point. The aspect ratio Lx/Ly=1.15; shapes are (1,1),(2,1),(1,2),(2,2),(3,1), with phi_mn=sin(m*pi*x/Lx)sin(n*pi*y/Ly). All edges are fixed. The pickup is (x/Lx,y/Ly)=(0.23,0.31). Combined surface is vertically reduced to fit, at 0.057/0.24 of the magnification used in individual panels. The combined field is the exact sum of the five illustrated motions.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FIXED–FREE STRING: s=0 at bottom and s=L at top. phi_j(s)=sin((2j-1)*pi*s/(2L)), j=1..4. The displacement vanishes at the bottom; the spatial derivative vanishes at the top, which is a displacement antinode. Frequencies 100,300,500,700 Hz are shown at 0.4,1.2,2.0,2.8 Hz (1/250 speed). Equal modal coefficients give equal spectral peaks for the four-mode mixture measured at the free end. The four panels show the modes separately. The ideal free transverse boundary can be realized by a frictionless sliding endpoint while maintaining tension. These are separately tuned examples: for identical length and wave speed, changing a fixed–fixed string to fixed–free halves its fundamental; setting both examples to 100 Hz implies retuning length or wave speed.</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10/13/26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10/13/26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10/13/26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10/13/26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10/13/26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10/13/26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10/13/26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8.png"/><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0.png"/><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1.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9.mp4"/><Relationship Id="rId1" Type="http://schemas.microsoft.com/office/2007/relationships/media" Target="../media/media9.mp4"/><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9.mp4"/><Relationship Id="rId1" Type="http://schemas.microsoft.com/office/2007/relationships/media" Target="../media/media9.mp4"/><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0.mp4"/><Relationship Id="rId1" Type="http://schemas.microsoft.com/office/2007/relationships/media" Target="../media/media10.mp4"/><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1.mp4"/><Relationship Id="rId1" Type="http://schemas.microsoft.com/office/2007/relationships/media" Target="../media/media11.mp4"/><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2.mp4"/><Relationship Id="rId1" Type="http://schemas.microsoft.com/office/2007/relationships/media" Target="../media/media12.mp4"/><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3.mp4"/><Relationship Id="rId1" Type="http://schemas.microsoft.com/office/2007/relationships/media" Target="../media/media13.mp4"/><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12</a:t>
            </a:r>
            <a:br>
              <a:rPr lang="en-US" sz="4400"/>
            </a:br>
            <a:br>
              <a:rPr lang="en-US" sz="4400"/>
            </a:br>
            <a:r>
              <a:rPr lang="en-US" sz="4400"/>
              <a:t>Masses and Springs</a:t>
            </a:r>
            <a:br>
              <a:rPr lang="en-US" sz="4400"/>
            </a:br>
            <a:r>
              <a:rPr lang="en-US" sz="4400"/>
              <a:t>in Speech Production</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3F190-E64D-31CD-3446-5631B6A28FCA}"/>
              </a:ext>
            </a:extLst>
          </p:cNvPr>
          <p:cNvSpPr>
            <a:spLocks noGrp="1"/>
          </p:cNvSpPr>
          <p:nvPr>
            <p:ph idx="1"/>
          </p:nvPr>
        </p:nvSpPr>
        <p:spPr>
          <a:xfrm>
            <a:off x="679174" y="6061420"/>
            <a:ext cx="9631017" cy="796580"/>
          </a:xfrm>
        </p:spPr>
        <p:txBody>
          <a:bodyPr>
            <a:normAutofit lnSpcReduction="10000"/>
          </a:bodyPr>
          <a:lstStyle/>
          <a:p>
            <a:r>
              <a:rPr lang="en-US"/>
              <a:t>https://www.nobelprize.org/prizes/economic-sciences/2026/popular-information/</a:t>
            </a:r>
          </a:p>
        </p:txBody>
      </p:sp>
      <p:pic>
        <p:nvPicPr>
          <p:cNvPr id="5" name="Picture 4">
            <a:extLst>
              <a:ext uri="{FF2B5EF4-FFF2-40B4-BE49-F238E27FC236}">
                <a16:creationId xmlns:a16="http://schemas.microsoft.com/office/drawing/2014/main" id="{130F1898-F6F8-BFD7-D257-DF19712E37E7}"/>
              </a:ext>
            </a:extLst>
          </p:cNvPr>
          <p:cNvPicPr>
            <a:picLocks noChangeAspect="1"/>
          </p:cNvPicPr>
          <p:nvPr/>
        </p:nvPicPr>
        <p:blipFill>
          <a:blip r:embed="rId2"/>
          <a:stretch>
            <a:fillRect/>
          </a:stretch>
        </p:blipFill>
        <p:spPr>
          <a:xfrm>
            <a:off x="0" y="0"/>
            <a:ext cx="5267739" cy="5930863"/>
          </a:xfrm>
          <a:prstGeom prst="rect">
            <a:avLst/>
          </a:prstGeom>
        </p:spPr>
      </p:pic>
      <p:pic>
        <p:nvPicPr>
          <p:cNvPr id="7" name="Picture 6">
            <a:extLst>
              <a:ext uri="{FF2B5EF4-FFF2-40B4-BE49-F238E27FC236}">
                <a16:creationId xmlns:a16="http://schemas.microsoft.com/office/drawing/2014/main" id="{0C9CB213-9760-E1D1-55A9-2A5C2BE16E3C}"/>
              </a:ext>
            </a:extLst>
          </p:cNvPr>
          <p:cNvPicPr>
            <a:picLocks noChangeAspect="1"/>
          </p:cNvPicPr>
          <p:nvPr/>
        </p:nvPicPr>
        <p:blipFill>
          <a:blip r:embed="rId3"/>
          <a:stretch>
            <a:fillRect/>
          </a:stretch>
        </p:blipFill>
        <p:spPr>
          <a:xfrm>
            <a:off x="5679870" y="278296"/>
            <a:ext cx="6233833" cy="3916018"/>
          </a:xfrm>
          <a:prstGeom prst="rect">
            <a:avLst/>
          </a:prstGeom>
        </p:spPr>
      </p:pic>
      <p:sp>
        <p:nvSpPr>
          <p:cNvPr id="8" name="TextBox 7">
            <a:extLst>
              <a:ext uri="{FF2B5EF4-FFF2-40B4-BE49-F238E27FC236}">
                <a16:creationId xmlns:a16="http://schemas.microsoft.com/office/drawing/2014/main" id="{524F5A16-98C0-B313-F165-27BEBB1BD107}"/>
              </a:ext>
            </a:extLst>
          </p:cNvPr>
          <p:cNvSpPr txBox="1"/>
          <p:nvPr/>
        </p:nvSpPr>
        <p:spPr>
          <a:xfrm>
            <a:off x="6289516" y="4435369"/>
            <a:ext cx="4657558" cy="1384995"/>
          </a:xfrm>
          <a:prstGeom prst="rect">
            <a:avLst/>
          </a:prstGeom>
          <a:noFill/>
        </p:spPr>
        <p:txBody>
          <a:bodyPr wrap="none" rtlCol="0">
            <a:spAutoFit/>
          </a:bodyPr>
          <a:lstStyle/>
          <a:p>
            <a:pPr algn="ctr"/>
            <a:r>
              <a:rPr lang="en-US" sz="2800"/>
              <a:t>Woodford’s Theory:</a:t>
            </a:r>
          </a:p>
          <a:p>
            <a:pPr algn="ctr"/>
            <a:r>
              <a:rPr lang="en-US" sz="2800" b="1"/>
              <a:t>Dynamic Stochastic </a:t>
            </a:r>
          </a:p>
          <a:p>
            <a:pPr algn="ctr"/>
            <a:r>
              <a:rPr lang="en-US" sz="2800" b="1"/>
              <a:t>General Equilibrium (DSGE)</a:t>
            </a:r>
          </a:p>
        </p:txBody>
      </p:sp>
    </p:spTree>
    <p:extLst>
      <p:ext uri="{BB962C8B-B14F-4D97-AF65-F5344CB8AC3E}">
        <p14:creationId xmlns:p14="http://schemas.microsoft.com/office/powerpoint/2010/main" val="3010691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4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0F170-DF03-4B0A-0BCF-312CA4321303}"/>
            </a:ext>
          </a:extLst>
        </p:cNvPr>
        <p:cNvGrpSpPr/>
        <p:nvPr/>
      </p:nvGrpSpPr>
      <p:grpSpPr>
        <a:xfrm>
          <a:off x="0" y="0"/>
          <a:ext cx="0" cy="0"/>
          <a:chOff x="0" y="0"/>
          <a:chExt cx="0" cy="0"/>
        </a:xfrm>
      </p:grpSpPr>
      <p:pic>
        <p:nvPicPr>
          <p:cNvPr id="2" name="Slide 6 — embedded looping animation">
            <a:hlinkClick r:id="" action="ppaction://media"/>
            <a:extLst>
              <a:ext uri="{FF2B5EF4-FFF2-40B4-BE49-F238E27FC236}">
                <a16:creationId xmlns:a16="http://schemas.microsoft.com/office/drawing/2014/main" id="{02BF77AF-4B42-A8A4-CA54-066DC271ED7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extLst>
      <p:ext uri="{BB962C8B-B14F-4D97-AF65-F5344CB8AC3E}">
        <p14:creationId xmlns:p14="http://schemas.microsoft.com/office/powerpoint/2010/main" val="57379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A47A-3A25-E21F-1D60-C003FB827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7649F-F3C8-1D1D-3B6B-30BEBBDCEFF5}"/>
              </a:ext>
            </a:extLst>
          </p:cNvPr>
          <p:cNvSpPr>
            <a:spLocks noGrp="1"/>
          </p:cNvSpPr>
          <p:nvPr>
            <p:ph type="title"/>
          </p:nvPr>
        </p:nvSpPr>
        <p:spPr>
          <a:xfrm>
            <a:off x="518160" y="353758"/>
            <a:ext cx="10515600" cy="1325563"/>
          </a:xfrm>
        </p:spPr>
        <p:txBody>
          <a:bodyPr/>
          <a:lstStyle/>
          <a:p>
            <a:r>
              <a:rPr lang="en-US"/>
              <a:t>Principles of Mass-Spring Systems</a:t>
            </a:r>
          </a:p>
        </p:txBody>
      </p:sp>
      <p:sp>
        <p:nvSpPr>
          <p:cNvPr id="3" name="Content Placeholder 2">
            <a:extLst>
              <a:ext uri="{FF2B5EF4-FFF2-40B4-BE49-F238E27FC236}">
                <a16:creationId xmlns:a16="http://schemas.microsoft.com/office/drawing/2014/main" id="{EFDD707F-E533-41B8-E38A-CF9B589FF351}"/>
              </a:ext>
            </a:extLst>
          </p:cNvPr>
          <p:cNvSpPr>
            <a:spLocks noGrp="1"/>
          </p:cNvSpPr>
          <p:nvPr>
            <p:ph idx="1"/>
          </p:nvPr>
        </p:nvSpPr>
        <p:spPr>
          <a:xfrm>
            <a:off x="838200" y="1825625"/>
            <a:ext cx="10195560" cy="4351338"/>
          </a:xfrm>
        </p:spPr>
        <p:txBody>
          <a:bodyPr>
            <a:normAutofit fontScale="62500" lnSpcReduction="20000"/>
          </a:bodyPr>
          <a:lstStyle/>
          <a:p>
            <a:pPr marL="0" indent="0">
              <a:buNone/>
            </a:pPr>
            <a:endParaRPr lang="en-US" sz="3400"/>
          </a:p>
          <a:p>
            <a:pPr marL="514350" indent="-514350">
              <a:buFont typeface="+mj-lt"/>
              <a:buAutoNum type="arabicPeriod"/>
            </a:pPr>
            <a:endParaRPr lang="en-US" sz="3400"/>
          </a:p>
          <a:p>
            <a:pPr marL="514350" indent="-514350">
              <a:buFont typeface="+mj-lt"/>
              <a:buAutoNum type="arabicPeriod"/>
            </a:pPr>
            <a:r>
              <a:rPr lang="en-US" sz="3400"/>
              <a:t>Mass ↑ Frequency↓, Stiffness ↑ Frequency ↓</a:t>
            </a:r>
          </a:p>
          <a:p>
            <a:pPr marL="514350" indent="-514350">
              <a:buFont typeface="+mj-lt"/>
              <a:buAutoNum type="arabicPeriod"/>
            </a:pPr>
            <a:r>
              <a:rPr lang="en-US" sz="3400"/>
              <a:t>An n-mass system has n modes of vibration, each with a higher frequency</a:t>
            </a:r>
          </a:p>
          <a:p>
            <a:pPr marL="514350" indent="-514350">
              <a:buFont typeface="+mj-lt"/>
              <a:buAutoNum type="arabicPeriod"/>
            </a:pPr>
            <a:r>
              <a:rPr lang="en-US" sz="3400"/>
              <a:t>An m’s increase lowers frequency proportionally to how much the mass moves, which depends on where it is! </a:t>
            </a:r>
          </a:p>
          <a:p>
            <a:pPr marL="514350" indent="-514350">
              <a:buFont typeface="+mj-lt"/>
              <a:buAutoNum type="arabicPeriod"/>
            </a:pPr>
            <a:r>
              <a:rPr lang="en-US" sz="3400"/>
              <a:t>Where there’s maximal movement, there’s no stretching, An where there’s maximal stretching, there’s no movement!</a:t>
            </a:r>
          </a:p>
          <a:p>
            <a:pPr marL="514350" indent="-514350">
              <a:buFont typeface="+mj-lt"/>
              <a:buAutoNum type="arabicPeriod"/>
            </a:pPr>
            <a:r>
              <a:rPr lang="en-US" sz="3400"/>
              <a:t>A k’s increase raises frequency proportionally to how much the spring stretches/compresses, which depends on where it is!</a:t>
            </a:r>
          </a:p>
          <a:p>
            <a:pPr marL="514350" indent="-514350">
              <a:buFont typeface="+mj-lt"/>
              <a:buAutoNum type="arabicPeriod"/>
            </a:pPr>
            <a:r>
              <a:rPr lang="en-US" sz="3400"/>
              <a:t>In a Fixed-Fixed System, the harmonics are multiples of the base frequency, because the base mode fits n-times into each successive mode</a:t>
            </a:r>
          </a:p>
          <a:p>
            <a:pPr marL="514350" indent="-514350">
              <a:buFont typeface="+mj-lt"/>
              <a:buAutoNum type="arabicPeriod"/>
            </a:pPr>
            <a:r>
              <a:rPr lang="en-US" sz="3400">
                <a:solidFill>
                  <a:schemeClr val="bg1">
                    <a:lumMod val="75000"/>
                  </a:schemeClr>
                </a:solidFill>
              </a:rPr>
              <a:t>In a Fixed-Free System, the harmonics are odd multiples of the base frequency, because the base mode fits an odd n-times into each successive mode</a:t>
            </a:r>
          </a:p>
          <a:p>
            <a:pPr marL="514350" indent="-514350">
              <a:buFont typeface="+mj-lt"/>
              <a:buAutoNum type="arabicPeriod"/>
            </a:pPr>
            <a:endParaRPr lang="en-US" sz="3400"/>
          </a:p>
        </p:txBody>
      </p:sp>
    </p:spTree>
    <p:extLst>
      <p:ext uri="{BB962C8B-B14F-4D97-AF65-F5344CB8AC3E}">
        <p14:creationId xmlns:p14="http://schemas.microsoft.com/office/powerpoint/2010/main" val="404054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26503-600C-6130-2BBC-D73727D84DBA}"/>
            </a:ext>
          </a:extLst>
        </p:cNvPr>
        <p:cNvGrpSpPr/>
        <p:nvPr/>
      </p:nvGrpSpPr>
      <p:grpSpPr>
        <a:xfrm>
          <a:off x="0" y="0"/>
          <a:ext cx="0" cy="0"/>
          <a:chOff x="0" y="0"/>
          <a:chExt cx="0" cy="0"/>
        </a:xfrm>
      </p:grpSpPr>
      <p:pic>
        <p:nvPicPr>
          <p:cNvPr id="2" name="Slide 6 — embedded looping animation">
            <a:hlinkClick r:id="" action="ppaction://media"/>
            <a:extLst>
              <a:ext uri="{FF2B5EF4-FFF2-40B4-BE49-F238E27FC236}">
                <a16:creationId xmlns:a16="http://schemas.microsoft.com/office/drawing/2014/main" id="{530186D0-63B0-D003-CFB2-D0DA56ACB8E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extLst>
      <p:ext uri="{BB962C8B-B14F-4D97-AF65-F5344CB8AC3E}">
        <p14:creationId xmlns:p14="http://schemas.microsoft.com/office/powerpoint/2010/main" val="165252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7CA9A0-7B5D-B644-1471-FC012DB29817}"/>
              </a:ext>
            </a:extLst>
          </p:cNvPr>
          <p:cNvSpPr txBox="1"/>
          <p:nvPr/>
        </p:nvSpPr>
        <p:spPr>
          <a:xfrm>
            <a:off x="4785890" y="516836"/>
            <a:ext cx="2341923" cy="769441"/>
          </a:xfrm>
          <a:prstGeom prst="rect">
            <a:avLst/>
          </a:prstGeom>
          <a:noFill/>
        </p:spPr>
        <p:txBody>
          <a:bodyPr wrap="none" rtlCol="0">
            <a:spAutoFit/>
          </a:bodyPr>
          <a:lstStyle/>
          <a:p>
            <a:pPr algn="ctr"/>
            <a:r>
              <a:rPr lang="en-US" sz="4400"/>
              <a:t>Pop Quiz</a:t>
            </a:r>
          </a:p>
        </p:txBody>
      </p:sp>
      <p:pic>
        <p:nvPicPr>
          <p:cNvPr id="4" name="Picture 3">
            <a:extLst>
              <a:ext uri="{FF2B5EF4-FFF2-40B4-BE49-F238E27FC236}">
                <a16:creationId xmlns:a16="http://schemas.microsoft.com/office/drawing/2014/main" id="{30042FE4-D62E-D31C-8739-B49E722CB6B7}"/>
              </a:ext>
            </a:extLst>
          </p:cNvPr>
          <p:cNvPicPr>
            <a:picLocks noChangeAspect="1"/>
          </p:cNvPicPr>
          <p:nvPr/>
        </p:nvPicPr>
        <p:blipFill>
          <a:blip r:embed="rId2"/>
          <a:srcRect t="9127"/>
          <a:stretch>
            <a:fillRect/>
          </a:stretch>
        </p:blipFill>
        <p:spPr>
          <a:xfrm>
            <a:off x="0" y="2538234"/>
            <a:ext cx="12555926" cy="1715337"/>
          </a:xfrm>
          <a:prstGeom prst="rect">
            <a:avLst/>
          </a:prstGeom>
        </p:spPr>
      </p:pic>
      <p:sp>
        <p:nvSpPr>
          <p:cNvPr id="5" name="Rectangle 4">
            <a:extLst>
              <a:ext uri="{FF2B5EF4-FFF2-40B4-BE49-F238E27FC236}">
                <a16:creationId xmlns:a16="http://schemas.microsoft.com/office/drawing/2014/main" id="{FE39460D-B3E3-6E2C-7FE1-88B09E4C43B5}"/>
              </a:ext>
            </a:extLst>
          </p:cNvPr>
          <p:cNvSpPr/>
          <p:nvPr/>
        </p:nvSpPr>
        <p:spPr>
          <a:xfrm>
            <a:off x="4984672" y="1842872"/>
            <a:ext cx="442093" cy="3498574"/>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6CD1F70-6C5C-A179-6228-3706F28BA372}"/>
              </a:ext>
            </a:extLst>
          </p:cNvPr>
          <p:cNvSpPr txBox="1"/>
          <p:nvPr/>
        </p:nvSpPr>
        <p:spPr>
          <a:xfrm>
            <a:off x="636104" y="5341446"/>
            <a:ext cx="10815140" cy="923330"/>
          </a:xfrm>
          <a:prstGeom prst="rect">
            <a:avLst/>
          </a:prstGeom>
          <a:noFill/>
        </p:spPr>
        <p:txBody>
          <a:bodyPr wrap="none" rtlCol="0">
            <a:spAutoFit/>
          </a:bodyPr>
          <a:lstStyle/>
          <a:p>
            <a:r>
              <a:rPr lang="en-US"/>
              <a:t>Increasing the Mass lowers mode 4’s frequency, but doesn’t affect mode 5’s (why? Because Increaing mass</a:t>
            </a:r>
          </a:p>
          <a:p>
            <a:r>
              <a:rPr lang="en-US"/>
              <a:t> lowers freq  If the mass is moving!). Increasing Stiffness doesn’t affect mode 4, but increases mode 5. So an</a:t>
            </a:r>
          </a:p>
          <a:p>
            <a:r>
              <a:rPr lang="en-US"/>
              <a:t> increase in k and m there lowers Mode 4’s frequency and raises Mode 5’s frequency!</a:t>
            </a:r>
          </a:p>
        </p:txBody>
      </p:sp>
    </p:spTree>
    <p:extLst>
      <p:ext uri="{BB962C8B-B14F-4D97-AF65-F5344CB8AC3E}">
        <p14:creationId xmlns:p14="http://schemas.microsoft.com/office/powerpoint/2010/main" val="102115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3DAF-1BE4-0B3F-AE38-F119A0C15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45A8D-2331-6205-A5D0-45DA5AB49DC3}"/>
              </a:ext>
            </a:extLst>
          </p:cNvPr>
          <p:cNvSpPr>
            <a:spLocks noGrp="1"/>
          </p:cNvSpPr>
          <p:nvPr>
            <p:ph type="title"/>
          </p:nvPr>
        </p:nvSpPr>
        <p:spPr>
          <a:xfrm>
            <a:off x="518160" y="353758"/>
            <a:ext cx="10515600" cy="1325563"/>
          </a:xfrm>
        </p:spPr>
        <p:txBody>
          <a:bodyPr/>
          <a:lstStyle/>
          <a:p>
            <a:r>
              <a:rPr lang="en-US"/>
              <a:t>Theory, Prediction, and Experiment</a:t>
            </a:r>
          </a:p>
        </p:txBody>
      </p:sp>
      <p:sp>
        <p:nvSpPr>
          <p:cNvPr id="3" name="Content Placeholder 2">
            <a:extLst>
              <a:ext uri="{FF2B5EF4-FFF2-40B4-BE49-F238E27FC236}">
                <a16:creationId xmlns:a16="http://schemas.microsoft.com/office/drawing/2014/main" id="{BBAA29FD-0AD8-CCA0-D37C-08CBD5C226D9}"/>
              </a:ext>
            </a:extLst>
          </p:cNvPr>
          <p:cNvSpPr>
            <a:spLocks noGrp="1"/>
          </p:cNvSpPr>
          <p:nvPr>
            <p:ph idx="1"/>
          </p:nvPr>
        </p:nvSpPr>
        <p:spPr>
          <a:xfrm>
            <a:off x="838200" y="1825625"/>
            <a:ext cx="10195560" cy="4351338"/>
          </a:xfrm>
        </p:spPr>
        <p:txBody>
          <a:bodyPr>
            <a:normAutofit fontScale="62500" lnSpcReduction="20000"/>
          </a:bodyPr>
          <a:lstStyle/>
          <a:p>
            <a:endParaRPr lang="en-US"/>
          </a:p>
          <a:p>
            <a:endParaRPr lang="en-US" sz="3400"/>
          </a:p>
          <a:p>
            <a:endParaRPr lang="en-US" sz="3400"/>
          </a:p>
          <a:p>
            <a:r>
              <a:rPr lang="en-US" sz="3400"/>
              <a:t>The Scientific Method depends on the statement of very clear theories about how the world is like, usually in the form of differential equations.</a:t>
            </a:r>
          </a:p>
          <a:p>
            <a:r>
              <a:rPr lang="en-US" sz="3400"/>
              <a:t>We then solve these differential equations, and the result is a </a:t>
            </a:r>
            <a:r>
              <a:rPr lang="en-US" sz="3400" i="1"/>
              <a:t>prediction</a:t>
            </a:r>
            <a:r>
              <a:rPr lang="en-US" sz="3400"/>
              <a:t> of what the world is like when we actually measure it!</a:t>
            </a:r>
          </a:p>
          <a:p>
            <a:r>
              <a:rPr lang="en-US" sz="3400"/>
              <a:t>Theory: The vocal folds are a membrane, so when it vibrates, the wave of vibration will have equidistant peaks in the spectrum (which we call harmonics). </a:t>
            </a:r>
          </a:p>
          <a:p>
            <a:r>
              <a:rPr lang="en-US" sz="3400"/>
              <a:t>The differential equations are many of the type we have already seen, but slightly more complicated</a:t>
            </a:r>
          </a:p>
          <a:p>
            <a:r>
              <a:rPr lang="en-US" sz="3400"/>
              <a:t>Prediction: if I measure any of your laryngeal vibration signals, they will have a spectrum with equidistant harmonics.</a:t>
            </a:r>
          </a:p>
          <a:p>
            <a:r>
              <a:rPr lang="en-US" sz="3400"/>
              <a:t>Let’s do an experiment to find out if this is true!!!!!</a:t>
            </a:r>
          </a:p>
        </p:txBody>
      </p:sp>
    </p:spTree>
    <p:extLst>
      <p:ext uri="{BB962C8B-B14F-4D97-AF65-F5344CB8AC3E}">
        <p14:creationId xmlns:p14="http://schemas.microsoft.com/office/powerpoint/2010/main" val="405555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bas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childTnLst>
              </p:cTn>
              <p:prevCondLst>
                <p:cond evt="onPrev" delay="0">
                  <p:tgtEl>
                    <p:sldTgt/>
                  </p:tgtEl>
                </p:cond>
              </p:prevCondLst>
              <p:nextCondLst>
                <p:cond evt="onNext" delay="0">
                  <p:tgtEl>
                    <p:sldTgt/>
                  </p:tgtEl>
                </p:cond>
              </p:nextCondLst>
            </p:seq>
            <p:video>
              <p:cMediaNode vol="0" mute="1">
                <p:cTn id="6" repeatCount="indefinite" restart="always" fill="hold">
                  <p:stCondLst>
                    <p:cond delay="indefinite"/>
                  </p:stCondLst>
                </p:cTn>
                <p:tgtEl>
                  <p:spTgt spid="2"/>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33EB2-8241-5BA9-5B1A-D8F0855D1CF7}"/>
              </a:ext>
            </a:extLst>
          </p:cNvPr>
          <p:cNvSpPr>
            <a:spLocks noGrp="1"/>
          </p:cNvSpPr>
          <p:nvPr>
            <p:ph type="title"/>
          </p:nvPr>
        </p:nvSpPr>
        <p:spPr/>
        <p:txBody>
          <a:bodyPr/>
          <a:lstStyle/>
          <a:p>
            <a:pPr algn="ctr"/>
            <a:r>
              <a:rPr lang="en-US"/>
              <a:t>Vowels</a:t>
            </a:r>
          </a:p>
        </p:txBody>
      </p:sp>
      <p:pic>
        <p:nvPicPr>
          <p:cNvPr id="5" name="Picture 4">
            <a:extLst>
              <a:ext uri="{FF2B5EF4-FFF2-40B4-BE49-F238E27FC236}">
                <a16:creationId xmlns:a16="http://schemas.microsoft.com/office/drawing/2014/main" id="{3E39A2E6-C144-CC31-1F78-B2D8CBE21F5B}"/>
              </a:ext>
            </a:extLst>
          </p:cNvPr>
          <p:cNvPicPr>
            <a:picLocks noChangeAspect="1"/>
          </p:cNvPicPr>
          <p:nvPr/>
        </p:nvPicPr>
        <p:blipFill>
          <a:blip r:embed="rId2"/>
          <a:stretch>
            <a:fillRect/>
          </a:stretch>
        </p:blipFill>
        <p:spPr>
          <a:xfrm>
            <a:off x="5026767" y="2437229"/>
            <a:ext cx="2708804" cy="2408995"/>
          </a:xfrm>
          <a:prstGeom prst="rect">
            <a:avLst/>
          </a:prstGeom>
        </p:spPr>
      </p:pic>
      <p:pic>
        <p:nvPicPr>
          <p:cNvPr id="7" name="Picture 6">
            <a:extLst>
              <a:ext uri="{FF2B5EF4-FFF2-40B4-BE49-F238E27FC236}">
                <a16:creationId xmlns:a16="http://schemas.microsoft.com/office/drawing/2014/main" id="{2B1B551A-8146-D980-3568-9DF1FA8D381C}"/>
              </a:ext>
            </a:extLst>
          </p:cNvPr>
          <p:cNvPicPr>
            <a:picLocks noChangeAspect="1"/>
          </p:cNvPicPr>
          <p:nvPr/>
        </p:nvPicPr>
        <p:blipFill>
          <a:blip r:embed="rId3"/>
          <a:stretch>
            <a:fillRect/>
          </a:stretch>
        </p:blipFill>
        <p:spPr>
          <a:xfrm>
            <a:off x="1259164" y="4210594"/>
            <a:ext cx="2708804" cy="2504678"/>
          </a:xfrm>
          <a:prstGeom prst="rect">
            <a:avLst/>
          </a:prstGeom>
        </p:spPr>
      </p:pic>
      <p:pic>
        <p:nvPicPr>
          <p:cNvPr id="9" name="Picture 8">
            <a:extLst>
              <a:ext uri="{FF2B5EF4-FFF2-40B4-BE49-F238E27FC236}">
                <a16:creationId xmlns:a16="http://schemas.microsoft.com/office/drawing/2014/main" id="{7ED0F844-5B3E-4DE4-1B4F-621D92279FAD}"/>
              </a:ext>
            </a:extLst>
          </p:cNvPr>
          <p:cNvPicPr>
            <a:picLocks noChangeAspect="1"/>
          </p:cNvPicPr>
          <p:nvPr/>
        </p:nvPicPr>
        <p:blipFill>
          <a:blip r:embed="rId4"/>
          <a:stretch>
            <a:fillRect/>
          </a:stretch>
        </p:blipFill>
        <p:spPr>
          <a:xfrm>
            <a:off x="8644997" y="4443632"/>
            <a:ext cx="2708803" cy="2414368"/>
          </a:xfrm>
          <a:prstGeom prst="rect">
            <a:avLst/>
          </a:prstGeom>
        </p:spPr>
      </p:pic>
      <p:pic>
        <p:nvPicPr>
          <p:cNvPr id="11" name="Picture 10">
            <a:extLst>
              <a:ext uri="{FF2B5EF4-FFF2-40B4-BE49-F238E27FC236}">
                <a16:creationId xmlns:a16="http://schemas.microsoft.com/office/drawing/2014/main" id="{64BFB436-57FF-6CAD-929C-5E243CA8E01A}"/>
              </a:ext>
            </a:extLst>
          </p:cNvPr>
          <p:cNvPicPr>
            <a:picLocks noChangeAspect="1"/>
          </p:cNvPicPr>
          <p:nvPr/>
        </p:nvPicPr>
        <p:blipFill>
          <a:blip r:embed="rId5"/>
          <a:stretch>
            <a:fillRect/>
          </a:stretch>
        </p:blipFill>
        <p:spPr>
          <a:xfrm>
            <a:off x="1196446" y="139983"/>
            <a:ext cx="2834240" cy="2504678"/>
          </a:xfrm>
          <a:prstGeom prst="rect">
            <a:avLst/>
          </a:prstGeom>
        </p:spPr>
      </p:pic>
      <p:pic>
        <p:nvPicPr>
          <p:cNvPr id="13" name="Picture 12">
            <a:extLst>
              <a:ext uri="{FF2B5EF4-FFF2-40B4-BE49-F238E27FC236}">
                <a16:creationId xmlns:a16="http://schemas.microsoft.com/office/drawing/2014/main" id="{087670B5-51BC-3DA4-4FE6-6ECB6D1F9435}"/>
              </a:ext>
            </a:extLst>
          </p:cNvPr>
          <p:cNvPicPr>
            <a:picLocks noChangeAspect="1"/>
          </p:cNvPicPr>
          <p:nvPr/>
        </p:nvPicPr>
        <p:blipFill>
          <a:blip r:embed="rId6"/>
          <a:stretch>
            <a:fillRect/>
          </a:stretch>
        </p:blipFill>
        <p:spPr>
          <a:xfrm>
            <a:off x="8677367" y="38221"/>
            <a:ext cx="2946286" cy="2708202"/>
          </a:xfrm>
          <a:prstGeom prst="rect">
            <a:avLst/>
          </a:prstGeom>
        </p:spPr>
      </p:pic>
      <p:sp>
        <p:nvSpPr>
          <p:cNvPr id="14" name="TextBox 13">
            <a:extLst>
              <a:ext uri="{FF2B5EF4-FFF2-40B4-BE49-F238E27FC236}">
                <a16:creationId xmlns:a16="http://schemas.microsoft.com/office/drawing/2014/main" id="{912C6E46-A241-4618-896B-5B3C5D215EF9}"/>
              </a:ext>
            </a:extLst>
          </p:cNvPr>
          <p:cNvSpPr txBox="1"/>
          <p:nvPr/>
        </p:nvSpPr>
        <p:spPr>
          <a:xfrm>
            <a:off x="3009036" y="2144842"/>
            <a:ext cx="1075936" cy="584775"/>
          </a:xfrm>
          <a:prstGeom prst="rect">
            <a:avLst/>
          </a:prstGeom>
          <a:noFill/>
        </p:spPr>
        <p:txBody>
          <a:bodyPr wrap="none" rtlCol="0">
            <a:spAutoFit/>
          </a:bodyPr>
          <a:lstStyle/>
          <a:p>
            <a:r>
              <a:rPr lang="en-US" sz="3200">
                <a:solidFill>
                  <a:schemeClr val="bg1"/>
                </a:solidFill>
              </a:rPr>
              <a:t>dean</a:t>
            </a:r>
          </a:p>
        </p:txBody>
      </p:sp>
      <p:sp>
        <p:nvSpPr>
          <p:cNvPr id="15" name="TextBox 14">
            <a:extLst>
              <a:ext uri="{FF2B5EF4-FFF2-40B4-BE49-F238E27FC236}">
                <a16:creationId xmlns:a16="http://schemas.microsoft.com/office/drawing/2014/main" id="{6C8A73DD-6796-BCD1-852E-75BB2D646A36}"/>
              </a:ext>
            </a:extLst>
          </p:cNvPr>
          <p:cNvSpPr txBox="1"/>
          <p:nvPr/>
        </p:nvSpPr>
        <p:spPr>
          <a:xfrm>
            <a:off x="2892032" y="6130497"/>
            <a:ext cx="910442" cy="584775"/>
          </a:xfrm>
          <a:prstGeom prst="rect">
            <a:avLst/>
          </a:prstGeom>
          <a:noFill/>
        </p:spPr>
        <p:txBody>
          <a:bodyPr wrap="none" rtlCol="0">
            <a:spAutoFit/>
          </a:bodyPr>
          <a:lstStyle/>
          <a:p>
            <a:r>
              <a:rPr lang="en-US" sz="3200">
                <a:solidFill>
                  <a:schemeClr val="bg1"/>
                </a:solidFill>
              </a:rPr>
              <a:t>Dan</a:t>
            </a:r>
          </a:p>
        </p:txBody>
      </p:sp>
      <p:sp>
        <p:nvSpPr>
          <p:cNvPr id="16" name="TextBox 15">
            <a:extLst>
              <a:ext uri="{FF2B5EF4-FFF2-40B4-BE49-F238E27FC236}">
                <a16:creationId xmlns:a16="http://schemas.microsoft.com/office/drawing/2014/main" id="{3F417806-2360-167B-211A-12E6EA6869BF}"/>
              </a:ext>
            </a:extLst>
          </p:cNvPr>
          <p:cNvSpPr txBox="1"/>
          <p:nvPr/>
        </p:nvSpPr>
        <p:spPr>
          <a:xfrm>
            <a:off x="6278691" y="4151244"/>
            <a:ext cx="1083951" cy="584775"/>
          </a:xfrm>
          <a:prstGeom prst="rect">
            <a:avLst/>
          </a:prstGeom>
          <a:noFill/>
        </p:spPr>
        <p:txBody>
          <a:bodyPr wrap="none" rtlCol="0">
            <a:spAutoFit/>
          </a:bodyPr>
          <a:lstStyle/>
          <a:p>
            <a:r>
              <a:rPr lang="en-US" sz="3200">
                <a:solidFill>
                  <a:schemeClr val="bg1"/>
                </a:solidFill>
              </a:rPr>
              <a:t>done</a:t>
            </a:r>
          </a:p>
        </p:txBody>
      </p:sp>
      <p:sp>
        <p:nvSpPr>
          <p:cNvPr id="18" name="TextBox 17">
            <a:extLst>
              <a:ext uri="{FF2B5EF4-FFF2-40B4-BE49-F238E27FC236}">
                <a16:creationId xmlns:a16="http://schemas.microsoft.com/office/drawing/2014/main" id="{A0E0BB5A-AD53-1FF2-1626-28583E7C51F3}"/>
              </a:ext>
            </a:extLst>
          </p:cNvPr>
          <p:cNvSpPr txBox="1"/>
          <p:nvPr/>
        </p:nvSpPr>
        <p:spPr>
          <a:xfrm>
            <a:off x="10477615" y="6222919"/>
            <a:ext cx="918841" cy="584775"/>
          </a:xfrm>
          <a:prstGeom prst="rect">
            <a:avLst/>
          </a:prstGeom>
          <a:noFill/>
        </p:spPr>
        <p:txBody>
          <a:bodyPr wrap="none" rtlCol="0">
            <a:spAutoFit/>
          </a:bodyPr>
          <a:lstStyle/>
          <a:p>
            <a:r>
              <a:rPr lang="en-US" sz="3200">
                <a:solidFill>
                  <a:schemeClr val="bg1"/>
                </a:solidFill>
              </a:rPr>
              <a:t>Don</a:t>
            </a:r>
          </a:p>
        </p:txBody>
      </p:sp>
      <p:sp>
        <p:nvSpPr>
          <p:cNvPr id="19" name="TextBox 18">
            <a:extLst>
              <a:ext uri="{FF2B5EF4-FFF2-40B4-BE49-F238E27FC236}">
                <a16:creationId xmlns:a16="http://schemas.microsoft.com/office/drawing/2014/main" id="{93C7D545-D2F5-ECA8-95ED-9247E88E8A4D}"/>
              </a:ext>
            </a:extLst>
          </p:cNvPr>
          <p:cNvSpPr txBox="1"/>
          <p:nvPr/>
        </p:nvSpPr>
        <p:spPr>
          <a:xfrm>
            <a:off x="10568371" y="2120609"/>
            <a:ext cx="1087157" cy="584775"/>
          </a:xfrm>
          <a:prstGeom prst="rect">
            <a:avLst/>
          </a:prstGeom>
          <a:noFill/>
        </p:spPr>
        <p:txBody>
          <a:bodyPr wrap="none" rtlCol="0">
            <a:spAutoFit/>
          </a:bodyPr>
          <a:lstStyle/>
          <a:p>
            <a:r>
              <a:rPr lang="en-US" sz="3200">
                <a:solidFill>
                  <a:schemeClr val="bg1"/>
                </a:solidFill>
              </a:rPr>
              <a:t>dune</a:t>
            </a:r>
          </a:p>
        </p:txBody>
      </p:sp>
      <p:sp>
        <p:nvSpPr>
          <p:cNvPr id="20" name="TextBox 19">
            <a:extLst>
              <a:ext uri="{FF2B5EF4-FFF2-40B4-BE49-F238E27FC236}">
                <a16:creationId xmlns:a16="http://schemas.microsoft.com/office/drawing/2014/main" id="{5EC7C861-8362-A525-4E74-47BD385B96A7}"/>
              </a:ext>
            </a:extLst>
          </p:cNvPr>
          <p:cNvSpPr txBox="1"/>
          <p:nvPr/>
        </p:nvSpPr>
        <p:spPr>
          <a:xfrm>
            <a:off x="1934109" y="3098815"/>
            <a:ext cx="1413144" cy="707886"/>
          </a:xfrm>
          <a:prstGeom prst="rect">
            <a:avLst/>
          </a:prstGeom>
          <a:noFill/>
        </p:spPr>
        <p:txBody>
          <a:bodyPr wrap="none" rtlCol="0">
            <a:spAutoFit/>
          </a:bodyPr>
          <a:lstStyle/>
          <a:p>
            <a:r>
              <a:rPr lang="en-US" sz="4000" b="1">
                <a:solidFill>
                  <a:srgbClr val="00B050"/>
                </a:solidFill>
              </a:rPr>
              <a:t>Front</a:t>
            </a:r>
          </a:p>
        </p:txBody>
      </p:sp>
      <p:sp>
        <p:nvSpPr>
          <p:cNvPr id="21" name="TextBox 20">
            <a:extLst>
              <a:ext uri="{FF2B5EF4-FFF2-40B4-BE49-F238E27FC236}">
                <a16:creationId xmlns:a16="http://schemas.microsoft.com/office/drawing/2014/main" id="{DE56080C-5313-68A8-64FC-3AA9E2C2A980}"/>
              </a:ext>
            </a:extLst>
          </p:cNvPr>
          <p:cNvSpPr txBox="1"/>
          <p:nvPr/>
        </p:nvSpPr>
        <p:spPr>
          <a:xfrm rot="16200000">
            <a:off x="23102" y="5214541"/>
            <a:ext cx="1130566" cy="707886"/>
          </a:xfrm>
          <a:prstGeom prst="rect">
            <a:avLst/>
          </a:prstGeom>
          <a:noFill/>
        </p:spPr>
        <p:txBody>
          <a:bodyPr wrap="none" rtlCol="0">
            <a:spAutoFit/>
          </a:bodyPr>
          <a:lstStyle/>
          <a:p>
            <a:r>
              <a:rPr lang="en-US" sz="4000" b="1">
                <a:solidFill>
                  <a:srgbClr val="0070C0"/>
                </a:solidFill>
              </a:rPr>
              <a:t>Low</a:t>
            </a:r>
          </a:p>
        </p:txBody>
      </p:sp>
      <p:sp>
        <p:nvSpPr>
          <p:cNvPr id="22" name="TextBox 21">
            <a:extLst>
              <a:ext uri="{FF2B5EF4-FFF2-40B4-BE49-F238E27FC236}">
                <a16:creationId xmlns:a16="http://schemas.microsoft.com/office/drawing/2014/main" id="{CBD4C02F-B62A-71CA-66E7-775F0F5C7D87}"/>
              </a:ext>
            </a:extLst>
          </p:cNvPr>
          <p:cNvSpPr txBox="1"/>
          <p:nvPr/>
        </p:nvSpPr>
        <p:spPr>
          <a:xfrm rot="16200000">
            <a:off x="113048" y="1087973"/>
            <a:ext cx="1255472" cy="707886"/>
          </a:xfrm>
          <a:prstGeom prst="rect">
            <a:avLst/>
          </a:prstGeom>
          <a:noFill/>
        </p:spPr>
        <p:txBody>
          <a:bodyPr wrap="none" rtlCol="0">
            <a:spAutoFit/>
          </a:bodyPr>
          <a:lstStyle/>
          <a:p>
            <a:r>
              <a:rPr lang="en-US" sz="4000" b="1">
                <a:solidFill>
                  <a:srgbClr val="FF0000"/>
                </a:solidFill>
              </a:rPr>
              <a:t>High</a:t>
            </a:r>
          </a:p>
        </p:txBody>
      </p:sp>
      <p:sp>
        <p:nvSpPr>
          <p:cNvPr id="23" name="TextBox 22">
            <a:extLst>
              <a:ext uri="{FF2B5EF4-FFF2-40B4-BE49-F238E27FC236}">
                <a16:creationId xmlns:a16="http://schemas.microsoft.com/office/drawing/2014/main" id="{606863A0-7C88-B745-477E-E18CF7542702}"/>
              </a:ext>
            </a:extLst>
          </p:cNvPr>
          <p:cNvSpPr txBox="1"/>
          <p:nvPr/>
        </p:nvSpPr>
        <p:spPr>
          <a:xfrm>
            <a:off x="9292826" y="3200046"/>
            <a:ext cx="1342034" cy="707886"/>
          </a:xfrm>
          <a:prstGeom prst="rect">
            <a:avLst/>
          </a:prstGeom>
          <a:noFill/>
        </p:spPr>
        <p:txBody>
          <a:bodyPr wrap="none" rtlCol="0">
            <a:spAutoFit/>
          </a:bodyPr>
          <a:lstStyle/>
          <a:p>
            <a:r>
              <a:rPr lang="en-US" sz="4000" b="1">
                <a:solidFill>
                  <a:srgbClr val="7030A0"/>
                </a:solidFill>
              </a:rPr>
              <a:t>Back</a:t>
            </a:r>
          </a:p>
        </p:txBody>
      </p:sp>
      <p:sp>
        <p:nvSpPr>
          <p:cNvPr id="24" name="TextBox 23">
            <a:extLst>
              <a:ext uri="{FF2B5EF4-FFF2-40B4-BE49-F238E27FC236}">
                <a16:creationId xmlns:a16="http://schemas.microsoft.com/office/drawing/2014/main" id="{8D40E0B5-48ED-BA22-A6A8-592396D60AAE}"/>
              </a:ext>
            </a:extLst>
          </p:cNvPr>
          <p:cNvSpPr txBox="1"/>
          <p:nvPr/>
        </p:nvSpPr>
        <p:spPr>
          <a:xfrm>
            <a:off x="5369265" y="4736019"/>
            <a:ext cx="1921488" cy="707886"/>
          </a:xfrm>
          <a:prstGeom prst="rect">
            <a:avLst/>
          </a:prstGeom>
          <a:noFill/>
        </p:spPr>
        <p:txBody>
          <a:bodyPr wrap="none" rtlCol="0">
            <a:spAutoFit/>
          </a:bodyPr>
          <a:lstStyle/>
          <a:p>
            <a:r>
              <a:rPr lang="en-US" sz="4000" b="1">
                <a:solidFill>
                  <a:schemeClr val="tx1">
                    <a:lumMod val="65000"/>
                    <a:lumOff val="35000"/>
                  </a:schemeClr>
                </a:solidFill>
              </a:rPr>
              <a:t>Central</a:t>
            </a:r>
          </a:p>
        </p:txBody>
      </p:sp>
      <p:sp>
        <p:nvSpPr>
          <p:cNvPr id="3" name="TextBox 2">
            <a:extLst>
              <a:ext uri="{FF2B5EF4-FFF2-40B4-BE49-F238E27FC236}">
                <a16:creationId xmlns:a16="http://schemas.microsoft.com/office/drawing/2014/main" id="{5C7DC0DA-8CBB-0B94-90C1-355FD67CFDAB}"/>
              </a:ext>
            </a:extLst>
          </p:cNvPr>
          <p:cNvSpPr txBox="1"/>
          <p:nvPr/>
        </p:nvSpPr>
        <p:spPr>
          <a:xfrm>
            <a:off x="5470510" y="2511991"/>
            <a:ext cx="1718997" cy="369332"/>
          </a:xfrm>
          <a:prstGeom prst="rect">
            <a:avLst/>
          </a:prstGeom>
          <a:noFill/>
        </p:spPr>
        <p:txBody>
          <a:bodyPr wrap="none" rtlCol="0">
            <a:spAutoFit/>
          </a:bodyPr>
          <a:lstStyle/>
          <a:p>
            <a:r>
              <a:rPr lang="en-US">
                <a:solidFill>
                  <a:srgbClr val="FFFF00"/>
                </a:solidFill>
              </a:rPr>
              <a:t>No constriction</a:t>
            </a:r>
          </a:p>
        </p:txBody>
      </p:sp>
      <p:sp>
        <p:nvSpPr>
          <p:cNvPr id="4" name="TextBox 3">
            <a:extLst>
              <a:ext uri="{FF2B5EF4-FFF2-40B4-BE49-F238E27FC236}">
                <a16:creationId xmlns:a16="http://schemas.microsoft.com/office/drawing/2014/main" id="{3C76E8BD-07FF-1F94-7757-AE9E9D9DFF6E}"/>
              </a:ext>
            </a:extLst>
          </p:cNvPr>
          <p:cNvSpPr txBox="1"/>
          <p:nvPr/>
        </p:nvSpPr>
        <p:spPr>
          <a:xfrm>
            <a:off x="1165602" y="203786"/>
            <a:ext cx="2967800" cy="369332"/>
          </a:xfrm>
          <a:prstGeom prst="rect">
            <a:avLst/>
          </a:prstGeom>
          <a:noFill/>
        </p:spPr>
        <p:txBody>
          <a:bodyPr wrap="none" rtlCol="0">
            <a:spAutoFit/>
          </a:bodyPr>
          <a:lstStyle/>
          <a:p>
            <a:r>
              <a:rPr lang="en-US">
                <a:solidFill>
                  <a:srgbClr val="FFFF00"/>
                </a:solidFill>
              </a:rPr>
              <a:t>Constriction 2/3 from glottis</a:t>
            </a:r>
          </a:p>
        </p:txBody>
      </p:sp>
      <p:sp>
        <p:nvSpPr>
          <p:cNvPr id="6" name="TextBox 5">
            <a:extLst>
              <a:ext uri="{FF2B5EF4-FFF2-40B4-BE49-F238E27FC236}">
                <a16:creationId xmlns:a16="http://schemas.microsoft.com/office/drawing/2014/main" id="{DFA081F6-669C-A870-BDD1-1BE3662E2DBC}"/>
              </a:ext>
            </a:extLst>
          </p:cNvPr>
          <p:cNvSpPr txBox="1"/>
          <p:nvPr/>
        </p:nvSpPr>
        <p:spPr>
          <a:xfrm>
            <a:off x="8515498" y="4466795"/>
            <a:ext cx="2967800" cy="369332"/>
          </a:xfrm>
          <a:prstGeom prst="rect">
            <a:avLst/>
          </a:prstGeom>
          <a:noFill/>
        </p:spPr>
        <p:txBody>
          <a:bodyPr wrap="none" rtlCol="0">
            <a:spAutoFit/>
          </a:bodyPr>
          <a:lstStyle/>
          <a:p>
            <a:r>
              <a:rPr lang="en-US">
                <a:solidFill>
                  <a:srgbClr val="FFFF00"/>
                </a:solidFill>
              </a:rPr>
              <a:t>Constriction 1/3 from glottis</a:t>
            </a:r>
          </a:p>
        </p:txBody>
      </p:sp>
      <p:sp>
        <p:nvSpPr>
          <p:cNvPr id="8" name="TextBox 7">
            <a:extLst>
              <a:ext uri="{FF2B5EF4-FFF2-40B4-BE49-F238E27FC236}">
                <a16:creationId xmlns:a16="http://schemas.microsoft.com/office/drawing/2014/main" id="{43273BAA-95FE-0B53-77C0-4329A53C85A3}"/>
              </a:ext>
            </a:extLst>
          </p:cNvPr>
          <p:cNvSpPr txBox="1"/>
          <p:nvPr/>
        </p:nvSpPr>
        <p:spPr>
          <a:xfrm>
            <a:off x="9045549" y="76371"/>
            <a:ext cx="2066400" cy="369332"/>
          </a:xfrm>
          <a:prstGeom prst="rect">
            <a:avLst/>
          </a:prstGeom>
          <a:noFill/>
        </p:spPr>
        <p:txBody>
          <a:bodyPr wrap="none" rtlCol="0">
            <a:spAutoFit/>
          </a:bodyPr>
          <a:lstStyle/>
          <a:p>
            <a:r>
              <a:rPr lang="en-US">
                <a:solidFill>
                  <a:srgbClr val="FFFF00"/>
                </a:solidFill>
              </a:rPr>
              <a:t>Constriction at lips</a:t>
            </a:r>
          </a:p>
        </p:txBody>
      </p:sp>
    </p:spTree>
    <p:extLst>
      <p:ext uri="{BB962C8B-B14F-4D97-AF65-F5344CB8AC3E}">
        <p14:creationId xmlns:p14="http://schemas.microsoft.com/office/powerpoint/2010/main" val="80060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3" grpId="0"/>
      <p:bldP spid="4" grpId="0"/>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181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6DE8-409B-7FB4-2C04-1C6A785146C5}"/>
            </a:ext>
          </a:extLst>
        </p:cNvPr>
        <p:cNvGrpSpPr/>
        <p:nvPr/>
      </p:nvGrpSpPr>
      <p:grpSpPr>
        <a:xfrm>
          <a:off x="0" y="0"/>
          <a:ext cx="0" cy="0"/>
          <a:chOff x="0" y="0"/>
          <a:chExt cx="0" cy="0"/>
        </a:xfrm>
      </p:grpSpPr>
      <p:pic>
        <p:nvPicPr>
          <p:cNvPr id="2" name="MOVIE_base">
            <a:hlinkClick r:id="" action="ppaction://media"/>
            <a:extLst>
              <a:ext uri="{FF2B5EF4-FFF2-40B4-BE49-F238E27FC236}">
                <a16:creationId xmlns:a16="http://schemas.microsoft.com/office/drawing/2014/main" id="{41B7F88A-36C8-5846-DB85-52379FB2EA2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Tree>
    <p:extLst>
      <p:ext uri="{BB962C8B-B14F-4D97-AF65-F5344CB8AC3E}">
        <p14:creationId xmlns:p14="http://schemas.microsoft.com/office/powerpoint/2010/main" val="355394326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childTnLst>
              </p:cTn>
              <p:prevCondLst>
                <p:cond evt="onPrev" delay="0">
                  <p:tgtEl>
                    <p:sldTgt/>
                  </p:tgtEl>
                </p:cond>
              </p:prevCondLst>
              <p:nextCondLst>
                <p:cond evt="onNext" delay="0">
                  <p:tgtEl>
                    <p:sldTgt/>
                  </p:tgtEl>
                </p:cond>
              </p:nextCondLst>
            </p:seq>
            <p:video>
              <p:cMediaNode vol="0" mute="1">
                <p:cTn id="6" repeatCount="indefinite" restart="always" fill="hold">
                  <p:stCondLst>
                    <p:cond delay="indefinite"/>
                  </p:stCondLst>
                </p:cTn>
                <p:tgtEl>
                  <p:spTgt spid="2"/>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u">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u"/>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/u/ = free-end loading</a:t>
            </a:r>
          </a:p>
        </p:txBody>
      </p:sp>
      <p:sp>
        <p:nvSpPr>
          <p:cNvPr id="4" name="REVEAL_2_u"/>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motion dominates</a:t>
            </a:r>
          </a:p>
        </p:txBody>
      </p:sp>
      <p:sp>
        <p:nvSpPr>
          <p:cNvPr id="5" name="REVEAL_3_u"/>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motion dominates</a:t>
            </a:r>
          </a:p>
        </p:txBody>
      </p:sp>
      <p:sp>
        <p:nvSpPr>
          <p:cNvPr id="6" name="REVEAL_4_u"/>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u"/>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i"/>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/i/ = constriction near 2/3</a:t>
            </a:r>
          </a:p>
        </p:txBody>
      </p:sp>
      <p:sp>
        <p:nvSpPr>
          <p:cNvPr id="4" name="REVEAL_2_i"/>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mass motion dominates</a:t>
            </a:r>
          </a:p>
        </p:txBody>
      </p:sp>
      <p:sp>
        <p:nvSpPr>
          <p:cNvPr id="5" name="REVEAL_3_i"/>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springiness dominates</a:t>
            </a:r>
          </a:p>
        </p:txBody>
      </p:sp>
      <p:sp>
        <p:nvSpPr>
          <p:cNvPr id="6" name="REVEAL_4_i"/>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i"/>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OVIE_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1695" cy="6858000"/>
          </a:xfrm>
          <a:prstGeom prst="rect">
            <a:avLst/>
          </a:prstGeom>
        </p:spPr>
      </p:pic>
      <p:sp>
        <p:nvSpPr>
          <p:cNvPr id="3" name="REVEAL_1_a"/>
          <p:cNvSpPr/>
          <p:nvPr/>
        </p:nvSpPr>
        <p:spPr>
          <a:xfrm>
            <a:off x="7178040" y="56692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/a/ = constriction near 1/3</a:t>
            </a:r>
          </a:p>
        </p:txBody>
      </p:sp>
      <p:sp>
        <p:nvSpPr>
          <p:cNvPr id="4" name="REVEAL_2_a"/>
          <p:cNvSpPr/>
          <p:nvPr/>
        </p:nvSpPr>
        <p:spPr>
          <a:xfrm>
            <a:off x="7178040" y="97840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1: springiness dominates</a:t>
            </a:r>
          </a:p>
        </p:txBody>
      </p:sp>
      <p:sp>
        <p:nvSpPr>
          <p:cNvPr id="5" name="REVEAL_3_a"/>
          <p:cNvSpPr/>
          <p:nvPr/>
        </p:nvSpPr>
        <p:spPr>
          <a:xfrm>
            <a:off x="7178040" y="138988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Mode 2: mass motion dominates</a:t>
            </a:r>
          </a:p>
        </p:txBody>
      </p:sp>
      <p:sp>
        <p:nvSpPr>
          <p:cNvPr id="6" name="REVEAL_4_a"/>
          <p:cNvSpPr/>
          <p:nvPr/>
        </p:nvSpPr>
        <p:spPr>
          <a:xfrm>
            <a:off x="7178040" y="1801368"/>
            <a:ext cx="4480560" cy="411480"/>
          </a:xfrm>
          <a:prstGeom prst="roundRect">
            <a:avLst/>
          </a:prstGeom>
          <a:solidFill>
            <a:srgbClr val="FFFFFF"/>
          </a:solidFill>
          <a:ln>
            <a:solidFill>
              <a:srgbClr val="BEC6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182D40"/>
                </a:solidFill>
              </a:defRPr>
            </a:pPr>
            <a:r>
              <a:t>F1 ↑     F2 ↓</a:t>
            </a:r>
          </a:p>
        </p:txBody>
      </p:sp>
      <p:sp>
        <p:nvSpPr>
          <p:cNvPr id="7" name="HINT_a"/>
          <p:cNvSpPr txBox="1"/>
          <p:nvPr/>
        </p:nvSpPr>
        <p:spPr>
          <a:xfrm>
            <a:off x="7315200" y="2395728"/>
            <a:ext cx="4114800" cy="274320"/>
          </a:xfrm>
          <a:prstGeom prst="rect">
            <a:avLst/>
          </a:prstGeom>
          <a:noFill/>
        </p:spPr>
        <p:txBody>
          <a:bodyPr wrap="none">
            <a:spAutoFit/>
          </a:bodyPr>
          <a:lstStyle/>
          <a:p>
            <a:pPr>
              <a:defRPr sz="1200">
                <a:solidFill>
                  <a:srgbClr val="5A6978"/>
                </a:solidFill>
              </a:defRPr>
            </a:pPr>
            <a:r>
              <a:t>Click to reveal the reasoning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mediacall" presetSubtype="0" fill="hold" nodeType="afterEffect">
                            <p:stCondLst>
                              <p:cond delay="0"/>
                            </p:stCondLst>
                            <p:childTnLst>
                              <p:cmd type="call" cmd="playFrom(0.0)">
                                <p:cBhvr>
                                  <p:cTn id="5" dur="1" fill="hold"/>
                                  <p:tgtEl>
                                    <p:spTgt spid="2"/>
                                  </p:tgtEl>
                                </p:cBhvr>
                              </p:cmd>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350" fill="hold"/>
                                  <p:tgtEl>
                                    <p:spTgt spid="3"/>
                                  </p:tgtEl>
                                </p:cBhvr>
                              </p:animEffect>
                            </p:childTnLst>
                          </p:cTn>
                        </p:par>
                      </p:childTnLst>
                    </p:cTn>
                  </p:par>
                  <p:par>
                    <p:cTn id="9" fill="hold">
                      <p:stCondLst>
                        <p:cond delay="indefinite"/>
                      </p:stCondLst>
                      <p:childTnLst>
                        <p:par>
                          <p:cTn id="10" presetID="1" presetClass="entr" presetSubtype="0" fill="hold" nodeType="clickEffect">
                            <p:stCondLst>
                              <p:cond delay="0"/>
                            </p:stCondLst>
                            <p:childTnLst>
                              <p:animEffect transition="in" filter="fade">
                                <p:cBhvr>
                                  <p:cTn id="11" dur="350" fill="hold"/>
                                  <p:tgtEl>
                                    <p:spTgt spid="4"/>
                                  </p:tgtEl>
                                </p:cBhvr>
                              </p:animEffect>
                            </p:childTnLst>
                          </p:cTn>
                        </p:par>
                      </p:childTnLst>
                    </p:cTn>
                  </p:par>
                  <p:par>
                    <p:cTn id="12" fill="hold">
                      <p:stCondLst>
                        <p:cond delay="indefinite"/>
                      </p:stCondLst>
                      <p:childTnLst>
                        <p:par>
                          <p:cTn id="13" presetID="1" presetClass="entr" presetSubtype="0" fill="hold" nodeType="clickEffect">
                            <p:stCondLst>
                              <p:cond delay="0"/>
                            </p:stCondLst>
                            <p:childTnLst>
                              <p:animEffect transition="in" filter="fade">
                                <p:cBhvr>
                                  <p:cTn id="14" dur="350" fill="hold"/>
                                  <p:tgtEl>
                                    <p:spTgt spid="5"/>
                                  </p:tgtEl>
                                </p:cBhvr>
                              </p:animEffect>
                            </p:childTnLst>
                          </p:cTn>
                        </p:par>
                      </p:childTnLst>
                    </p:cTn>
                  </p:par>
                  <p:par>
                    <p:cTn id="15" fill="hold">
                      <p:stCondLst>
                        <p:cond delay="indefinite"/>
                      </p:stCondLst>
                      <p:childTnLst>
                        <p:par>
                          <p:cTn id="16" presetID="1" presetClass="entr" presetSubtype="0" fill="hold" nodeType="clickEffect">
                            <p:stCondLst>
                              <p:cond delay="0"/>
                            </p:stCondLst>
                            <p:childTnLst>
                              <p:animEffect transition="in" filter="fade">
                                <p:cBhvr>
                                  <p:cTn id="17" dur="350" fill="hold"/>
                                  <p:tgtEl>
                                    <p:spTgt spid="6"/>
                                  </p:tgtEl>
                                </p:cBhvr>
                              </p:animEffect>
                            </p:childTnLst>
                          </p:cTn>
                        </p:par>
                      </p:childTnLst>
                    </p:cTn>
                  </p:par>
                </p:childTnLst>
              </p:cTn>
              <p:prevCondLst>
                <p:cond evt="onPrev" delay="0">
                  <p:tgtEl>
                    <p:sldTgt/>
                  </p:tgtEl>
                </p:cond>
              </p:prevCondLst>
              <p:nextCondLst>
                <p:cond evt="onNext" delay="0">
                  <p:tgtEl>
                    <p:sldTgt/>
                  </p:tgtEl>
                </p:cond>
              </p:nextCondLst>
            </p:seq>
            <p:video>
              <p:cMediaNode vol="0" mute="1">
                <p:cTn id="18" repeatCount="indefinite" restart="always" fill="hold">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C8B5-E736-C709-F69C-83E519EB9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E4ED4-9EAA-1F6C-B1CB-9A1559174701}"/>
              </a:ext>
            </a:extLst>
          </p:cNvPr>
          <p:cNvSpPr>
            <a:spLocks noGrp="1"/>
          </p:cNvSpPr>
          <p:nvPr>
            <p:ph type="title"/>
          </p:nvPr>
        </p:nvSpPr>
        <p:spPr>
          <a:xfrm>
            <a:off x="518160" y="353758"/>
            <a:ext cx="10515600" cy="1325563"/>
          </a:xfrm>
        </p:spPr>
        <p:txBody>
          <a:bodyPr/>
          <a:lstStyle/>
          <a:p>
            <a:r>
              <a:rPr lang="en-US"/>
              <a:t>Principles of Mass-Spring Systems</a:t>
            </a:r>
          </a:p>
        </p:txBody>
      </p:sp>
      <p:sp>
        <p:nvSpPr>
          <p:cNvPr id="3" name="Content Placeholder 2">
            <a:extLst>
              <a:ext uri="{FF2B5EF4-FFF2-40B4-BE49-F238E27FC236}">
                <a16:creationId xmlns:a16="http://schemas.microsoft.com/office/drawing/2014/main" id="{2B107E11-9F00-C42B-F902-291E1B4FAC49}"/>
              </a:ext>
            </a:extLst>
          </p:cNvPr>
          <p:cNvSpPr>
            <a:spLocks noGrp="1"/>
          </p:cNvSpPr>
          <p:nvPr>
            <p:ph idx="1"/>
          </p:nvPr>
        </p:nvSpPr>
        <p:spPr>
          <a:xfrm>
            <a:off x="838200" y="1825625"/>
            <a:ext cx="10195560" cy="4351338"/>
          </a:xfrm>
        </p:spPr>
        <p:txBody>
          <a:bodyPr>
            <a:normAutofit fontScale="62500" lnSpcReduction="20000"/>
          </a:bodyPr>
          <a:lstStyle/>
          <a:p>
            <a:pPr marL="0" indent="0">
              <a:buNone/>
            </a:pPr>
            <a:endParaRPr lang="en-US" sz="3400"/>
          </a:p>
          <a:p>
            <a:pPr marL="514350" indent="-514350">
              <a:buFont typeface="+mj-lt"/>
              <a:buAutoNum type="arabicPeriod"/>
            </a:pPr>
            <a:endParaRPr lang="en-US" sz="3400"/>
          </a:p>
          <a:p>
            <a:pPr marL="514350" indent="-514350">
              <a:buFont typeface="+mj-lt"/>
              <a:buAutoNum type="arabicPeriod"/>
            </a:pPr>
            <a:r>
              <a:rPr lang="en-US" sz="3400"/>
              <a:t>Mass ↑ Frequency↓, Stiffness ↑ Frequency ↓</a:t>
            </a:r>
          </a:p>
          <a:p>
            <a:pPr marL="514350" indent="-514350">
              <a:buFont typeface="+mj-lt"/>
              <a:buAutoNum type="arabicPeriod"/>
            </a:pPr>
            <a:r>
              <a:rPr lang="en-US" sz="3400"/>
              <a:t>An n-mass system has n modes of vibration, each with a higher frequency</a:t>
            </a:r>
          </a:p>
          <a:p>
            <a:pPr marL="514350" indent="-514350">
              <a:buFont typeface="+mj-lt"/>
              <a:buAutoNum type="arabicPeriod"/>
            </a:pPr>
            <a:r>
              <a:rPr lang="en-US" sz="3400"/>
              <a:t>An m’s increase lowers frequency proportionally to how much the mass moves, which depends on where it is! </a:t>
            </a:r>
          </a:p>
          <a:p>
            <a:pPr marL="514350" indent="-514350">
              <a:buFont typeface="+mj-lt"/>
              <a:buAutoNum type="arabicPeriod"/>
            </a:pPr>
            <a:r>
              <a:rPr lang="en-US" sz="3400"/>
              <a:t>Where there’s maximal movement, there’s no stretching, An where there’s maximal stretching, there’s no movement!</a:t>
            </a:r>
          </a:p>
          <a:p>
            <a:pPr marL="514350" indent="-514350">
              <a:buFont typeface="+mj-lt"/>
              <a:buAutoNum type="arabicPeriod"/>
            </a:pPr>
            <a:r>
              <a:rPr lang="en-US" sz="3400"/>
              <a:t>A k’s increase raises frequency proportionally to how much the spring stretches/compresses, which depends on where it is!</a:t>
            </a:r>
          </a:p>
          <a:p>
            <a:pPr marL="514350" indent="-514350">
              <a:buFont typeface="+mj-lt"/>
              <a:buAutoNum type="arabicPeriod"/>
            </a:pPr>
            <a:r>
              <a:rPr lang="en-US" sz="3400"/>
              <a:t>In a Fixed-Fixed System, the harmonics are multiples of the base frequency, because the base mode fits n-times into each successive mode</a:t>
            </a:r>
          </a:p>
          <a:p>
            <a:pPr marL="514350" indent="-514350">
              <a:buFont typeface="+mj-lt"/>
              <a:buAutoNum type="arabicPeriod"/>
            </a:pPr>
            <a:r>
              <a:rPr lang="en-US" sz="3400"/>
              <a:t>In a Fixed-Free System, the harmonics are odd multiples of the base frequency, because the base mode fits an odd n-times into each successive mode</a:t>
            </a:r>
          </a:p>
          <a:p>
            <a:pPr marL="514350" indent="-514350">
              <a:buFont typeface="+mj-lt"/>
              <a:buAutoNum type="arabicPeriod"/>
            </a:pPr>
            <a:endParaRPr lang="en-US" sz="3400"/>
          </a:p>
        </p:txBody>
      </p:sp>
    </p:spTree>
    <p:extLst>
      <p:ext uri="{BB962C8B-B14F-4D97-AF65-F5344CB8AC3E}">
        <p14:creationId xmlns:p14="http://schemas.microsoft.com/office/powerpoint/2010/main" val="135484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hwaF13_86781478-4D12-4316-931B-51D7BD47440D.mp4">
            <a:hlinkClick r:id="" action="ppaction://media"/>
            <a:extLst>
              <a:ext uri="{FF2B5EF4-FFF2-40B4-BE49-F238E27FC236}">
                <a16:creationId xmlns:a16="http://schemas.microsoft.com/office/drawing/2014/main" id="{03A84EA6-8609-BC5E-289C-5D35E097ECE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121208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8D58-4F98-C962-1EB5-F0A6212B61F5}"/>
              </a:ext>
            </a:extLst>
          </p:cNvPr>
          <p:cNvSpPr>
            <a:spLocks noGrp="1"/>
          </p:cNvSpPr>
          <p:nvPr>
            <p:ph type="title"/>
          </p:nvPr>
        </p:nvSpPr>
        <p:spPr/>
        <p:txBody>
          <a:bodyPr/>
          <a:lstStyle/>
          <a:p>
            <a:r>
              <a:rPr lang="en-US"/>
              <a:t>Where were you a year ago?</a:t>
            </a:r>
          </a:p>
        </p:txBody>
      </p:sp>
      <p:sp>
        <p:nvSpPr>
          <p:cNvPr id="3" name="Content Placeholder 2">
            <a:extLst>
              <a:ext uri="{FF2B5EF4-FFF2-40B4-BE49-F238E27FC236}">
                <a16:creationId xmlns:a16="http://schemas.microsoft.com/office/drawing/2014/main" id="{D39BFDDB-C54A-D327-5869-8A2C8C2165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66915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2957</TotalTime>
  <Words>2270</Words>
  <Application>Microsoft Macintosh PowerPoint</Application>
  <PresentationFormat>Widescreen</PresentationFormat>
  <Paragraphs>101</Paragraphs>
  <Slides>24</Slides>
  <Notes>9</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Ling 285 Human Language and Technology Lecture 12  Masses and Springs in Speech Production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Principles of Mass-Spring Systems</vt:lpstr>
      <vt:lpstr>PowerPoint Presentation</vt:lpstr>
      <vt:lpstr>PowerPoint Presentation</vt:lpstr>
      <vt:lpstr>PowerPoint Presentation</vt:lpstr>
      <vt:lpstr>Theory, Prediction, and Experiment</vt:lpstr>
      <vt:lpstr>PowerPoint Presentation</vt:lpstr>
      <vt:lpstr>PowerPoint Presentation</vt:lpstr>
      <vt:lpstr>Vowels</vt:lpstr>
      <vt:lpstr>PowerPoint Presentation</vt:lpstr>
      <vt:lpstr>PowerPoint Presentation</vt:lpstr>
      <vt:lpstr>PowerPoint Presentation</vt:lpstr>
      <vt:lpstr>PowerPoint Presentation</vt:lpstr>
      <vt:lpstr>PowerPoint Presentation</vt:lpstr>
      <vt:lpstr>Principles of Mass-Spring Systems</vt:lpstr>
      <vt:lpstr>PowerPoint Presentation</vt:lpstr>
      <vt:lpstr>Where were you a year ago?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131</cp:revision>
  <dcterms:created xsi:type="dcterms:W3CDTF">2026-08-23T15:08:49Z</dcterms:created>
  <dcterms:modified xsi:type="dcterms:W3CDTF">2026-10-13T16:10:53Z</dcterms:modified>
</cp:coreProperties>
</file>