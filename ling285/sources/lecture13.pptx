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424" r:id="rId3"/>
    <p:sldId id="261" r:id="rId4"/>
    <p:sldId id="439" r:id="rId5"/>
    <p:sldId id="432" r:id="rId6"/>
    <p:sldId id="263" r:id="rId7"/>
    <p:sldId id="264" r:id="rId8"/>
    <p:sldId id="257" r:id="rId9"/>
    <p:sldId id="441" r:id="rId10"/>
    <p:sldId id="428" r:id="rId11"/>
    <p:sldId id="438" r:id="rId12"/>
    <p:sldId id="392" r:id="rId13"/>
    <p:sldId id="435" r:id="rId14"/>
    <p:sldId id="440" r:id="rId15"/>
    <p:sldId id="434" r:id="rId16"/>
    <p:sldId id="429" r:id="rId17"/>
    <p:sldId id="430" r:id="rId18"/>
    <p:sldId id="431" r:id="rId19"/>
    <p:sldId id="436" r:id="rId20"/>
    <p:sldId id="442" r:id="rId21"/>
    <p:sldId id="443" r:id="rId22"/>
    <p:sldId id="258" r:id="rId23"/>
    <p:sldId id="259" r:id="rId24"/>
    <p:sldId id="437" r:id="rId25"/>
    <p:sldId id="445" r:id="rId26"/>
    <p:sldId id="44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A79E"/>
    <a:srgbClr val="F7FFF9"/>
    <a:srgbClr val="DDFFEE"/>
    <a:srgbClr val="EBEBEB"/>
    <a:srgbClr val="B8B618"/>
    <a:srgbClr val="FFD0D9"/>
    <a:srgbClr val="FFE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106"/>
    <p:restoredTop sz="94744"/>
  </p:normalViewPr>
  <p:slideViewPr>
    <p:cSldViewPr snapToGrid="0">
      <p:cViewPr varScale="1">
        <p:scale>
          <a:sx n="65" d="100"/>
          <a:sy n="65" d="100"/>
        </p:scale>
        <p:origin x="216" y="1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7:45:14.317"/>
    </inkml:context>
    <inkml:brush xml:id="br0">
      <inkml:brushProperty name="width" value="0.1" units="cm"/>
      <inkml:brushProperty name="height" value="0.1" units="cm"/>
      <inkml:brushProperty name="color" value="#33CCFF"/>
    </inkml:brush>
  </inkml:definitions>
  <inkml:trace contextRef="#ctx0" brushRef="#br0">1063 2760 24575,'-31'3'0,"-5"4"0,-13 4 0,-11 6 0,-3 1 0,-10-1 0,0-1 0,-1-3 0,1-4 0,5-4 0,8-5 0,8-2 0,10-4 0,7-7 0,6-7 0,6-6 0,1-6 0,1-5 0,1-5 0,0 0 0,2-3 0,0-3 0,2-2 0,0-2 0,2 1 0,0 3 0,3 1 0,1 3 0,4 3 0,1 2 0,2 5 0,2 8 0,-2 9 0,2 7 0,0 4 0,0-2 0,1-14 0,0-18 0,0-31 0,0-22 0,0-6 0,0 47 0,0 1 0,0-43 0,0 6 0,0 2 0,0 4 0,0-1 0,0-5 0,0-2 0,0 1 0,0 4 0,0 8 0,0 4 0,1 8 0,3 1 0,1 0 0,3 5 0,0 6 0,-1 12 0,0 13 0,-2 9 0,-1 8 0,-1 4 0,4-1 0,4-3 0,7-9 0,7-5 0,3-3 0,1 1 0,-2 6 0,-5 4 0,-2 5 0,-2 4 0,3 1 0,3 2 0,2-2 0,3-1 0,0-2 0,-2-1 0,-2 1 0,-3 2 0,-2 1 0,1 0 0,0-1 0,2-1 0,2 1 0,1 0 0,1 2 0,0 2 0,0 2 0,1 1 0,1 1 0,1 0 0,1 0 0,0 0 0,1 0 0,2 0 0,2 0 0,2 0 0,2 0 0,1 0 0,-2 0 0,-7 0 0,2 0 0,4 0 0,6 0 0,9-2 0,-3-1 0,0 0 0,-2 0 0,0 2 0,-1 1 0,2 0 0,2 0 0,0 2 0,2 4 0,0 4 0,0 3 0,1 1 0,-1 4 0,-4 1 0,-4 2 0,-6 0 0,-4-1 0,-4 1 0,-3 1 0,-3 2 0,-2 6 0,-2 7 0,-1 8 0,-2 6 0,-2 4 0,-2 1 0,0 0 0,-1 3 0,-2 7 0,1 12 0,0 11 0,-7-39 0,-1 0 0,0 2 0,-1 1 0,0 2 0,-2 1 0,0-2 0,-1-1 0,1-2 0,-2 0 0,1 46 0,0-7 0,0-3 0,0 0 0,0-3 0,0 1 0,-3-4 0,-4-9 0,-3-12 0,-2-14 0,1-14 0,2-9 0,0-5 0,-2 0 0,-5 3 0,-6 6 0,-8 7 0,-6 8 0,-7 6 0,-3 4 0,-3 1 0,0 0 0,0-4 0,-1-4 0,0-3 0,3-5 0,3-6 0,5-4 0,4-6 0,2-2 0,5-3 0,0-1 0,0 2 0,-2 3 0,-6 4 0,0 0 0,2 1 0,6-4 0,7-4 0,11-8 0,4-4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7:45:27.179"/>
    </inkml:context>
    <inkml:brush xml:id="br0">
      <inkml:brushProperty name="width" value="0.1" units="cm"/>
      <inkml:brushProperty name="height" value="0.1" units="cm"/>
      <inkml:brushProperty name="color" value="#33CCFF"/>
    </inkml:brush>
  </inkml:definitions>
  <inkml:trace contextRef="#ctx0" brushRef="#br0">497 295 24575,'19'0'0,"5"0"0,8 0 0,5 0 0,1-2 0,2-1 0,0-1 0,5-2 0,7 2 0,7-2 0,6-1 0,2-2 0,-2-2 0,-2-1 0,-5-1 0,-3 0 0,4 0 0,7-1 0,12-2 0,8-1 0,4-1 0,-2 0 0,-5 2 0,-5 0 0,-4 2 0,-3 1 0,-1 0 0,-1 2 0,-2 2 0,-2 2 0,-3 2 0,-6 2 0,-6 2 0,-2 1 0,3 0 0,2 0 0,6 0 0,2 5 0,-1 5 0,-6 6 0,-11 3 0,-7 0 0,-5 4 0,2 2 0,3 5 0,0 4 0,-3 4 0,0 7 0,-1 12 0,0 13 0,-3 10 0,-4 6 0,-4 6 0,-4 6 0,-8-46 0,-1 1 0,-1 2 0,-1 0 0,-1 2 0,-1 1 0,-1 2 0,-1-1 0,-1 4 0,1-1 0,-1 0 0,1-1 0,1-2 0,2 0 0,2-2 0,2-2 0,1-3 0,2-1 0,3-1 0,0 0 0,15 43 0,2 1 0,-15-44 0,-1 0 0,-1-1 0,0 1 0,-1 0 0,0 1 0,7 43 0,-4-6 0,-4-11 0,-3-11 0,-2-16 0,-3-12 0,-2-13 0,-2-9 0,-2-5 0,-4-6 0,-6-2 0,-6-2 0,-7 0 0,-3 2 0,-7 0 0,-7 0 0,-14-2 0,-14-3 0,-7-3 0,-4-8 0,1-4 0,4-1 0,-3 1 0,-5 4 0,0 1 0,-9 1 0,-2 0 0,3-2 0,0 0 0,7-2 0,2 2 0,0 2 0,1 2 0,1 2 0,3-1 0,4-1 0,4-3 0,-2-1 0,-1 3 0,-2 2 0,-2 5 0,0 3 0,2 3 0,6 4 0,5 5 0,6-1 0,1-3 0,-4-6 0,-1-2 0,-7-2 0,-7-4 0,-1-5 0,-5-4 0,1-1 0,1-1 0,-1 1 0,1 1 0,3 3 0,9 5 0,11 2 0,14 2 0,13 2 0,10 1 0,5 3 0,3 4 0,0 5 0,1 2 0,1 0 0,1-4 0,1-6 0,0-22 0,1-43 0,4 7 0,1-7 0,0-23 0,0-7 0,1 23 0,1-2 0,0-1 0,1-5 0,0 0 0,1 1 0,0 5 0,1 0 0,0 3 0,2-19 0,0 5 0,-2 18 0,0 5 0,-1-13 0,-3 27 0,0 19 0,0-1 0,0-14 0,0-21 0,0-15 0,0 1 0,-3 13 0,-4 19 0,-1 19 0,1 13 0,4-2 0,2-15 0,1-19 0,0-16 0,-2-3 0,-4 14 0,-1 17 0,1 18 0,2 11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7:46:32.881"/>
    </inkml:context>
    <inkml:brush xml:id="br0">
      <inkml:brushProperty name="width" value="0.1" units="cm"/>
      <inkml:brushProperty name="height" value="0.1" units="cm"/>
      <inkml:brushProperty name="color" value="#33CCFF"/>
    </inkml:brush>
  </inkml:definitions>
  <inkml:trace contextRef="#ctx0" brushRef="#br0">44 252 24575,'26'0'0,"10"-4"0,18-6 0,22-9 0,12-4 0,-37 10 0,1 0 0,-2 2 0,0-1 0,46-8 0,-3 0 0,-17 4 0,-7 1 0,-11 2 0,-6 0 0,-1 2 0,0 0 0,4 2 0,-1 1 0,-1 2 0,-6 3 0,-6 2 0,-5 1 0,-6 0 0,-5 0 0,-5 0 0,-5 0 0,-3 3 0,1 5 0,4 11 0,5 14 0,7 17 0,5 12 0,3 6 0,3 6 0,-3-3 0,-4 0 0,-5-4 0,-9-5 0,-5-1 0,-6 1 0,-4 5 0,-3 5 0,-1 3 0,-3-4 0,-4-4 0,-6-10 0,-4-6 0,-4-5 0,-7 4 0,-11 9 0,-14 12 0,-7 6 0,28-39 0,-1 0 0,-34 30 0,5-11 0,9-14 0,10-16 0,8-10 0,5-7 0,1 1 0,3-1 0,3-1 0,1 0 0,-1 0 0,1 2 0,0-2 0,1 0 0,-1-1 0,-4 0 0,-6 2 0,-8 4 0,-9 3 0,-5 2 0,-2-1 0,3-2 0,6-5 0,6-4 0,4-4 0,2-3 0,0 0 0,-1-2 0,-2-2 0,-1-4 0,0-4 0,1-3 0,1-5 0,4-7 0,0-11 0,2-11 0,3-16 0,1-8 0,4-4 0,2-2 0,2 6 0,2-6 0,3-8 0,5-7 0,5-2 0,7 8 0,3 14 0,3 15 0,3 17 0,-2 16 0,-3 11 0,-2 6 0,-1-1 0,1-8 0,4-14 0,1-15 0,0-7 0,-4-1 0,-3 24 0,-3 10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7:46:36.680"/>
    </inkml:context>
    <inkml:brush xml:id="br0">
      <inkml:brushProperty name="width" value="0.1" units="cm"/>
      <inkml:brushProperty name="height" value="0.1" units="cm"/>
      <inkml:brushProperty name="color" value="#33CCFF"/>
    </inkml:brush>
  </inkml:definitions>
  <inkml:trace contextRef="#ctx0" brushRef="#br0">1890 1502 24575,'-12'0'0,"-6"0"0,-9 0 0,-12 0 0,-18 0 0,-15 0 0,-8 0 0,-10 0 0,2 0 0,1 0 0,1 0 0,8-1 0,5-2 0,9-2 0,7 0 0,3 1 0,-1 1 0,-3 0 0,-2-2 0,2-5 0,3-2 0,10-3 0,10-3 0,9-1 0,8-1 0,4-7 0,0-6 0,0-7 0,-3-8 0,-1-4 0,-2-6 0,-5-7 0,-5-15 0,12 34 0,-2-3 0,-1-2 0,-1-1 0,-3-3 0,-1 0 0,0 2 0,0-1 0,1 2 0,1 1 0,2 2 0,2 1 0,-9-34 0,9 18 0,8 21 0,5 16 0,5 14 0,2 6 0,0 3 0,0-3 0,4-7 0,10-9 0,14-7 0,5 3 0,-1 12 0,-9 10 0,-8 9 0,-2 1 0,0 1 0,-1-1 0,3 0 0,2 0 0,4 0 0,4 2 0,3 2 0,3 1 0,2 1 0,2 4 0,6 2 0,4 4 0,5 5 0,-2 0 0,-1 0 0,-3-3 0,-2-1 0,6 3 0,8 2 0,13 5 0,10 2 0,5-2 0,0-4 0,-4-4 0,-7-5 0,-6-4 0,-7-5 0,-8-2 0,-6-3 0,-8-1 0,-6-2 0,-5 0 0,-4-1 0,-3-1 0,-2 0 0,0 0 0,1 1 0,2 0 0,1 1 0,1 1 0,0-2 0,-2 1 0,0-1 0,-4 0 0,-2 0 0,-3 0 0,1 0 0,3 1 0,2 3 0,3 3 0,1 3 0,0 4 0,3 4 0,1 4 0,0 4 0,-2 0 0,-4 0 0,-7-1 0,-4-1 0,-6-1 0,-1 2 0,-3 1 0,-5 7 0,-4 4 0,-7 7 0,-4 6 0,2 0 0,2-1 0,3-7 0,3-10 0,3-7 0,3-8 0,3-5 0,0-5 0,2-2 0,-2-2 0,1 2 0,0 4 0,-1 3 0,-1 1 0,-3 2 0,-2-1 0,-4 2 0,-5 0 0,-7 3 0,-14 6 0,-19 10 0,24-15 0,-3 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7:46:44.351"/>
    </inkml:context>
    <inkml:brush xml:id="br0">
      <inkml:brushProperty name="width" value="0.1" units="cm"/>
      <inkml:brushProperty name="height" value="0.1" units="cm"/>
      <inkml:brushProperty name="color" value="#33CCFF"/>
    </inkml:brush>
  </inkml:definitions>
  <inkml:trace contextRef="#ctx0" brushRef="#br0">1 41 24575,'18'0'0,"4"0"0,5 0 0,9 0 0,5 0 0,5-1 0,2-2 0,0-1 0,-2-2 0,0 1 0,1 1 0,-1-1 0,1 1 0,-1 0 0,-3 2 0,1 0 0,-2 1 0,-1 1 0,1 0 0,-3 0 0,1 0 0,-1 0 0,5 0 0,11 4 0,14 3 0,18 5 0,-36-5 0,3 1 0,3 1 0,1 0 0,1 0 0,0 0 0,-2-1 0,-1 0 0,43 7 0,-14-4 0,-16-2 0,-18-1 0,-16-3 0,-14 0 0,-10-1 0,-4-2 0,-2 1 0,2 0 0,7 3 0,8 2 0,7 2 0,3 2 0,-4 0 0,-3 1 0,-5 1 0,-2 2 0,-1 3 0,2 7 0,4 12 0,4 9 0,0 8 0,-1 2 0,-2-1 0,0 0 0,-2-2 0,0-1 0,-3-5 0,-3-2 0,-1-2 0,-1-2 0,0-2 0,-2-5 0,-2-4 0,-4-4 0,-4-4 0,-2-6 0,0-4 0,0-3 0,0-2 0,-3 0 0,-5 2 0,-8 3 0,-6 1 0,-3 3 0,-2 2 0,-1 1 0,-4-2 0,-4-1 0,-4-3 0,-4-4 0,-1-4 0,-1-2 0,0-4 0,-1 0 0,1 0 0,3-2 0,5-2 0,8-1 0,5-1 0,4 2 0,3 2 0,1 0 0,1 1 0,-2 1 0,-2 0 0,-3 1 0,-3 0 0,-5 3 0,-4 2 0,-3 0 0,-1 0 0,-2-1 0,1-1 0,1-1 0,2-2 0,0 1 0,1-2 0,-2 0 0,-1 0 0,-5 0 0,-6 0 0,-4 0 0,-4 0 0,-1 0 0,2 0 0,0 0 0,1 0 0,0 0 0,-3 0 0,-2 0 0,-1 0 0,0 0 0,1 0 0,4 0 0,2 0 0,3 0 0,6-2 0,5 0 0,7-1 0,9-1 0,7-1 0,7-1 0,5-1 0,3-3 0,2-2 0,1-2 0,0-8 0,-3-16 0,-5-27 0,1 17 0,-1-4 0,0-12 0,-1-3 0,0-8 0,0-2 0,2-1 0,1 2 0,1 5 0,2 2 0,1 9 0,0 4 0,2-29 0,0 27 0,-1 25 0,-1 17 0,-1 10 0,1 5 0,-1 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7:46:47.997"/>
    </inkml:context>
    <inkml:brush xml:id="br0">
      <inkml:brushProperty name="width" value="0.1" units="cm"/>
      <inkml:brushProperty name="height" value="0.1" units="cm"/>
      <inkml:brushProperty name="color" value="#33CCFF"/>
    </inkml:brush>
  </inkml:definitions>
  <inkml:trace contextRef="#ctx0" brushRef="#br0">377 254 24575,'0'44'0,"0"25"0,0-21 0,-2 5 0,0 16 0,-2 5 0,0 6 0,-1 1 0,-1-3 0,1 0 0,0-6 0,0-4 0,2-16 0,0-4 0,-1 23 0,1-24 0,1-20 0,1-11 0,1-7 0,0-3 0,0 3 0,0 2 0,0 4 0,-1 2 0,0-1 0,0-2 0,0-4 0,1-2 0,0 1 0,2 1 0,4 4 0,0 2 0,3-1 0,-1-2 0,3-2 0,5-1 0,7 1 0,11-1 0,10 0 0,10 0 0,3-2 0,1-2 0,-2-3 0,-3-2 0,2-1 0,4 0 0,14-5 0,11-4 0,13-5 0,-46 6 0,0 0 0,45-7 0,-3 2 0,-8 2 0,-4 2 0,-6 1 0,-8 2 0,-3 0 0,4 1 0,8 1 0,7-1 0,7 0 0,1-3 0,-6-4 0,-5 0 0,-17-2 0,-13 3 0,-15 2 0,-12 3 0,-7 2 0,-5 1 0,-5-1 0,-3-2 0,-2-8 0,-1-18 0,-4-25 0,-7-28 0,1 31 0,-1-4 0,-3-7 0,-1-2 0,-1-5 0,0-1 0,1-3 0,-1 1 0,2-1 0,0 2 0,2 5 0,1 3 0,1 7 0,0 3 0,-7-36 0,5 26 0,1 19 0,3 21 0,2 13 0,0 7 0,1 4 0,0 1 0,0 1 0,-1 1 0,-5 2 0,-7 1 0,-10 4 0,-11 2 0,-11 2 0,-13 1 0,-9 1 0,-15 1 0,-2 1 0,-4 1 0,2-1 0,10 0 0,4-1 0,9 0 0,4 0 0,4 0 0,3-4 0,3-3 0,2-4 0,3-3 0,-3-1 0,-6 0 0,-5 0 0,-7 2 0,-4-1 0,2 1 0,0 0 0,5-2 0,4 1 0,5 2 0,6 2 0,3 0 0,4 0 0,2-1 0,5 0 0,3 0 0,1 0 0,1-1 0,0-2 0,5 0 0,6 1 0,8 0 0,7-1 0,5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7:46:51.317"/>
    </inkml:context>
    <inkml:brush xml:id="br0">
      <inkml:brushProperty name="width" value="0.1" units="cm"/>
      <inkml:brushProperty name="height" value="0.1" units="cm"/>
      <inkml:brushProperty name="color" value="#33CCFF"/>
    </inkml:brush>
  </inkml:definitions>
  <inkml:trace contextRef="#ctx0" brushRef="#br0">77 1 24575,'0'28'0,"0"24"0,0-1 0,0 6 0,0 19 0,0 5 0,0 14 0,0 1 0,0 0 0,0-3 0,0-14 0,0-3 0,0-14 0,0-5 0,0 22 0,0-22 0,0-21 0,0-10 0,0-3 0,0-1 0,0-1 0,1 0 0,3-2 0,3-3 0,5-4 0,5-6 0,11-3 0,15-2 0,25-1 0,30-2 0,-34 0 0,4 0 0,13-1 0,4 1 0,10 0 0,3 0-204,-27 1 1,0 0 0,1 2 203,2 0 0,1 1 0,-1 1 0,1 2 0,-1 1 0,0 1 0,0 2 0,-1 2 0,-1 1 0,28 6 0,-4 3 0,-11-2 0,-3 2 0,-13-3 0,-4-1 0,-14-2 0,-5-1 0,23 8 0,-27-7 0,-23-9 0,-12-9 610,-9-14-610,-7-16 0,-7-18 0,-5-21 0,0-14 0,12 34 0,1-3 0,2-7 0,2-3 0,1-5 0,2-3 0,0-5 0,1-1 0,0 3 0,0 0 0,0 7 0,2 3 0,0 9 0,1 5 0,4-24 0,2 25 0,-2 20 0,-2 9 0,0-5 0,0-6 0,1-4 0,0 5 0,-1 8 0,-2 10 0,-3 7 0,-6 3 0,-16 3 0,-25 6 0,-26 4 0,-19 4 0,41-7 0,-2 0 0,-1-2 0,0-1 0,-1-1 0,0-1 0,-2-1 0,-1-1 0,1 0 0,-2 0 0,-2-1 0,-1 0 0,-3 0 0,0 0 0,-4 1 0,0-1 0,4 1 0,1 0 0,4 1 0,2 0 0,5 1 0,2-2 0,-34 0 0,9-1 0,10 0 0,9 1 0,3 1 0,1 1 0,0 5 0,-2 4 0,-4 5 0,1 0 0,-1-3 0,3-6 0,8-3 0,9-3 0,13 0 0,9 0 0,9-1 0,3-2 0,0-3 0,3 2 0,-2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7:48:11.080"/>
    </inkml:context>
    <inkml:brush xml:id="br0">
      <inkml:brushProperty name="width" value="0.1" units="cm"/>
      <inkml:brushProperty name="height" value="0.1" units="cm"/>
      <inkml:brushProperty name="color" value="#33CCFF"/>
    </inkml:brush>
  </inkml:definitions>
  <inkml:trace contextRef="#ctx0" brushRef="#br0">1 0 24575,'0'29'0,"0"22"0,0 35 0,0-20 0,0 5 0,0 14 0,0 5 0,0 9 0,0 1 0,0-32 0,0 0 0,1-2 0,3 26 0,3-3 0,4-10 0,5-4 0,5-10 0,5-6 0,3-9 0,3-5 0,33 25 0,-4-21 0,-10-15 0,-12-10 0,-12-8 0,-9-4 0,-4 0 0,1-1 0,6 3 0,18 0 0,24 4 0,35 1 0,-37-9 0,3-1 0,6 1 0,2-1 0,3 0 0,0 0 0,-7-1 0,-1 0 0,-5 0 0,-3 0 0,-8 0 0,-3-1 0,29 5 0,-11-4 0,-9-4 0,2-4 0,8-9 0,10-13 0,1-13 0,-3-12 0,-1-9 0,-3-7 0,-36 28 0,0-2 0,1-2 0,-1-1 0,-2 0 0,-1-2 0,0-1 0,-1-1 0,-2 1 0,-1-1 0,-2-1 0,-2 0 0,16-44 0,-13 5 0,-10 0 0,-10 8 0,-4-1 0,-6 2 0,-6 3 0,-9 1 0,-5 1 0,-4 5 0,0 7 0,0 9 0,0 9 0,1 8 0,-1 7 0,-2 5 0,-5 4 0,-11 4 0,-15 0 0,-24 4 0,28 5 0,-4 0 0,-15 2 0,-4 2 0,15 2 0,-3 1 0,-2 1-353,-8 1 1,-2 1-1,-1 1 353,-3 1 0,0 1 0,0 0 0,2-1 0,1 1 0,2-1 0,-23 0 0,5-1 0,17-4 0,4 0 0,17-3 0,4 1 0,-23 9 0,37-7 0,19 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B4B262-1B8B-4A4C-819C-0B7118916BFD}" type="datetimeFigureOut">
              <a:t>10/15/26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C66DEC-9F58-194B-86B9-A0870E5C215A}" type="slidenum">
              <a:t>‹#›</a:t>
            </a:fld>
            <a:endParaRPr lang="en-US"/>
          </a:p>
        </p:txBody>
      </p:sp>
    </p:spTree>
    <p:extLst>
      <p:ext uri="{BB962C8B-B14F-4D97-AF65-F5344CB8AC3E}">
        <p14:creationId xmlns:p14="http://schemas.microsoft.com/office/powerpoint/2010/main" val="1526549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60 seconds.</a:t>
            </a:r>
          </a:p>
          <a:p>
            <a:endParaRPr/>
          </a:p>
          <a:p>
            <a:r>
              <a:t>SLIDE 5: TRANSVERSE NORMAL-MODE ATLAS. Row N has N equal masses, N+1 identical pre-tensioned coupling elements, and two fixed endpoints. Column j shows normal mode j, for j=1,...,N. The modal vector is v_i=sin(ij*pi/(N+1)); it is scaled to the same maximum displayed displacement. f_j=1.1*sin(j*pi/(2(N+1))) Hz, so mass and effective segment coupling remain equal across rows and columns. This is the linearized transverse model. Discrete-chain frequencies are generally NOT integer multiples of the lowest frequency. All 21 systems run automatically and simultaneously. The empty upper-right triangle is intentional. Colors identify mode number, not mass identity. Amplitudes are enlarged for visibility.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Fixed-fixed string modes. Video loops while the teacher clicks. Each click reveals one half-wave packet across all modes that contain that packet. Click 1 shows the first half-wave of every mode, click 2 the second half-wave in modes 2-5, etc. This illustrates the teaching cartoon: higher harmonics have more half-wave packets within the same length.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B8844-03B2-FBFD-D412-278F843FF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02DA6-3619-59FE-0F85-C12CB8695F0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5CF25FB-BD66-EC58-26BF-215E24F4E603}"/>
              </a:ext>
            </a:extLst>
          </p:cNvPr>
          <p:cNvSpPr>
            <a:spLocks noGrp="1"/>
          </p:cNvSpPr>
          <p:nvPr>
            <p:ph type="body" sz="quarter" idx="3"/>
          </p:nvPr>
        </p:nvSpPr>
        <p:spPr/>
        <p:txBody>
          <a:bodyPr/>
          <a:lstStyle/>
          <a:p>
            <a:r>
              <a:t>FIXED–FIXED STRING: Physical mode frequencies 100, 200, 300, 400, 500 Hz. Display frequencies are 0.4, 0.8, 1.2, 1.6, 2.0 Hz, uniformly slowed by a factor of 250. The pickup remains x/L=0.17. Modal coefficients are C_j=0.095/abs(sin(j*pi*0.17)), so the five measured displacement peaks have exactly equal amplitude 0.095. The combined field is the exact sum of the five individual modes. These are consecutive harmonics, including both odd and even orders.</a:t>
            </a:r>
          </a:p>
          <a:p>
            <a:endParaRPr/>
          </a:p>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20 seconds.</a:t>
            </a:r>
          </a:p>
        </p:txBody>
      </p:sp>
      <p:sp>
        <p:nvSpPr>
          <p:cNvPr id="4" name="Slide Number Placeholder 3">
            <a:extLst>
              <a:ext uri="{FF2B5EF4-FFF2-40B4-BE49-F238E27FC236}">
                <a16:creationId xmlns:a16="http://schemas.microsoft.com/office/drawing/2014/main" id="{59F2AEFF-A4F2-8798-E643-499FAA2F6C50}"/>
              </a:ext>
            </a:extLst>
          </p:cNvPr>
          <p:cNvSpPr>
            <a:spLocks noGrp="1"/>
          </p:cNvSpPr>
          <p:nvPr>
            <p:ph type="sldNum" sz="quarter" idx="5"/>
          </p:nvPr>
        </p:nvSpPr>
        <p:spPr/>
      </p:sp>
    </p:spTree>
    <p:extLst>
      <p:ext uri="{BB962C8B-B14F-4D97-AF65-F5344CB8AC3E}">
        <p14:creationId xmlns:p14="http://schemas.microsoft.com/office/powerpoint/2010/main" val="643053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MEMBRANE: Illustrative harmonic frequencies 100, 200, 300, 400, 500 Hz are intentionally assigned for teaching, as requested; they are not the natural eigenfrequencies of this rectangular membrane. The animation and mode labels use those same frequencies, uniformly slowed by 250. Modal coefficients are 0.55/abs(phi_mn(pickup)), giving five equal-height measured spectral peaks at the marked point. The aspect ratio Lx/Ly=1.15; shapes are (1,1),(2,1),(1,2),(2,2),(3,1), with phi_mn=sin(m*pi*x/Lx)sin(n*pi*y/Ly). All edges are fixed. The pickup is (x/Lx,y/Ly)=(0.23,0.31). Combined surface is vertically reduced to fit, at 0.057/0.24 of the magnification used in individual panels. The combined field is the exact sum of the five illustrated motions.</a:t>
            </a:r>
          </a:p>
          <a:p>
            <a:endParaRPr/>
          </a:p>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60 seconds.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FIXED–FREE STRING: s=0 at bottom and s=L at top. phi_j(s)=sin((2j-1)*pi*s/(2L)), j=1..4. The displacement vanishes at the bottom; the spatial derivative vanishes at the top, which is a displacement antinode. Frequencies 100,300,500,700 Hz are shown at 0.4,1.2,2.0,2.8 Hz (1/250 speed). Equal modal coefficients give equal spectral peaks for the four-mode mixture measured at the free end. The four panels show the modes separately. The ideal free transverse boundary can be realized by a frictionless sliding endpoint while maintaining tension. These are separately tuned examples: for identical length and wave speed, changing a fixed–fixed string to fixed–free halves its fundamental; setting both examples to 100 Hz implies retuning length or wave speed.</a:t>
            </a:r>
          </a:p>
          <a:p>
            <a:endParaRPr/>
          </a:p>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20 seconds.</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Fixed-free string modes. The bottom is fixed and the top is free. Video loops while the teacher clicks. Each click reveals one quarter-wavelength packet in every mode that contains it. The four modes contain 1, 3, 5, and 7 quarter-wave packets respectively, matching odd harmonics.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once to reveal the schwa formant filter sculpting the source harmonics. Harmonics are 100 Hz apart and extend to 4000 Hz.</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once to reveal the /i/ filtered spectrum. Typical schematic formants shown: low F1 and high F2.</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once to reveal the /a/ filtered spectrum. Typical schematic formants shown: high F1 and lower F2.</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1 maps the spectrum frequency axis to the spectrogram vertical axis. Click 2 maps spectrum amplitude to darkness in the spectrogram.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B033E-B3E4-D8BF-B72B-3F99C8E4EB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FD9EF3-5FE3-C61F-98D6-E8FD88A41F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86192D-F152-FAA0-B4DC-84915309E29C}"/>
              </a:ext>
            </a:extLst>
          </p:cNvPr>
          <p:cNvSpPr>
            <a:spLocks noGrp="1"/>
          </p:cNvSpPr>
          <p:nvPr>
            <p:ph type="dt" sz="half" idx="10"/>
          </p:nvPr>
        </p:nvSpPr>
        <p:spPr/>
        <p:txBody>
          <a:bodyPr/>
          <a:lstStyle/>
          <a:p>
            <a:fld id="{37646F92-438E-6F40-B57C-2225BFA3E3AC}" type="datetimeFigureOut">
              <a:t>10/15/26</a:t>
            </a:fld>
            <a:endParaRPr lang="en-US"/>
          </a:p>
        </p:txBody>
      </p:sp>
      <p:sp>
        <p:nvSpPr>
          <p:cNvPr id="5" name="Footer Placeholder 4">
            <a:extLst>
              <a:ext uri="{FF2B5EF4-FFF2-40B4-BE49-F238E27FC236}">
                <a16:creationId xmlns:a16="http://schemas.microsoft.com/office/drawing/2014/main" id="{5191B1A3-698B-7644-26F4-7E25AAA22C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E689BC-ABA8-801D-6039-2BCAF27375A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505209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D340-2A5D-9FB2-EE63-A5A7BE0440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BCB61D-74C6-3CE1-EB04-9CB162B2CA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CA2CCA-CE9B-F23C-A59D-29C7370D5CB7}"/>
              </a:ext>
            </a:extLst>
          </p:cNvPr>
          <p:cNvSpPr>
            <a:spLocks noGrp="1"/>
          </p:cNvSpPr>
          <p:nvPr>
            <p:ph type="dt" sz="half" idx="10"/>
          </p:nvPr>
        </p:nvSpPr>
        <p:spPr/>
        <p:txBody>
          <a:bodyPr/>
          <a:lstStyle/>
          <a:p>
            <a:fld id="{37646F92-438E-6F40-B57C-2225BFA3E3AC}" type="datetimeFigureOut">
              <a:t>10/15/26</a:t>
            </a:fld>
            <a:endParaRPr lang="en-US"/>
          </a:p>
        </p:txBody>
      </p:sp>
      <p:sp>
        <p:nvSpPr>
          <p:cNvPr id="5" name="Footer Placeholder 4">
            <a:extLst>
              <a:ext uri="{FF2B5EF4-FFF2-40B4-BE49-F238E27FC236}">
                <a16:creationId xmlns:a16="http://schemas.microsoft.com/office/drawing/2014/main" id="{BA7091C1-7A87-2073-0250-B7D55D8B3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1BC2CF-7EB1-F436-0711-D29B9E2CA57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8023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61481-777C-F700-6715-6054DE70F4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9D9CBD-F458-29FA-8E35-4AA82B861F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52357B-2F6B-3B74-1166-DA395732C899}"/>
              </a:ext>
            </a:extLst>
          </p:cNvPr>
          <p:cNvSpPr>
            <a:spLocks noGrp="1"/>
          </p:cNvSpPr>
          <p:nvPr>
            <p:ph type="dt" sz="half" idx="10"/>
          </p:nvPr>
        </p:nvSpPr>
        <p:spPr/>
        <p:txBody>
          <a:bodyPr/>
          <a:lstStyle/>
          <a:p>
            <a:fld id="{37646F92-438E-6F40-B57C-2225BFA3E3AC}" type="datetimeFigureOut">
              <a:t>10/15/26</a:t>
            </a:fld>
            <a:endParaRPr lang="en-US"/>
          </a:p>
        </p:txBody>
      </p:sp>
      <p:sp>
        <p:nvSpPr>
          <p:cNvPr id="5" name="Footer Placeholder 4">
            <a:extLst>
              <a:ext uri="{FF2B5EF4-FFF2-40B4-BE49-F238E27FC236}">
                <a16:creationId xmlns:a16="http://schemas.microsoft.com/office/drawing/2014/main" id="{2076B74B-EF09-9330-B5EF-CD3382F32C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A4A8CE-01F8-FA16-5B9F-2862FEEC538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668722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4AEF-07C2-1ADC-16F8-ABC7717A9F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CE002D-5A6D-9C8C-3421-75B9117A1D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4A8773-94D3-8AB1-FB00-B17AA969BF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0059AB-2836-81D1-C0BE-2E656A19AE9B}"/>
              </a:ext>
            </a:extLst>
          </p:cNvPr>
          <p:cNvSpPr>
            <a:spLocks noGrp="1"/>
          </p:cNvSpPr>
          <p:nvPr>
            <p:ph type="dt" sz="half" idx="10"/>
          </p:nvPr>
        </p:nvSpPr>
        <p:spPr/>
        <p:txBody>
          <a:bodyPr/>
          <a:lstStyle/>
          <a:p>
            <a:fld id="{37646F92-438E-6F40-B57C-2225BFA3E3AC}" type="datetimeFigureOut">
              <a:t>10/15/26</a:t>
            </a:fld>
            <a:endParaRPr lang="en-US"/>
          </a:p>
        </p:txBody>
      </p:sp>
      <p:sp>
        <p:nvSpPr>
          <p:cNvPr id="6" name="Footer Placeholder 5">
            <a:extLst>
              <a:ext uri="{FF2B5EF4-FFF2-40B4-BE49-F238E27FC236}">
                <a16:creationId xmlns:a16="http://schemas.microsoft.com/office/drawing/2014/main" id="{4364C135-8FE2-FA2E-C91D-EE1B1B05DD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1054F4-CE46-86B3-21E3-5B6ABC966BE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196619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38AE6-1C38-FA87-7D05-0817166174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9F5E04-953C-6026-E6B7-CD1557147B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1890B6-7E39-0F59-D422-B34787C22C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9CB19E-1F65-EA6B-1DE7-C4617E2323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3C98FD-BF81-6C18-5296-BCEB361956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92DB79-8863-0DA7-F8E4-229B6561C45C}"/>
              </a:ext>
            </a:extLst>
          </p:cNvPr>
          <p:cNvSpPr>
            <a:spLocks noGrp="1"/>
          </p:cNvSpPr>
          <p:nvPr>
            <p:ph type="dt" sz="half" idx="10"/>
          </p:nvPr>
        </p:nvSpPr>
        <p:spPr/>
        <p:txBody>
          <a:bodyPr/>
          <a:lstStyle/>
          <a:p>
            <a:fld id="{37646F92-438E-6F40-B57C-2225BFA3E3AC}" type="datetimeFigureOut">
              <a:t>10/15/26</a:t>
            </a:fld>
            <a:endParaRPr lang="en-US"/>
          </a:p>
        </p:txBody>
      </p:sp>
      <p:sp>
        <p:nvSpPr>
          <p:cNvPr id="8" name="Footer Placeholder 7">
            <a:extLst>
              <a:ext uri="{FF2B5EF4-FFF2-40B4-BE49-F238E27FC236}">
                <a16:creationId xmlns:a16="http://schemas.microsoft.com/office/drawing/2014/main" id="{8612CC33-1C75-C6A3-8803-22C0B52CB4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9EE189-3744-D268-6860-5C0D0810630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4202841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E1F1-7BAE-6DF2-0597-710BB17502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C64002-DECD-1DD5-370C-36935B736486}"/>
              </a:ext>
            </a:extLst>
          </p:cNvPr>
          <p:cNvSpPr>
            <a:spLocks noGrp="1"/>
          </p:cNvSpPr>
          <p:nvPr>
            <p:ph type="dt" sz="half" idx="10"/>
          </p:nvPr>
        </p:nvSpPr>
        <p:spPr/>
        <p:txBody>
          <a:bodyPr/>
          <a:lstStyle/>
          <a:p>
            <a:fld id="{37646F92-438E-6F40-B57C-2225BFA3E3AC}" type="datetimeFigureOut">
              <a:t>10/15/26</a:t>
            </a:fld>
            <a:endParaRPr lang="en-US"/>
          </a:p>
        </p:txBody>
      </p:sp>
      <p:sp>
        <p:nvSpPr>
          <p:cNvPr id="4" name="Footer Placeholder 3">
            <a:extLst>
              <a:ext uri="{FF2B5EF4-FFF2-40B4-BE49-F238E27FC236}">
                <a16:creationId xmlns:a16="http://schemas.microsoft.com/office/drawing/2014/main" id="{428C536A-1252-F499-406F-883794863F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22F046-1AC9-B7E5-7053-BFA9C3480092}"/>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66145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08825C-C265-5CAB-7AC0-23439495E732}"/>
              </a:ext>
            </a:extLst>
          </p:cNvPr>
          <p:cNvSpPr>
            <a:spLocks noGrp="1"/>
          </p:cNvSpPr>
          <p:nvPr>
            <p:ph type="dt" sz="half" idx="10"/>
          </p:nvPr>
        </p:nvSpPr>
        <p:spPr/>
        <p:txBody>
          <a:bodyPr/>
          <a:lstStyle/>
          <a:p>
            <a:fld id="{37646F92-438E-6F40-B57C-2225BFA3E3AC}" type="datetimeFigureOut">
              <a:t>10/15/26</a:t>
            </a:fld>
            <a:endParaRPr lang="en-US"/>
          </a:p>
        </p:txBody>
      </p:sp>
      <p:sp>
        <p:nvSpPr>
          <p:cNvPr id="3" name="Footer Placeholder 2">
            <a:extLst>
              <a:ext uri="{FF2B5EF4-FFF2-40B4-BE49-F238E27FC236}">
                <a16:creationId xmlns:a16="http://schemas.microsoft.com/office/drawing/2014/main" id="{179341E9-CE1B-FFF8-0DFF-7374EA2A16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4EB226-0556-2DD2-A2F4-E84E8F99B64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96573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E27F-0FE7-B99E-99CA-715FE1B10C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1A9ADE-C28A-1C3D-D71D-F439E74F8A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A4577-3B61-9617-C828-92398BAF7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BA225C-6E8F-3199-5A3B-C315D2BA567E}"/>
              </a:ext>
            </a:extLst>
          </p:cNvPr>
          <p:cNvSpPr>
            <a:spLocks noGrp="1"/>
          </p:cNvSpPr>
          <p:nvPr>
            <p:ph type="dt" sz="half" idx="10"/>
          </p:nvPr>
        </p:nvSpPr>
        <p:spPr/>
        <p:txBody>
          <a:bodyPr/>
          <a:lstStyle/>
          <a:p>
            <a:fld id="{37646F92-438E-6F40-B57C-2225BFA3E3AC}" type="datetimeFigureOut">
              <a:t>10/15/26</a:t>
            </a:fld>
            <a:endParaRPr lang="en-US"/>
          </a:p>
        </p:txBody>
      </p:sp>
      <p:sp>
        <p:nvSpPr>
          <p:cNvPr id="6" name="Footer Placeholder 5">
            <a:extLst>
              <a:ext uri="{FF2B5EF4-FFF2-40B4-BE49-F238E27FC236}">
                <a16:creationId xmlns:a16="http://schemas.microsoft.com/office/drawing/2014/main" id="{ABF5E875-97F1-4B2A-5AC0-2708F95A8F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9913F0-2055-E8BD-7B35-7E894E49B2C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399518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786A4-D083-E51D-7524-E16AB0944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09D880-38EE-237D-3B88-94692F1002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3C8615-1F31-7C21-7C9F-42E9CAF533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A19CCF-F8C3-71E1-3349-C5899E5CF156}"/>
              </a:ext>
            </a:extLst>
          </p:cNvPr>
          <p:cNvSpPr>
            <a:spLocks noGrp="1"/>
          </p:cNvSpPr>
          <p:nvPr>
            <p:ph type="dt" sz="half" idx="10"/>
          </p:nvPr>
        </p:nvSpPr>
        <p:spPr/>
        <p:txBody>
          <a:bodyPr/>
          <a:lstStyle/>
          <a:p>
            <a:fld id="{37646F92-438E-6F40-B57C-2225BFA3E3AC}" type="datetimeFigureOut">
              <a:t>10/15/26</a:t>
            </a:fld>
            <a:endParaRPr lang="en-US"/>
          </a:p>
        </p:txBody>
      </p:sp>
      <p:sp>
        <p:nvSpPr>
          <p:cNvPr id="6" name="Footer Placeholder 5">
            <a:extLst>
              <a:ext uri="{FF2B5EF4-FFF2-40B4-BE49-F238E27FC236}">
                <a16:creationId xmlns:a16="http://schemas.microsoft.com/office/drawing/2014/main" id="{3B00CE98-EA24-C4F2-2E03-187AED28F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80172-B8E6-505C-52B3-AE108F4AA2C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27392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C4F2-4109-BD4B-6D8C-A57D0513AC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57E555-8D2E-C3F2-9CA2-43C5006F1E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D83CD-08CA-0D74-7CDD-56087C9B77FB}"/>
              </a:ext>
            </a:extLst>
          </p:cNvPr>
          <p:cNvSpPr>
            <a:spLocks noGrp="1"/>
          </p:cNvSpPr>
          <p:nvPr>
            <p:ph type="dt" sz="half" idx="10"/>
          </p:nvPr>
        </p:nvSpPr>
        <p:spPr/>
        <p:txBody>
          <a:bodyPr/>
          <a:lstStyle/>
          <a:p>
            <a:fld id="{37646F92-438E-6F40-B57C-2225BFA3E3AC}" type="datetimeFigureOut">
              <a:t>10/15/26</a:t>
            </a:fld>
            <a:endParaRPr lang="en-US"/>
          </a:p>
        </p:txBody>
      </p:sp>
      <p:sp>
        <p:nvSpPr>
          <p:cNvPr id="5" name="Footer Placeholder 4">
            <a:extLst>
              <a:ext uri="{FF2B5EF4-FFF2-40B4-BE49-F238E27FC236}">
                <a16:creationId xmlns:a16="http://schemas.microsoft.com/office/drawing/2014/main" id="{EB06D11C-63FE-4B11-B038-2FE264562A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5DCBD-EC9E-3896-73AC-1D10CD39318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76175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5FED0E-7240-2A07-6730-FCED2E24E2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0051B0-D11C-F6BC-941E-5F6EA59DD7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58A2D8-5FF9-4174-9DEA-697BE8BEE516}"/>
              </a:ext>
            </a:extLst>
          </p:cNvPr>
          <p:cNvSpPr>
            <a:spLocks noGrp="1"/>
          </p:cNvSpPr>
          <p:nvPr>
            <p:ph type="dt" sz="half" idx="10"/>
          </p:nvPr>
        </p:nvSpPr>
        <p:spPr/>
        <p:txBody>
          <a:bodyPr/>
          <a:lstStyle/>
          <a:p>
            <a:fld id="{37646F92-438E-6F40-B57C-2225BFA3E3AC}" type="datetimeFigureOut">
              <a:t>10/15/26</a:t>
            </a:fld>
            <a:endParaRPr lang="en-US"/>
          </a:p>
        </p:txBody>
      </p:sp>
      <p:sp>
        <p:nvSpPr>
          <p:cNvPr id="5" name="Footer Placeholder 4">
            <a:extLst>
              <a:ext uri="{FF2B5EF4-FFF2-40B4-BE49-F238E27FC236}">
                <a16:creationId xmlns:a16="http://schemas.microsoft.com/office/drawing/2014/main" id="{B0EFEC65-256E-FCF4-185C-ED1C944759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277BC-7B02-B700-CCD6-342F9BF435C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3141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952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FF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9B67B5-93D6-11CF-76A0-070C5F42A4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0E95ED-9CA4-E2D1-3B66-C39D94808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F15462-D29C-2E3A-787F-43D9CCDE42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646F92-438E-6F40-B57C-2225BFA3E3AC}" type="datetimeFigureOut">
              <a:t>10/15/26</a:t>
            </a:fld>
            <a:endParaRPr lang="en-US"/>
          </a:p>
        </p:txBody>
      </p:sp>
      <p:sp>
        <p:nvSpPr>
          <p:cNvPr id="5" name="Footer Placeholder 4">
            <a:extLst>
              <a:ext uri="{FF2B5EF4-FFF2-40B4-BE49-F238E27FC236}">
                <a16:creationId xmlns:a16="http://schemas.microsoft.com/office/drawing/2014/main" id="{9E8167E5-E6D2-5D53-ED01-171102C405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BB2A63-327D-25E4-F362-1FC7B3E17D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837906-23E7-C341-9F29-2E2CC23DE015}" type="slidenum">
              <a:t>‹#›</a:t>
            </a:fld>
            <a:endParaRPr lang="en-US"/>
          </a:p>
        </p:txBody>
      </p:sp>
    </p:spTree>
    <p:extLst>
      <p:ext uri="{BB962C8B-B14F-4D97-AF65-F5344CB8AC3E}">
        <p14:creationId xmlns:p14="http://schemas.microsoft.com/office/powerpoint/2010/main" val="3519594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2.xml"/><Relationship Id="rId7" Type="http://schemas.openxmlformats.org/officeDocument/2006/relationships/image" Target="../media/image4.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notesSlide" Target="../notesSlides/notesSlide2.xml"/><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8.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9.png"/><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15.png"/><Relationship Id="rId18" Type="http://schemas.openxmlformats.org/officeDocument/2006/relationships/customXml" Target="../ink/ink7.xml"/><Relationship Id="rId3" Type="http://schemas.openxmlformats.org/officeDocument/2006/relationships/slideLayout" Target="../slideLayouts/slideLayout7.xml"/><Relationship Id="rId21" Type="http://schemas.openxmlformats.org/officeDocument/2006/relationships/image" Target="../media/image19.png"/><Relationship Id="rId7" Type="http://schemas.openxmlformats.org/officeDocument/2006/relationships/image" Target="../media/image12.png"/><Relationship Id="rId12" Type="http://schemas.openxmlformats.org/officeDocument/2006/relationships/customXml" Target="../ink/ink4.xml"/><Relationship Id="rId17" Type="http://schemas.openxmlformats.org/officeDocument/2006/relationships/image" Target="../media/image17.png"/><Relationship Id="rId2" Type="http://schemas.openxmlformats.org/officeDocument/2006/relationships/video" Target="../media/media5.mp4"/><Relationship Id="rId16" Type="http://schemas.openxmlformats.org/officeDocument/2006/relationships/customXml" Target="../ink/ink6.xml"/><Relationship Id="rId20" Type="http://schemas.openxmlformats.org/officeDocument/2006/relationships/customXml" Target="../ink/ink8.xml"/><Relationship Id="rId1" Type="http://schemas.microsoft.com/office/2007/relationships/media" Target="../media/media5.mp4"/><Relationship Id="rId6" Type="http://schemas.openxmlformats.org/officeDocument/2006/relationships/customXml" Target="../ink/ink1.xml"/><Relationship Id="rId11" Type="http://schemas.openxmlformats.org/officeDocument/2006/relationships/image" Target="../media/image14.png"/><Relationship Id="rId5" Type="http://schemas.openxmlformats.org/officeDocument/2006/relationships/image" Target="../media/image10.png"/><Relationship Id="rId15" Type="http://schemas.openxmlformats.org/officeDocument/2006/relationships/image" Target="../media/image16.png"/><Relationship Id="rId10" Type="http://schemas.openxmlformats.org/officeDocument/2006/relationships/customXml" Target="../ink/ink3.xml"/><Relationship Id="rId19" Type="http://schemas.openxmlformats.org/officeDocument/2006/relationships/image" Target="../media/image18.png"/><Relationship Id="rId4" Type="http://schemas.openxmlformats.org/officeDocument/2006/relationships/notesSlide" Target="../notesSlides/notesSlide5.xml"/><Relationship Id="rId9" Type="http://schemas.openxmlformats.org/officeDocument/2006/relationships/image" Target="../media/image13.png"/><Relationship Id="rId14" Type="http://schemas.openxmlformats.org/officeDocument/2006/relationships/customXml" Target="../ink/ink5.xml"/></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slideLayout" Target="../slideLayouts/slideLayout12.xml"/><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1.png"/><Relationship Id="rId10" Type="http://schemas.openxmlformats.org/officeDocument/2006/relationships/image" Target="../media/image24.png"/><Relationship Id="rId4" Type="http://schemas.openxmlformats.org/officeDocument/2006/relationships/notesSlide" Target="../notesSlides/notesSlide6.xml"/><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7.mp4"/><Relationship Id="rId1" Type="http://schemas.microsoft.com/office/2007/relationships/media" Target="../media/media7.mp4"/><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8.mp4"/><Relationship Id="rId1" Type="http://schemas.microsoft.com/office/2007/relationships/media" Target="../media/media8.mp4"/><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8.mp4"/><Relationship Id="rId1" Type="http://schemas.microsoft.com/office/2007/relationships/media" Target="../media/media8.mp4"/><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7.mp4"/><Relationship Id="rId1" Type="http://schemas.microsoft.com/office/2007/relationships/media" Target="../media/media7.mp4"/><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9.mp4"/><Relationship Id="rId1" Type="http://schemas.microsoft.com/office/2007/relationships/media" Target="../media/media9.mp4"/><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0.mp4"/><Relationship Id="rId1" Type="http://schemas.microsoft.com/office/2007/relationships/media" Target="../media/media10.mp4"/><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1.mp4"/><Relationship Id="rId1" Type="http://schemas.microsoft.com/office/2007/relationships/media" Target="../media/media11.mp4"/><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8.mp4"/><Relationship Id="rId1" Type="http://schemas.microsoft.com/office/2007/relationships/media" Target="../media/media8.mp4"/><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7.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3E54E-FC70-7D3C-FB87-2A4422261FA4}"/>
              </a:ext>
            </a:extLst>
          </p:cNvPr>
          <p:cNvSpPr>
            <a:spLocks noGrp="1"/>
          </p:cNvSpPr>
          <p:nvPr>
            <p:ph type="ctrTitle"/>
          </p:nvPr>
        </p:nvSpPr>
        <p:spPr>
          <a:xfrm>
            <a:off x="1524000" y="1831023"/>
            <a:ext cx="9144000" cy="2387600"/>
          </a:xfrm>
        </p:spPr>
        <p:txBody>
          <a:bodyPr>
            <a:normAutofit fontScale="90000"/>
          </a:bodyPr>
          <a:lstStyle/>
          <a:p>
            <a:r>
              <a:rPr lang="en-US" sz="4400"/>
              <a:t>Ling 285</a:t>
            </a:r>
            <a:br>
              <a:rPr lang="en-US" sz="4400"/>
            </a:br>
            <a:r>
              <a:rPr lang="en-US" sz="4400"/>
              <a:t>Human Language and Technology</a:t>
            </a:r>
            <a:br>
              <a:rPr lang="en-US" sz="4400"/>
            </a:br>
            <a:r>
              <a:rPr lang="en-US" sz="4400"/>
              <a:t>Lecture 13</a:t>
            </a:r>
            <a:br>
              <a:rPr lang="en-US" sz="4400"/>
            </a:br>
            <a:br>
              <a:rPr lang="en-US" sz="4400"/>
            </a:br>
            <a:r>
              <a:rPr lang="en-US" sz="4400"/>
              <a:t>Masses and Springs</a:t>
            </a:r>
            <a:br>
              <a:rPr lang="en-US" sz="4400"/>
            </a:br>
            <a:r>
              <a:rPr lang="en-US" sz="4400"/>
              <a:t>in Speech Production</a:t>
            </a:r>
            <a:br>
              <a:rPr lang="en-US" sz="4400"/>
            </a:br>
            <a:endParaRPr lang="en-US" sz="4400"/>
          </a:p>
        </p:txBody>
      </p:sp>
      <p:sp>
        <p:nvSpPr>
          <p:cNvPr id="3" name="Subtitle 2">
            <a:extLst>
              <a:ext uri="{FF2B5EF4-FFF2-40B4-BE49-F238E27FC236}">
                <a16:creationId xmlns:a16="http://schemas.microsoft.com/office/drawing/2014/main" id="{117E1F82-DB91-1E57-EE5B-ECA1A523FBD4}"/>
              </a:ext>
            </a:extLst>
          </p:cNvPr>
          <p:cNvSpPr>
            <a:spLocks noGrp="1"/>
          </p:cNvSpPr>
          <p:nvPr>
            <p:ph type="subTitle" idx="1"/>
          </p:nvPr>
        </p:nvSpPr>
        <p:spPr>
          <a:xfrm>
            <a:off x="1409700" y="4459288"/>
            <a:ext cx="9144000" cy="1655762"/>
          </a:xfrm>
        </p:spPr>
        <p:txBody>
          <a:bodyPr/>
          <a:lstStyle/>
          <a:p>
            <a:r>
              <a:rPr lang="en-US"/>
              <a:t>Khalil Iskarous</a:t>
            </a:r>
          </a:p>
          <a:p>
            <a:r>
              <a:rPr lang="en-US"/>
              <a:t>Department of Linguistics</a:t>
            </a:r>
          </a:p>
          <a:p>
            <a:r>
              <a:rPr lang="en-US"/>
              <a:t>University of Southern California</a:t>
            </a:r>
          </a:p>
        </p:txBody>
      </p:sp>
    </p:spTree>
    <p:extLst>
      <p:ext uri="{BB962C8B-B14F-4D97-AF65-F5344CB8AC3E}">
        <p14:creationId xmlns:p14="http://schemas.microsoft.com/office/powerpoint/2010/main" val="1581519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5A47A-3A25-E21F-1D60-C003FB827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7649F-F3C8-1D1D-3B6B-30BEBBDCEFF5}"/>
              </a:ext>
            </a:extLst>
          </p:cNvPr>
          <p:cNvSpPr>
            <a:spLocks noGrp="1"/>
          </p:cNvSpPr>
          <p:nvPr>
            <p:ph type="title"/>
          </p:nvPr>
        </p:nvSpPr>
        <p:spPr>
          <a:xfrm>
            <a:off x="518160" y="353758"/>
            <a:ext cx="10515600" cy="1325563"/>
          </a:xfrm>
        </p:spPr>
        <p:txBody>
          <a:bodyPr/>
          <a:lstStyle/>
          <a:p>
            <a:r>
              <a:rPr lang="en-US"/>
              <a:t>Principles of Mass-Spring Systems</a:t>
            </a:r>
          </a:p>
        </p:txBody>
      </p:sp>
      <p:sp>
        <p:nvSpPr>
          <p:cNvPr id="3" name="Content Placeholder 2">
            <a:extLst>
              <a:ext uri="{FF2B5EF4-FFF2-40B4-BE49-F238E27FC236}">
                <a16:creationId xmlns:a16="http://schemas.microsoft.com/office/drawing/2014/main" id="{EFDD707F-E533-41B8-E38A-CF9B589FF351}"/>
              </a:ext>
            </a:extLst>
          </p:cNvPr>
          <p:cNvSpPr>
            <a:spLocks noGrp="1"/>
          </p:cNvSpPr>
          <p:nvPr>
            <p:ph idx="1"/>
          </p:nvPr>
        </p:nvSpPr>
        <p:spPr>
          <a:xfrm>
            <a:off x="838200" y="1825625"/>
            <a:ext cx="10195560" cy="4351338"/>
          </a:xfrm>
        </p:spPr>
        <p:txBody>
          <a:bodyPr>
            <a:normAutofit fontScale="62500" lnSpcReduction="20000"/>
          </a:bodyPr>
          <a:lstStyle/>
          <a:p>
            <a:pPr marL="0" indent="0">
              <a:buNone/>
            </a:pPr>
            <a:endParaRPr lang="en-US" sz="3400"/>
          </a:p>
          <a:p>
            <a:pPr marL="514350" indent="-514350">
              <a:buFont typeface="+mj-lt"/>
              <a:buAutoNum type="arabicPeriod"/>
            </a:pPr>
            <a:endParaRPr lang="en-US" sz="3400"/>
          </a:p>
          <a:p>
            <a:pPr marL="514350" indent="-514350">
              <a:buFont typeface="+mj-lt"/>
              <a:buAutoNum type="arabicPeriod"/>
            </a:pPr>
            <a:r>
              <a:rPr lang="en-US" sz="3400"/>
              <a:t>Mass ↑ Frequency↓, Stiffness ↑ Frequency ↑</a:t>
            </a:r>
          </a:p>
          <a:p>
            <a:pPr marL="514350" indent="-514350">
              <a:buFont typeface="+mj-lt"/>
              <a:buAutoNum type="arabicPeriod"/>
            </a:pPr>
            <a:r>
              <a:rPr lang="en-US" sz="3400"/>
              <a:t>An n-mass system has n modes of vibration, each with a higher frequency</a:t>
            </a:r>
          </a:p>
          <a:p>
            <a:pPr marL="514350" indent="-514350">
              <a:buFont typeface="+mj-lt"/>
              <a:buAutoNum type="arabicPeriod"/>
            </a:pPr>
            <a:r>
              <a:rPr lang="en-US" sz="3400"/>
              <a:t>An m’s increase lowers frequency proportionally to how much the mass moves, which depends on where it is! </a:t>
            </a:r>
          </a:p>
          <a:p>
            <a:pPr marL="514350" indent="-514350">
              <a:buFont typeface="+mj-lt"/>
              <a:buAutoNum type="arabicPeriod"/>
            </a:pPr>
            <a:r>
              <a:rPr lang="en-US" sz="3400"/>
              <a:t>A k’s increase raises frequency proportionally to how much the spring stretches/compresses, which depends on where it is!</a:t>
            </a:r>
          </a:p>
          <a:p>
            <a:pPr marL="514350" indent="-514350">
              <a:buFont typeface="+mj-lt"/>
              <a:buAutoNum type="arabicPeriod"/>
            </a:pPr>
            <a:r>
              <a:rPr lang="en-US" sz="3400"/>
              <a:t>Where there’s maximal movement, there’s no stretching, An where there’s maximal stretching, there’s no movement!</a:t>
            </a:r>
          </a:p>
          <a:p>
            <a:pPr marL="514350" indent="-514350">
              <a:buFont typeface="+mj-lt"/>
              <a:buAutoNum type="arabicPeriod"/>
            </a:pPr>
            <a:r>
              <a:rPr lang="en-US" sz="3400"/>
              <a:t>In a Fixed-Fixed System, the </a:t>
            </a:r>
            <a:r>
              <a:rPr lang="en-US" sz="3400" i="1"/>
              <a:t>harmonics</a:t>
            </a:r>
            <a:r>
              <a:rPr lang="en-US" sz="3400"/>
              <a:t> are multiples of the base frequency, because the base mode fits n-times into each successive mode</a:t>
            </a:r>
          </a:p>
          <a:p>
            <a:pPr marL="514350" indent="-514350">
              <a:buFont typeface="+mj-lt"/>
              <a:buAutoNum type="arabicPeriod"/>
            </a:pPr>
            <a:r>
              <a:rPr lang="en-US" sz="3400"/>
              <a:t>In a Fixed-Free System, the </a:t>
            </a:r>
            <a:r>
              <a:rPr lang="en-US" sz="3400" i="1"/>
              <a:t>formants</a:t>
            </a:r>
            <a:r>
              <a:rPr lang="en-US" sz="3400"/>
              <a:t> are odd multiples of the base frequency, because the base mode fits an odd n-times into each successive mode</a:t>
            </a:r>
          </a:p>
          <a:p>
            <a:pPr marL="514350" indent="-514350">
              <a:buFont typeface="+mj-lt"/>
              <a:buAutoNum type="arabicPeriod"/>
            </a:pPr>
            <a:endParaRPr lang="en-US" sz="3400"/>
          </a:p>
        </p:txBody>
      </p:sp>
    </p:spTree>
    <p:extLst>
      <p:ext uri="{BB962C8B-B14F-4D97-AF65-F5344CB8AC3E}">
        <p14:creationId xmlns:p14="http://schemas.microsoft.com/office/powerpoint/2010/main" val="4040540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5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OVIE_fixed_fixed">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pic>
        <p:nvPicPr>
          <p:cNvPr id="3" name="REVEAL_HALF_1" descr="/mnt/data/mode_slides_assets/ff_half_1.png"/>
          <p:cNvPicPr>
            <a:picLocks noChangeAspect="1"/>
          </p:cNvPicPr>
          <p:nvPr/>
        </p:nvPicPr>
        <p:blipFill>
          <a:blip r:embed="rId6"/>
          <a:stretch>
            <a:fillRect/>
          </a:stretch>
        </p:blipFill>
        <p:spPr>
          <a:xfrm>
            <a:off x="0" y="0"/>
            <a:ext cx="12191695" cy="6858000"/>
          </a:xfrm>
          <a:prstGeom prst="rect">
            <a:avLst/>
          </a:prstGeom>
        </p:spPr>
      </p:pic>
      <p:pic>
        <p:nvPicPr>
          <p:cNvPr id="4" name="REVEAL_HALF_2" descr="/mnt/data/mode_slides_assets/ff_half_2.png"/>
          <p:cNvPicPr>
            <a:picLocks noChangeAspect="1"/>
          </p:cNvPicPr>
          <p:nvPr/>
        </p:nvPicPr>
        <p:blipFill>
          <a:blip r:embed="rId7"/>
          <a:stretch>
            <a:fillRect/>
          </a:stretch>
        </p:blipFill>
        <p:spPr>
          <a:xfrm>
            <a:off x="0" y="0"/>
            <a:ext cx="12191695" cy="6858000"/>
          </a:xfrm>
          <a:prstGeom prst="rect">
            <a:avLst/>
          </a:prstGeom>
        </p:spPr>
      </p:pic>
      <p:pic>
        <p:nvPicPr>
          <p:cNvPr id="5" name="REVEAL_HALF_3" descr="/mnt/data/mode_slides_assets/ff_half_3.png"/>
          <p:cNvPicPr>
            <a:picLocks noChangeAspect="1"/>
          </p:cNvPicPr>
          <p:nvPr/>
        </p:nvPicPr>
        <p:blipFill>
          <a:blip r:embed="rId8"/>
          <a:stretch>
            <a:fillRect/>
          </a:stretch>
        </p:blipFill>
        <p:spPr>
          <a:xfrm>
            <a:off x="0" y="0"/>
            <a:ext cx="12191695" cy="6858000"/>
          </a:xfrm>
          <a:prstGeom prst="rect">
            <a:avLst/>
          </a:prstGeom>
        </p:spPr>
      </p:pic>
      <p:pic>
        <p:nvPicPr>
          <p:cNvPr id="6" name="REVEAL_HALF_4" descr="/mnt/data/mode_slides_assets/ff_half_4.png"/>
          <p:cNvPicPr>
            <a:picLocks noChangeAspect="1"/>
          </p:cNvPicPr>
          <p:nvPr/>
        </p:nvPicPr>
        <p:blipFill>
          <a:blip r:embed="rId9"/>
          <a:stretch>
            <a:fillRect/>
          </a:stretch>
        </p:blipFill>
        <p:spPr>
          <a:xfrm>
            <a:off x="0" y="0"/>
            <a:ext cx="12191695" cy="6858000"/>
          </a:xfrm>
          <a:prstGeom prst="rect">
            <a:avLst/>
          </a:prstGeom>
        </p:spPr>
      </p:pic>
      <p:pic>
        <p:nvPicPr>
          <p:cNvPr id="7" name="REVEAL_HALF_5" descr="/mnt/data/mode_slides_assets/ff_half_5.png"/>
          <p:cNvPicPr>
            <a:picLocks noChangeAspect="1"/>
          </p:cNvPicPr>
          <p:nvPr/>
        </p:nvPicPr>
        <p:blipFill>
          <a:blip r:embed="rId10"/>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mediacall" presetSubtype="0" fill="hold" nodeType="afterEffect">
                            <p:stCondLst>
                              <p:cond delay="0"/>
                            </p:stCondLst>
                            <p:childTnLst>
                              <p:cmd type="call" cmd="playFrom(0.0)">
                                <p:cBhvr>
                                  <p:cTn id="5" dur="1" fill="hold"/>
                                  <p:tgtEl>
                                    <p:spTgt spid="2"/>
                                  </p:tgtEl>
                                </p:cBhvr>
                              </p:cmd>
                            </p:childTnLst>
                          </p:cTn>
                        </p:par>
                      </p:childTnLst>
                    </p:cTn>
                  </p:par>
                  <p:par>
                    <p:cTn id="6" fill="hold">
                      <p:stCondLst>
                        <p:cond delay="indefinite"/>
                      </p:stCondLst>
                      <p:childTnLst>
                        <p:par>
                          <p:cTn id="7" presetID="1" presetClass="entr" presetSubtype="0" fill="hold" nodeType="clickEffect">
                            <p:stCondLst>
                              <p:cond delay="0"/>
                            </p:stCondLst>
                            <p:childTnLst>
                              <p:animEffect transition="in" filter="fade">
                                <p:cBhvr>
                                  <p:cTn id="8" dur="350" fill="hold"/>
                                  <p:tgtEl>
                                    <p:spTgt spid="3"/>
                                  </p:tgtEl>
                                </p:cBhvr>
                              </p:animEffect>
                            </p:childTnLst>
                          </p:cTn>
                        </p:par>
                      </p:childTnLst>
                    </p:cTn>
                  </p:par>
                  <p:par>
                    <p:cTn id="9" fill="hold">
                      <p:stCondLst>
                        <p:cond delay="indefinite"/>
                      </p:stCondLst>
                      <p:childTnLst>
                        <p:par>
                          <p:cTn id="10" presetID="1" presetClass="entr" presetSubtype="0" fill="hold" nodeType="clickEffect">
                            <p:stCondLst>
                              <p:cond delay="0"/>
                            </p:stCondLst>
                            <p:childTnLst>
                              <p:animEffect transition="in" filter="fade">
                                <p:cBhvr>
                                  <p:cTn id="11" dur="350" fill="hold"/>
                                  <p:tgtEl>
                                    <p:spTgt spid="4"/>
                                  </p:tgtEl>
                                </p:cBhvr>
                              </p:animEffect>
                            </p:childTnLst>
                          </p:cTn>
                        </p:par>
                      </p:childTnLst>
                    </p:cTn>
                  </p:par>
                  <p:par>
                    <p:cTn id="12" fill="hold">
                      <p:stCondLst>
                        <p:cond delay="indefinite"/>
                      </p:stCondLst>
                      <p:childTnLst>
                        <p:par>
                          <p:cTn id="13" presetID="1" presetClass="entr" presetSubtype="0" fill="hold" nodeType="clickEffect">
                            <p:stCondLst>
                              <p:cond delay="0"/>
                            </p:stCondLst>
                            <p:childTnLst>
                              <p:animEffect transition="in" filter="fade">
                                <p:cBhvr>
                                  <p:cTn id="14" dur="350" fill="hold"/>
                                  <p:tgtEl>
                                    <p:spTgt spid="5"/>
                                  </p:tgtEl>
                                </p:cBhvr>
                              </p:animEffect>
                            </p:childTnLst>
                          </p:cTn>
                        </p:par>
                      </p:childTnLst>
                    </p:cTn>
                  </p:par>
                  <p:par>
                    <p:cTn id="15" fill="hold">
                      <p:stCondLst>
                        <p:cond delay="indefinite"/>
                      </p:stCondLst>
                      <p:childTnLst>
                        <p:par>
                          <p:cTn id="16" presetID="1" presetClass="entr" presetSubtype="0" fill="hold" nodeType="clickEffect">
                            <p:stCondLst>
                              <p:cond delay="0"/>
                            </p:stCondLst>
                            <p:childTnLst>
                              <p:animEffect transition="in" filter="fade">
                                <p:cBhvr>
                                  <p:cTn id="17" dur="350" fill="hold"/>
                                  <p:tgtEl>
                                    <p:spTgt spid="6"/>
                                  </p:tgtEl>
                                </p:cBhvr>
                              </p:animEffect>
                            </p:childTnLst>
                          </p:cTn>
                        </p:par>
                      </p:childTnLst>
                    </p:cTn>
                  </p:par>
                  <p:par>
                    <p:cTn id="18" fill="hold">
                      <p:stCondLst>
                        <p:cond delay="indefinite"/>
                      </p:stCondLst>
                      <p:childTnLst>
                        <p:par>
                          <p:cTn id="19" presetID="1" presetClass="entr" presetSubtype="0" fill="hold" nodeType="clickEffect">
                            <p:stCondLst>
                              <p:cond delay="0"/>
                            </p:stCondLst>
                            <p:childTnLst>
                              <p:animEffect transition="in" filter="fade">
                                <p:cBhvr>
                                  <p:cTn id="20" dur="350" fill="hold"/>
                                  <p:tgtEl>
                                    <p:spTgt spid="7"/>
                                  </p:tgtEl>
                                </p:cBhvr>
                              </p:animEffect>
                            </p:childTnLst>
                          </p:cTn>
                        </p:par>
                      </p:childTnLst>
                    </p:cTn>
                  </p:par>
                </p:childTnLst>
              </p:cTn>
              <p:prevCondLst>
                <p:cond evt="onPrev" delay="0">
                  <p:tgtEl>
                    <p:sldTgt/>
                  </p:tgtEl>
                </p:cond>
              </p:prevCondLst>
              <p:nextCondLst>
                <p:cond evt="onNext" delay="0">
                  <p:tgtEl>
                    <p:sldTgt/>
                  </p:tgtEl>
                </p:cond>
              </p:nextCondLst>
            </p:seq>
            <p:video>
              <p:cMediaNode vol="0" mute="1">
                <p:cTn id="21" repeatCount="indefinite" restart="always" fill="hold">
                  <p:stCondLst>
                    <p:cond delay="indefinite"/>
                  </p:stCondLst>
                </p:cTn>
                <p:tgtEl>
                  <p:spTgt spid="2"/>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0F170-DF03-4B0A-0BCF-312CA4321303}"/>
            </a:ext>
          </a:extLst>
        </p:cNvPr>
        <p:cNvGrpSpPr/>
        <p:nvPr/>
      </p:nvGrpSpPr>
      <p:grpSpPr>
        <a:xfrm>
          <a:off x="0" y="0"/>
          <a:ext cx="0" cy="0"/>
          <a:chOff x="0" y="0"/>
          <a:chExt cx="0" cy="0"/>
        </a:xfrm>
      </p:grpSpPr>
      <p:pic>
        <p:nvPicPr>
          <p:cNvPr id="2" name="Slide 6 — embedded looping animation">
            <a:hlinkClick r:id="" action="ppaction://media"/>
            <a:extLst>
              <a:ext uri="{FF2B5EF4-FFF2-40B4-BE49-F238E27FC236}">
                <a16:creationId xmlns:a16="http://schemas.microsoft.com/office/drawing/2014/main" id="{02BF77AF-4B42-A8A4-CA54-066DC271ED7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extLst>
      <p:ext uri="{BB962C8B-B14F-4D97-AF65-F5344CB8AC3E}">
        <p14:creationId xmlns:p14="http://schemas.microsoft.com/office/powerpoint/2010/main" val="57379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7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8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5672F10F-4CCD-A9CA-07C6-34AB5F69A688}"/>
                  </a:ext>
                </a:extLst>
              </p14:cNvPr>
              <p14:cNvContentPartPr/>
              <p14:nvPr/>
            </p14:nvContentPartPr>
            <p14:xfrm>
              <a:off x="4487311" y="3661876"/>
              <a:ext cx="862560" cy="1091880"/>
            </p14:xfrm>
          </p:contentPart>
        </mc:Choice>
        <mc:Fallback xmlns="">
          <p:pic>
            <p:nvPicPr>
              <p:cNvPr id="3" name="Ink 2">
                <a:extLst>
                  <a:ext uri="{FF2B5EF4-FFF2-40B4-BE49-F238E27FC236}">
                    <a16:creationId xmlns:a16="http://schemas.microsoft.com/office/drawing/2014/main" id="{5672F10F-4CCD-A9CA-07C6-34AB5F69A688}"/>
                  </a:ext>
                </a:extLst>
              </p:cNvPr>
              <p:cNvPicPr/>
              <p:nvPr/>
            </p:nvPicPr>
            <p:blipFill>
              <a:blip r:embed="rId7"/>
              <a:stretch>
                <a:fillRect/>
              </a:stretch>
            </p:blipFill>
            <p:spPr>
              <a:xfrm>
                <a:off x="4469671" y="3644236"/>
                <a:ext cx="898200" cy="1127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4AA6FCDE-A708-C76D-CDE3-C7E741E8BAAF}"/>
                  </a:ext>
                </a:extLst>
              </p14:cNvPr>
              <p14:cNvContentPartPr/>
              <p14:nvPr/>
            </p14:nvContentPartPr>
            <p14:xfrm>
              <a:off x="4145671" y="2546956"/>
              <a:ext cx="1313280" cy="1026000"/>
            </p14:xfrm>
          </p:contentPart>
        </mc:Choice>
        <mc:Fallback xmlns="">
          <p:pic>
            <p:nvPicPr>
              <p:cNvPr id="4" name="Ink 3">
                <a:extLst>
                  <a:ext uri="{FF2B5EF4-FFF2-40B4-BE49-F238E27FC236}">
                    <a16:creationId xmlns:a16="http://schemas.microsoft.com/office/drawing/2014/main" id="{4AA6FCDE-A708-C76D-CDE3-C7E741E8BAAF}"/>
                  </a:ext>
                </a:extLst>
              </p:cNvPr>
              <p:cNvPicPr/>
              <p:nvPr/>
            </p:nvPicPr>
            <p:blipFill>
              <a:blip r:embed="rId9"/>
              <a:stretch>
                <a:fillRect/>
              </a:stretch>
            </p:blipFill>
            <p:spPr>
              <a:xfrm>
                <a:off x="4127671" y="2529316"/>
                <a:ext cx="1348920" cy="1061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84FA4B48-178D-2495-8F1F-EF78E71040F0}"/>
                  </a:ext>
                </a:extLst>
              </p14:cNvPr>
              <p14:cNvContentPartPr/>
              <p14:nvPr/>
            </p14:nvContentPartPr>
            <p14:xfrm>
              <a:off x="7327159" y="4041666"/>
              <a:ext cx="646920" cy="713160"/>
            </p14:xfrm>
          </p:contentPart>
        </mc:Choice>
        <mc:Fallback xmlns="">
          <p:pic>
            <p:nvPicPr>
              <p:cNvPr id="14" name="Ink 13">
                <a:extLst>
                  <a:ext uri="{FF2B5EF4-FFF2-40B4-BE49-F238E27FC236}">
                    <a16:creationId xmlns:a16="http://schemas.microsoft.com/office/drawing/2014/main" id="{84FA4B48-178D-2495-8F1F-EF78E71040F0}"/>
                  </a:ext>
                </a:extLst>
              </p:cNvPr>
              <p:cNvPicPr/>
              <p:nvPr/>
            </p:nvPicPr>
            <p:blipFill>
              <a:blip r:embed="rId11"/>
              <a:stretch>
                <a:fillRect/>
              </a:stretch>
            </p:blipFill>
            <p:spPr>
              <a:xfrm>
                <a:off x="7309159" y="4024026"/>
                <a:ext cx="682560" cy="748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3BA25882-E222-12D4-D2B3-8C031B2B5EFF}"/>
                  </a:ext>
                </a:extLst>
              </p14:cNvPr>
              <p14:cNvContentPartPr/>
              <p14:nvPr/>
            </p14:nvContentPartPr>
            <p14:xfrm>
              <a:off x="7225639" y="3484386"/>
              <a:ext cx="769680" cy="541080"/>
            </p14:xfrm>
          </p:contentPart>
        </mc:Choice>
        <mc:Fallback xmlns="">
          <p:pic>
            <p:nvPicPr>
              <p:cNvPr id="15" name="Ink 14">
                <a:extLst>
                  <a:ext uri="{FF2B5EF4-FFF2-40B4-BE49-F238E27FC236}">
                    <a16:creationId xmlns:a16="http://schemas.microsoft.com/office/drawing/2014/main" id="{3BA25882-E222-12D4-D2B3-8C031B2B5EFF}"/>
                  </a:ext>
                </a:extLst>
              </p:cNvPr>
              <p:cNvPicPr/>
              <p:nvPr/>
            </p:nvPicPr>
            <p:blipFill>
              <a:blip r:embed="rId13"/>
              <a:stretch>
                <a:fillRect/>
              </a:stretch>
            </p:blipFill>
            <p:spPr>
              <a:xfrm>
                <a:off x="7207999" y="3466386"/>
                <a:ext cx="805320" cy="576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C46888F6-1BAF-EFAB-A9DA-72EFB0D0BD8C}"/>
                  </a:ext>
                </a:extLst>
              </p14:cNvPr>
              <p14:cNvContentPartPr/>
              <p14:nvPr/>
            </p14:nvContentPartPr>
            <p14:xfrm>
              <a:off x="6991639" y="3018546"/>
              <a:ext cx="906480" cy="458640"/>
            </p14:xfrm>
          </p:contentPart>
        </mc:Choice>
        <mc:Fallback xmlns="">
          <p:pic>
            <p:nvPicPr>
              <p:cNvPr id="16" name="Ink 15">
                <a:extLst>
                  <a:ext uri="{FF2B5EF4-FFF2-40B4-BE49-F238E27FC236}">
                    <a16:creationId xmlns:a16="http://schemas.microsoft.com/office/drawing/2014/main" id="{C46888F6-1BAF-EFAB-A9DA-72EFB0D0BD8C}"/>
                  </a:ext>
                </a:extLst>
              </p:cNvPr>
              <p:cNvPicPr/>
              <p:nvPr/>
            </p:nvPicPr>
            <p:blipFill>
              <a:blip r:embed="rId15"/>
              <a:stretch>
                <a:fillRect/>
              </a:stretch>
            </p:blipFill>
            <p:spPr>
              <a:xfrm>
                <a:off x="6973999" y="3000546"/>
                <a:ext cx="942120" cy="494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398CC50E-BDAD-A2B2-95C9-32ED3A29CB0E}"/>
                  </a:ext>
                </a:extLst>
              </p14:cNvPr>
              <p14:cNvContentPartPr/>
              <p14:nvPr/>
            </p14:nvContentPartPr>
            <p14:xfrm>
              <a:off x="6907759" y="2372706"/>
              <a:ext cx="924840" cy="576360"/>
            </p14:xfrm>
          </p:contentPart>
        </mc:Choice>
        <mc:Fallback xmlns="">
          <p:pic>
            <p:nvPicPr>
              <p:cNvPr id="17" name="Ink 16">
                <a:extLst>
                  <a:ext uri="{FF2B5EF4-FFF2-40B4-BE49-F238E27FC236}">
                    <a16:creationId xmlns:a16="http://schemas.microsoft.com/office/drawing/2014/main" id="{398CC50E-BDAD-A2B2-95C9-32ED3A29CB0E}"/>
                  </a:ext>
                </a:extLst>
              </p:cNvPr>
              <p:cNvPicPr/>
              <p:nvPr/>
            </p:nvPicPr>
            <p:blipFill>
              <a:blip r:embed="rId17"/>
              <a:stretch>
                <a:fillRect/>
              </a:stretch>
            </p:blipFill>
            <p:spPr>
              <a:xfrm>
                <a:off x="6890119" y="2354706"/>
                <a:ext cx="960480" cy="612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11527D3C-520D-051E-5199-7BE38A205F1A}"/>
                  </a:ext>
                </a:extLst>
              </p14:cNvPr>
              <p14:cNvContentPartPr/>
              <p14:nvPr/>
            </p14:nvContentPartPr>
            <p14:xfrm>
              <a:off x="7106839" y="1861146"/>
              <a:ext cx="884160" cy="564480"/>
            </p14:xfrm>
          </p:contentPart>
        </mc:Choice>
        <mc:Fallback xmlns="">
          <p:pic>
            <p:nvPicPr>
              <p:cNvPr id="18" name="Ink 17">
                <a:extLst>
                  <a:ext uri="{FF2B5EF4-FFF2-40B4-BE49-F238E27FC236}">
                    <a16:creationId xmlns:a16="http://schemas.microsoft.com/office/drawing/2014/main" id="{11527D3C-520D-051E-5199-7BE38A205F1A}"/>
                  </a:ext>
                </a:extLst>
              </p:cNvPr>
              <p:cNvPicPr/>
              <p:nvPr/>
            </p:nvPicPr>
            <p:blipFill>
              <a:blip r:embed="rId19"/>
              <a:stretch>
                <a:fillRect/>
              </a:stretch>
            </p:blipFill>
            <p:spPr>
              <a:xfrm>
                <a:off x="7088839" y="1843506"/>
                <a:ext cx="919800" cy="600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33C6C76A-C8DC-D150-D747-FB1E6A9D71A7}"/>
                  </a:ext>
                </a:extLst>
              </p14:cNvPr>
              <p14:cNvContentPartPr/>
              <p14:nvPr/>
            </p14:nvContentPartPr>
            <p14:xfrm>
              <a:off x="4148714" y="1709793"/>
              <a:ext cx="936720" cy="667440"/>
            </p14:xfrm>
          </p:contentPart>
        </mc:Choice>
        <mc:Fallback xmlns="">
          <p:pic>
            <p:nvPicPr>
              <p:cNvPr id="19" name="Ink 18">
                <a:extLst>
                  <a:ext uri="{FF2B5EF4-FFF2-40B4-BE49-F238E27FC236}">
                    <a16:creationId xmlns:a16="http://schemas.microsoft.com/office/drawing/2014/main" id="{33C6C76A-C8DC-D150-D747-FB1E6A9D71A7}"/>
                  </a:ext>
                </a:extLst>
              </p:cNvPr>
              <p:cNvPicPr/>
              <p:nvPr/>
            </p:nvPicPr>
            <p:blipFill>
              <a:blip r:embed="rId21"/>
              <a:stretch>
                <a:fillRect/>
              </a:stretch>
            </p:blipFill>
            <p:spPr>
              <a:xfrm>
                <a:off x="4131074" y="1691793"/>
                <a:ext cx="972360" cy="7030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OVIE_fixed_free">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pic>
        <p:nvPicPr>
          <p:cNvPr id="3" name="REVEAL_QUARTER_1" descr="/mnt/data/mode_slides_assets/fq_quarter_1.png"/>
          <p:cNvPicPr>
            <a:picLocks noChangeAspect="1"/>
          </p:cNvPicPr>
          <p:nvPr/>
        </p:nvPicPr>
        <p:blipFill>
          <a:blip r:embed="rId6"/>
          <a:stretch>
            <a:fillRect/>
          </a:stretch>
        </p:blipFill>
        <p:spPr>
          <a:xfrm>
            <a:off x="0" y="0"/>
            <a:ext cx="12191695" cy="6858000"/>
          </a:xfrm>
          <a:prstGeom prst="rect">
            <a:avLst/>
          </a:prstGeom>
        </p:spPr>
      </p:pic>
      <p:pic>
        <p:nvPicPr>
          <p:cNvPr id="4" name="REVEAL_QUARTER_2" descr="/mnt/data/mode_slides_assets/fq_quarter_2.png"/>
          <p:cNvPicPr>
            <a:picLocks noChangeAspect="1"/>
          </p:cNvPicPr>
          <p:nvPr/>
        </p:nvPicPr>
        <p:blipFill>
          <a:blip r:embed="rId7"/>
          <a:stretch>
            <a:fillRect/>
          </a:stretch>
        </p:blipFill>
        <p:spPr>
          <a:xfrm>
            <a:off x="0" y="0"/>
            <a:ext cx="12191695" cy="6858000"/>
          </a:xfrm>
          <a:prstGeom prst="rect">
            <a:avLst/>
          </a:prstGeom>
        </p:spPr>
      </p:pic>
      <p:pic>
        <p:nvPicPr>
          <p:cNvPr id="5" name="REVEAL_QUARTER_3" descr="/mnt/data/mode_slides_assets/fq_quarter_3.png"/>
          <p:cNvPicPr>
            <a:picLocks noChangeAspect="1"/>
          </p:cNvPicPr>
          <p:nvPr/>
        </p:nvPicPr>
        <p:blipFill>
          <a:blip r:embed="rId8"/>
          <a:stretch>
            <a:fillRect/>
          </a:stretch>
        </p:blipFill>
        <p:spPr>
          <a:xfrm>
            <a:off x="0" y="0"/>
            <a:ext cx="12191695" cy="6858000"/>
          </a:xfrm>
          <a:prstGeom prst="rect">
            <a:avLst/>
          </a:prstGeom>
        </p:spPr>
      </p:pic>
      <p:pic>
        <p:nvPicPr>
          <p:cNvPr id="6" name="REVEAL_QUARTER_4" descr="/mnt/data/mode_slides_assets/fq_quarter_4.png"/>
          <p:cNvPicPr>
            <a:picLocks noChangeAspect="1"/>
          </p:cNvPicPr>
          <p:nvPr/>
        </p:nvPicPr>
        <p:blipFill>
          <a:blip r:embed="rId9"/>
          <a:stretch>
            <a:fillRect/>
          </a:stretch>
        </p:blipFill>
        <p:spPr>
          <a:xfrm>
            <a:off x="0" y="0"/>
            <a:ext cx="12191695" cy="6858000"/>
          </a:xfrm>
          <a:prstGeom prst="rect">
            <a:avLst/>
          </a:prstGeom>
        </p:spPr>
      </p:pic>
      <p:pic>
        <p:nvPicPr>
          <p:cNvPr id="7" name="REVEAL_QUARTER_5" descr="/mnt/data/mode_slides_assets/fq_quarter_5.png"/>
          <p:cNvPicPr>
            <a:picLocks noChangeAspect="1"/>
          </p:cNvPicPr>
          <p:nvPr/>
        </p:nvPicPr>
        <p:blipFill>
          <a:blip r:embed="rId10"/>
          <a:stretch>
            <a:fillRect/>
          </a:stretch>
        </p:blipFill>
        <p:spPr>
          <a:xfrm>
            <a:off x="0" y="0"/>
            <a:ext cx="12191695" cy="6858000"/>
          </a:xfrm>
          <a:prstGeom prst="rect">
            <a:avLst/>
          </a:prstGeom>
        </p:spPr>
      </p:pic>
      <p:pic>
        <p:nvPicPr>
          <p:cNvPr id="8" name="REVEAL_QUARTER_6" descr="/mnt/data/mode_slides_assets/fq_quarter_6.png"/>
          <p:cNvPicPr>
            <a:picLocks noChangeAspect="1"/>
          </p:cNvPicPr>
          <p:nvPr/>
        </p:nvPicPr>
        <p:blipFill>
          <a:blip r:embed="rId11"/>
          <a:stretch>
            <a:fillRect/>
          </a:stretch>
        </p:blipFill>
        <p:spPr>
          <a:xfrm>
            <a:off x="0" y="0"/>
            <a:ext cx="12191695" cy="6858000"/>
          </a:xfrm>
          <a:prstGeom prst="rect">
            <a:avLst/>
          </a:prstGeom>
        </p:spPr>
      </p:pic>
      <p:pic>
        <p:nvPicPr>
          <p:cNvPr id="9" name="REVEAL_QUARTER_7" descr="/mnt/data/mode_slides_assets/fq_quarter_7.png"/>
          <p:cNvPicPr>
            <a:picLocks noChangeAspect="1"/>
          </p:cNvPicPr>
          <p:nvPr/>
        </p:nvPicPr>
        <p:blipFill>
          <a:blip r:embed="rId12"/>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mediacall" presetSubtype="0" fill="hold" nodeType="afterEffect">
                            <p:stCondLst>
                              <p:cond delay="0"/>
                            </p:stCondLst>
                            <p:childTnLst>
                              <p:cmd type="call" cmd="playFrom(0.0)">
                                <p:cBhvr>
                                  <p:cTn id="5" dur="1" fill="hold"/>
                                  <p:tgtEl>
                                    <p:spTgt spid="2"/>
                                  </p:tgtEl>
                                </p:cBhvr>
                              </p:cmd>
                            </p:childTnLst>
                          </p:cTn>
                        </p:par>
                      </p:childTnLst>
                    </p:cTn>
                  </p:par>
                  <p:par>
                    <p:cTn id="6" fill="hold">
                      <p:stCondLst>
                        <p:cond delay="indefinite"/>
                      </p:stCondLst>
                      <p:childTnLst>
                        <p:par>
                          <p:cTn id="7" presetID="1" presetClass="entr" presetSubtype="0" fill="hold" nodeType="clickEffect">
                            <p:stCondLst>
                              <p:cond delay="0"/>
                            </p:stCondLst>
                            <p:childTnLst>
                              <p:animEffect transition="in" filter="fade">
                                <p:cBhvr>
                                  <p:cTn id="8" dur="350" fill="hold"/>
                                  <p:tgtEl>
                                    <p:spTgt spid="3"/>
                                  </p:tgtEl>
                                </p:cBhvr>
                              </p:animEffect>
                            </p:childTnLst>
                          </p:cTn>
                        </p:par>
                      </p:childTnLst>
                    </p:cTn>
                  </p:par>
                  <p:par>
                    <p:cTn id="9" fill="hold">
                      <p:stCondLst>
                        <p:cond delay="indefinite"/>
                      </p:stCondLst>
                      <p:childTnLst>
                        <p:par>
                          <p:cTn id="10" presetID="1" presetClass="entr" presetSubtype="0" fill="hold" nodeType="clickEffect">
                            <p:stCondLst>
                              <p:cond delay="0"/>
                            </p:stCondLst>
                            <p:childTnLst>
                              <p:animEffect transition="in" filter="fade">
                                <p:cBhvr>
                                  <p:cTn id="11" dur="350" fill="hold"/>
                                  <p:tgtEl>
                                    <p:spTgt spid="4"/>
                                  </p:tgtEl>
                                </p:cBhvr>
                              </p:animEffect>
                            </p:childTnLst>
                          </p:cTn>
                        </p:par>
                      </p:childTnLst>
                    </p:cTn>
                  </p:par>
                  <p:par>
                    <p:cTn id="12" fill="hold">
                      <p:stCondLst>
                        <p:cond delay="indefinite"/>
                      </p:stCondLst>
                      <p:childTnLst>
                        <p:par>
                          <p:cTn id="13" presetID="1" presetClass="entr" presetSubtype="0" fill="hold" nodeType="clickEffect">
                            <p:stCondLst>
                              <p:cond delay="0"/>
                            </p:stCondLst>
                            <p:childTnLst>
                              <p:animEffect transition="in" filter="fade">
                                <p:cBhvr>
                                  <p:cTn id="14" dur="350" fill="hold"/>
                                  <p:tgtEl>
                                    <p:spTgt spid="5"/>
                                  </p:tgtEl>
                                </p:cBhvr>
                              </p:animEffect>
                            </p:childTnLst>
                          </p:cTn>
                        </p:par>
                      </p:childTnLst>
                    </p:cTn>
                  </p:par>
                  <p:par>
                    <p:cTn id="15" fill="hold">
                      <p:stCondLst>
                        <p:cond delay="indefinite"/>
                      </p:stCondLst>
                      <p:childTnLst>
                        <p:par>
                          <p:cTn id="16" presetID="1" presetClass="entr" presetSubtype="0" fill="hold" nodeType="clickEffect">
                            <p:stCondLst>
                              <p:cond delay="0"/>
                            </p:stCondLst>
                            <p:childTnLst>
                              <p:animEffect transition="in" filter="fade">
                                <p:cBhvr>
                                  <p:cTn id="17" dur="350" fill="hold"/>
                                  <p:tgtEl>
                                    <p:spTgt spid="6"/>
                                  </p:tgtEl>
                                </p:cBhvr>
                              </p:animEffect>
                            </p:childTnLst>
                          </p:cTn>
                        </p:par>
                      </p:childTnLst>
                    </p:cTn>
                  </p:par>
                  <p:par>
                    <p:cTn id="18" fill="hold">
                      <p:stCondLst>
                        <p:cond delay="indefinite"/>
                      </p:stCondLst>
                      <p:childTnLst>
                        <p:par>
                          <p:cTn id="19" presetID="1" presetClass="entr" presetSubtype="0" fill="hold" nodeType="clickEffect">
                            <p:stCondLst>
                              <p:cond delay="0"/>
                            </p:stCondLst>
                            <p:childTnLst>
                              <p:animEffect transition="in" filter="fade">
                                <p:cBhvr>
                                  <p:cTn id="20" dur="350" fill="hold"/>
                                  <p:tgtEl>
                                    <p:spTgt spid="7"/>
                                  </p:tgtEl>
                                </p:cBhvr>
                              </p:animEffect>
                            </p:childTnLst>
                          </p:cTn>
                        </p:par>
                      </p:childTnLst>
                    </p:cTn>
                  </p:par>
                  <p:par>
                    <p:cTn id="21" fill="hold">
                      <p:stCondLst>
                        <p:cond delay="indefinite"/>
                      </p:stCondLst>
                      <p:childTnLst>
                        <p:par>
                          <p:cTn id="22" presetID="1" presetClass="entr" presetSubtype="0" fill="hold" nodeType="clickEffect">
                            <p:stCondLst>
                              <p:cond delay="0"/>
                            </p:stCondLst>
                            <p:childTnLst>
                              <p:animEffect transition="in" filter="fade">
                                <p:cBhvr>
                                  <p:cTn id="23" dur="350" fill="hold"/>
                                  <p:tgtEl>
                                    <p:spTgt spid="8"/>
                                  </p:tgtEl>
                                </p:cBhvr>
                              </p:animEffect>
                            </p:childTnLst>
                          </p:cTn>
                        </p:par>
                      </p:childTnLst>
                    </p:cTn>
                  </p:par>
                  <p:par>
                    <p:cTn id="24" fill="hold">
                      <p:stCondLst>
                        <p:cond delay="indefinite"/>
                      </p:stCondLst>
                      <p:childTnLst>
                        <p:par>
                          <p:cTn id="25" presetID="1" presetClass="entr" presetSubtype="0" fill="hold" nodeType="clickEffect">
                            <p:stCondLst>
                              <p:cond delay="0"/>
                            </p:stCondLst>
                            <p:childTnLst>
                              <p:animEffect transition="in" filter="fade">
                                <p:cBhvr>
                                  <p:cTn id="26" dur="350" fill="hold"/>
                                  <p:tgtEl>
                                    <p:spTgt spid="9"/>
                                  </p:tgtEl>
                                </p:cBhvr>
                              </p:animEffect>
                            </p:childTnLst>
                          </p:cTn>
                        </p:par>
                      </p:childTnLst>
                    </p:cTn>
                  </p:par>
                </p:childTnLst>
              </p:cTn>
              <p:prevCondLst>
                <p:cond evt="onPrev" delay="0">
                  <p:tgtEl>
                    <p:sldTgt/>
                  </p:tgtEl>
                </p:cond>
              </p:prevCondLst>
              <p:nextCondLst>
                <p:cond evt="onNext" delay="0">
                  <p:tgtEl>
                    <p:sldTgt/>
                  </p:tgtEl>
                </p:cond>
              </p:nextCondLst>
            </p:seq>
            <p:video>
              <p:cMediaNode vol="0" mute="1">
                <p:cTn id="27" repeatCount="indefinite" restart="always" fill="hold">
                  <p:stCondLst>
                    <p:cond delay="indefinite"/>
                  </p:stCondLst>
                </p:cTn>
                <p:tgtEl>
                  <p:spTgt spid="2"/>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DDE36B-291B-D1CE-8F2D-8D2077431EEE}"/>
              </a:ext>
            </a:extLst>
          </p:cNvPr>
          <p:cNvSpPr txBox="1"/>
          <p:nvPr/>
        </p:nvSpPr>
        <p:spPr>
          <a:xfrm>
            <a:off x="616174" y="1067040"/>
            <a:ext cx="1557734" cy="523220"/>
          </a:xfrm>
          <a:prstGeom prst="rect">
            <a:avLst/>
          </a:prstGeom>
          <a:noFill/>
        </p:spPr>
        <p:txBody>
          <a:bodyPr wrap="none" rtlCol="0">
            <a:spAutoFit/>
          </a:bodyPr>
          <a:lstStyle/>
          <a:p>
            <a:r>
              <a:rPr lang="en-US" sz="2800"/>
              <a:t>Pop Quiz</a:t>
            </a:r>
          </a:p>
        </p:txBody>
      </p:sp>
      <p:pic>
        <p:nvPicPr>
          <p:cNvPr id="4" name="Picture 3">
            <a:extLst>
              <a:ext uri="{FF2B5EF4-FFF2-40B4-BE49-F238E27FC236}">
                <a16:creationId xmlns:a16="http://schemas.microsoft.com/office/drawing/2014/main" id="{91D1123D-AC5D-DBCB-D17B-E46FD05E2CB8}"/>
              </a:ext>
            </a:extLst>
          </p:cNvPr>
          <p:cNvPicPr>
            <a:picLocks noChangeAspect="1"/>
          </p:cNvPicPr>
          <p:nvPr/>
        </p:nvPicPr>
        <p:blipFill>
          <a:blip r:embed="rId2"/>
          <a:srcRect t="10129" b="13086"/>
          <a:stretch>
            <a:fillRect/>
          </a:stretch>
        </p:blipFill>
        <p:spPr>
          <a:xfrm>
            <a:off x="2173908" y="1590260"/>
            <a:ext cx="10261999" cy="4479235"/>
          </a:xfrm>
          <a:prstGeom prst="rect">
            <a:avLst/>
          </a:prstGeom>
        </p:spPr>
      </p:pic>
    </p:spTree>
    <p:extLst>
      <p:ext uri="{BB962C8B-B14F-4D97-AF65-F5344CB8AC3E}">
        <p14:creationId xmlns:p14="http://schemas.microsoft.com/office/powerpoint/2010/main" val="2501344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OVIE_base">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mediacall" presetSubtype="0" fill="hold" nodeType="afterEffect">
                            <p:stCondLst>
                              <p:cond delay="0"/>
                            </p:stCondLst>
                            <p:childTnLst>
                              <p:cmd type="call" cmd="playFrom(0.0)">
                                <p:cBhvr>
                                  <p:cTn id="5" dur="1" fill="hold"/>
                                  <p:tgtEl>
                                    <p:spTgt spid="2"/>
                                  </p:tgtEl>
                                </p:cBhvr>
                              </p:cmd>
                            </p:childTnLst>
                          </p:cTn>
                        </p:par>
                      </p:childTnLst>
                    </p:cTn>
                  </p:par>
                </p:childTnLst>
              </p:cTn>
              <p:prevCondLst>
                <p:cond evt="onPrev" delay="0">
                  <p:tgtEl>
                    <p:sldTgt/>
                  </p:tgtEl>
                </p:cond>
              </p:prevCondLst>
              <p:nextCondLst>
                <p:cond evt="onNext" delay="0">
                  <p:tgtEl>
                    <p:sldTgt/>
                  </p:tgtEl>
                </p:cond>
              </p:nextCondLst>
            </p:seq>
            <p:video>
              <p:cMediaNode vol="0" mute="1">
                <p:cTn id="6" repeatCount="indefinite" restart="always" fill="hold">
                  <p:stCondLst>
                    <p:cond delay="indefinite"/>
                  </p:stCondLst>
                </p:cTn>
                <p:tgtEl>
                  <p:spTgt spid="2"/>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8F1A3-1F8B-1D8A-1797-006ED1CAFA89}"/>
            </a:ext>
          </a:extLst>
        </p:cNvPr>
        <p:cNvGrpSpPr/>
        <p:nvPr/>
      </p:nvGrpSpPr>
      <p:grpSpPr>
        <a:xfrm>
          <a:off x="0" y="0"/>
          <a:ext cx="0" cy="0"/>
          <a:chOff x="0" y="0"/>
          <a:chExt cx="0" cy="0"/>
        </a:xfrm>
      </p:grpSpPr>
      <p:pic>
        <p:nvPicPr>
          <p:cNvPr id="5" name="schwaF13_86781478-4D12-4316-931B-51D7BD47440D.mp4">
            <a:hlinkClick r:id="" action="ppaction://media"/>
            <a:extLst>
              <a:ext uri="{FF2B5EF4-FFF2-40B4-BE49-F238E27FC236}">
                <a16:creationId xmlns:a16="http://schemas.microsoft.com/office/drawing/2014/main" id="{1B956CF1-083F-DDD9-BEBD-6214A953873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24000" y="0"/>
            <a:ext cx="9144000" cy="6858000"/>
          </a:xfrm>
          <a:prstGeom prst="rect">
            <a:avLst/>
          </a:prstGeom>
        </p:spPr>
      </p:pic>
    </p:spTree>
    <p:extLst>
      <p:ext uri="{BB962C8B-B14F-4D97-AF65-F5344CB8AC3E}">
        <p14:creationId xmlns:p14="http://schemas.microsoft.com/office/powerpoint/2010/main" val="4090848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33EB2-8241-5BA9-5B1A-D8F0855D1CF7}"/>
              </a:ext>
            </a:extLst>
          </p:cNvPr>
          <p:cNvSpPr>
            <a:spLocks noGrp="1"/>
          </p:cNvSpPr>
          <p:nvPr>
            <p:ph type="title"/>
          </p:nvPr>
        </p:nvSpPr>
        <p:spPr/>
        <p:txBody>
          <a:bodyPr/>
          <a:lstStyle/>
          <a:p>
            <a:pPr algn="ctr"/>
            <a:r>
              <a:rPr lang="en-US"/>
              <a:t>Vowels</a:t>
            </a:r>
          </a:p>
        </p:txBody>
      </p:sp>
      <p:pic>
        <p:nvPicPr>
          <p:cNvPr id="5" name="Picture 4">
            <a:extLst>
              <a:ext uri="{FF2B5EF4-FFF2-40B4-BE49-F238E27FC236}">
                <a16:creationId xmlns:a16="http://schemas.microsoft.com/office/drawing/2014/main" id="{3E39A2E6-C144-CC31-1F78-B2D8CBE21F5B}"/>
              </a:ext>
            </a:extLst>
          </p:cNvPr>
          <p:cNvPicPr>
            <a:picLocks noChangeAspect="1"/>
          </p:cNvPicPr>
          <p:nvPr/>
        </p:nvPicPr>
        <p:blipFill>
          <a:blip r:embed="rId2"/>
          <a:stretch>
            <a:fillRect/>
          </a:stretch>
        </p:blipFill>
        <p:spPr>
          <a:xfrm>
            <a:off x="5026767" y="2437229"/>
            <a:ext cx="2708804" cy="2408995"/>
          </a:xfrm>
          <a:prstGeom prst="rect">
            <a:avLst/>
          </a:prstGeom>
        </p:spPr>
      </p:pic>
      <p:pic>
        <p:nvPicPr>
          <p:cNvPr id="7" name="Picture 6">
            <a:extLst>
              <a:ext uri="{FF2B5EF4-FFF2-40B4-BE49-F238E27FC236}">
                <a16:creationId xmlns:a16="http://schemas.microsoft.com/office/drawing/2014/main" id="{2B1B551A-8146-D980-3568-9DF1FA8D381C}"/>
              </a:ext>
            </a:extLst>
          </p:cNvPr>
          <p:cNvPicPr>
            <a:picLocks noChangeAspect="1"/>
          </p:cNvPicPr>
          <p:nvPr/>
        </p:nvPicPr>
        <p:blipFill>
          <a:blip r:embed="rId3"/>
          <a:stretch>
            <a:fillRect/>
          </a:stretch>
        </p:blipFill>
        <p:spPr>
          <a:xfrm>
            <a:off x="1259164" y="4210594"/>
            <a:ext cx="2708804" cy="2504678"/>
          </a:xfrm>
          <a:prstGeom prst="rect">
            <a:avLst/>
          </a:prstGeom>
        </p:spPr>
      </p:pic>
      <p:pic>
        <p:nvPicPr>
          <p:cNvPr id="9" name="Picture 8">
            <a:extLst>
              <a:ext uri="{FF2B5EF4-FFF2-40B4-BE49-F238E27FC236}">
                <a16:creationId xmlns:a16="http://schemas.microsoft.com/office/drawing/2014/main" id="{7ED0F844-5B3E-4DE4-1B4F-621D92279FAD}"/>
              </a:ext>
            </a:extLst>
          </p:cNvPr>
          <p:cNvPicPr>
            <a:picLocks noChangeAspect="1"/>
          </p:cNvPicPr>
          <p:nvPr/>
        </p:nvPicPr>
        <p:blipFill>
          <a:blip r:embed="rId4"/>
          <a:stretch>
            <a:fillRect/>
          </a:stretch>
        </p:blipFill>
        <p:spPr>
          <a:xfrm>
            <a:off x="8644997" y="4443632"/>
            <a:ext cx="2708803" cy="2414368"/>
          </a:xfrm>
          <a:prstGeom prst="rect">
            <a:avLst/>
          </a:prstGeom>
        </p:spPr>
      </p:pic>
      <p:pic>
        <p:nvPicPr>
          <p:cNvPr id="11" name="Picture 10">
            <a:extLst>
              <a:ext uri="{FF2B5EF4-FFF2-40B4-BE49-F238E27FC236}">
                <a16:creationId xmlns:a16="http://schemas.microsoft.com/office/drawing/2014/main" id="{64BFB436-57FF-6CAD-929C-5E243CA8E01A}"/>
              </a:ext>
            </a:extLst>
          </p:cNvPr>
          <p:cNvPicPr>
            <a:picLocks noChangeAspect="1"/>
          </p:cNvPicPr>
          <p:nvPr/>
        </p:nvPicPr>
        <p:blipFill>
          <a:blip r:embed="rId5"/>
          <a:stretch>
            <a:fillRect/>
          </a:stretch>
        </p:blipFill>
        <p:spPr>
          <a:xfrm>
            <a:off x="1196446" y="139983"/>
            <a:ext cx="2834240" cy="2504678"/>
          </a:xfrm>
          <a:prstGeom prst="rect">
            <a:avLst/>
          </a:prstGeom>
        </p:spPr>
      </p:pic>
      <p:pic>
        <p:nvPicPr>
          <p:cNvPr id="13" name="Picture 12">
            <a:extLst>
              <a:ext uri="{FF2B5EF4-FFF2-40B4-BE49-F238E27FC236}">
                <a16:creationId xmlns:a16="http://schemas.microsoft.com/office/drawing/2014/main" id="{087670B5-51BC-3DA4-4FE6-6ECB6D1F9435}"/>
              </a:ext>
            </a:extLst>
          </p:cNvPr>
          <p:cNvPicPr>
            <a:picLocks noChangeAspect="1"/>
          </p:cNvPicPr>
          <p:nvPr/>
        </p:nvPicPr>
        <p:blipFill>
          <a:blip r:embed="rId6"/>
          <a:stretch>
            <a:fillRect/>
          </a:stretch>
        </p:blipFill>
        <p:spPr>
          <a:xfrm>
            <a:off x="8677367" y="38221"/>
            <a:ext cx="2946286" cy="2708202"/>
          </a:xfrm>
          <a:prstGeom prst="rect">
            <a:avLst/>
          </a:prstGeom>
        </p:spPr>
      </p:pic>
      <p:sp>
        <p:nvSpPr>
          <p:cNvPr id="14" name="TextBox 13">
            <a:extLst>
              <a:ext uri="{FF2B5EF4-FFF2-40B4-BE49-F238E27FC236}">
                <a16:creationId xmlns:a16="http://schemas.microsoft.com/office/drawing/2014/main" id="{912C6E46-A241-4618-896B-5B3C5D215EF9}"/>
              </a:ext>
            </a:extLst>
          </p:cNvPr>
          <p:cNvSpPr txBox="1"/>
          <p:nvPr/>
        </p:nvSpPr>
        <p:spPr>
          <a:xfrm>
            <a:off x="3009036" y="2144842"/>
            <a:ext cx="1075936" cy="584775"/>
          </a:xfrm>
          <a:prstGeom prst="rect">
            <a:avLst/>
          </a:prstGeom>
          <a:noFill/>
        </p:spPr>
        <p:txBody>
          <a:bodyPr wrap="none" rtlCol="0">
            <a:spAutoFit/>
          </a:bodyPr>
          <a:lstStyle/>
          <a:p>
            <a:r>
              <a:rPr lang="en-US" sz="3200">
                <a:solidFill>
                  <a:schemeClr val="bg1"/>
                </a:solidFill>
              </a:rPr>
              <a:t>dean</a:t>
            </a:r>
          </a:p>
        </p:txBody>
      </p:sp>
      <p:sp>
        <p:nvSpPr>
          <p:cNvPr id="15" name="TextBox 14">
            <a:extLst>
              <a:ext uri="{FF2B5EF4-FFF2-40B4-BE49-F238E27FC236}">
                <a16:creationId xmlns:a16="http://schemas.microsoft.com/office/drawing/2014/main" id="{6C8A73DD-6796-BCD1-852E-75BB2D646A36}"/>
              </a:ext>
            </a:extLst>
          </p:cNvPr>
          <p:cNvSpPr txBox="1"/>
          <p:nvPr/>
        </p:nvSpPr>
        <p:spPr>
          <a:xfrm>
            <a:off x="2892032" y="6130497"/>
            <a:ext cx="910442" cy="584775"/>
          </a:xfrm>
          <a:prstGeom prst="rect">
            <a:avLst/>
          </a:prstGeom>
          <a:noFill/>
        </p:spPr>
        <p:txBody>
          <a:bodyPr wrap="none" rtlCol="0">
            <a:spAutoFit/>
          </a:bodyPr>
          <a:lstStyle/>
          <a:p>
            <a:r>
              <a:rPr lang="en-US" sz="3200">
                <a:solidFill>
                  <a:schemeClr val="bg1"/>
                </a:solidFill>
              </a:rPr>
              <a:t>Dan</a:t>
            </a:r>
          </a:p>
        </p:txBody>
      </p:sp>
      <p:sp>
        <p:nvSpPr>
          <p:cNvPr id="16" name="TextBox 15">
            <a:extLst>
              <a:ext uri="{FF2B5EF4-FFF2-40B4-BE49-F238E27FC236}">
                <a16:creationId xmlns:a16="http://schemas.microsoft.com/office/drawing/2014/main" id="{3F417806-2360-167B-211A-12E6EA6869BF}"/>
              </a:ext>
            </a:extLst>
          </p:cNvPr>
          <p:cNvSpPr txBox="1"/>
          <p:nvPr/>
        </p:nvSpPr>
        <p:spPr>
          <a:xfrm>
            <a:off x="6278691" y="4151244"/>
            <a:ext cx="1083951" cy="584775"/>
          </a:xfrm>
          <a:prstGeom prst="rect">
            <a:avLst/>
          </a:prstGeom>
          <a:noFill/>
        </p:spPr>
        <p:txBody>
          <a:bodyPr wrap="none" rtlCol="0">
            <a:spAutoFit/>
          </a:bodyPr>
          <a:lstStyle/>
          <a:p>
            <a:r>
              <a:rPr lang="en-US" sz="3200">
                <a:solidFill>
                  <a:schemeClr val="bg1"/>
                </a:solidFill>
              </a:rPr>
              <a:t>done</a:t>
            </a:r>
          </a:p>
        </p:txBody>
      </p:sp>
      <p:sp>
        <p:nvSpPr>
          <p:cNvPr id="18" name="TextBox 17">
            <a:extLst>
              <a:ext uri="{FF2B5EF4-FFF2-40B4-BE49-F238E27FC236}">
                <a16:creationId xmlns:a16="http://schemas.microsoft.com/office/drawing/2014/main" id="{A0E0BB5A-AD53-1FF2-1626-28583E7C51F3}"/>
              </a:ext>
            </a:extLst>
          </p:cNvPr>
          <p:cNvSpPr txBox="1"/>
          <p:nvPr/>
        </p:nvSpPr>
        <p:spPr>
          <a:xfrm>
            <a:off x="10477615" y="6222919"/>
            <a:ext cx="918841" cy="584775"/>
          </a:xfrm>
          <a:prstGeom prst="rect">
            <a:avLst/>
          </a:prstGeom>
          <a:noFill/>
        </p:spPr>
        <p:txBody>
          <a:bodyPr wrap="none" rtlCol="0">
            <a:spAutoFit/>
          </a:bodyPr>
          <a:lstStyle/>
          <a:p>
            <a:r>
              <a:rPr lang="en-US" sz="3200">
                <a:solidFill>
                  <a:schemeClr val="bg1"/>
                </a:solidFill>
              </a:rPr>
              <a:t>Don</a:t>
            </a:r>
          </a:p>
        </p:txBody>
      </p:sp>
      <p:sp>
        <p:nvSpPr>
          <p:cNvPr id="19" name="TextBox 18">
            <a:extLst>
              <a:ext uri="{FF2B5EF4-FFF2-40B4-BE49-F238E27FC236}">
                <a16:creationId xmlns:a16="http://schemas.microsoft.com/office/drawing/2014/main" id="{93C7D545-D2F5-ECA8-95ED-9247E88E8A4D}"/>
              </a:ext>
            </a:extLst>
          </p:cNvPr>
          <p:cNvSpPr txBox="1"/>
          <p:nvPr/>
        </p:nvSpPr>
        <p:spPr>
          <a:xfrm>
            <a:off x="10568371" y="2120609"/>
            <a:ext cx="1087157" cy="584775"/>
          </a:xfrm>
          <a:prstGeom prst="rect">
            <a:avLst/>
          </a:prstGeom>
          <a:noFill/>
        </p:spPr>
        <p:txBody>
          <a:bodyPr wrap="none" rtlCol="0">
            <a:spAutoFit/>
          </a:bodyPr>
          <a:lstStyle/>
          <a:p>
            <a:r>
              <a:rPr lang="en-US" sz="3200">
                <a:solidFill>
                  <a:schemeClr val="bg1"/>
                </a:solidFill>
              </a:rPr>
              <a:t>dune</a:t>
            </a:r>
          </a:p>
        </p:txBody>
      </p:sp>
      <p:sp>
        <p:nvSpPr>
          <p:cNvPr id="20" name="TextBox 19">
            <a:extLst>
              <a:ext uri="{FF2B5EF4-FFF2-40B4-BE49-F238E27FC236}">
                <a16:creationId xmlns:a16="http://schemas.microsoft.com/office/drawing/2014/main" id="{5EC7C861-8362-A525-4E74-47BD385B96A7}"/>
              </a:ext>
            </a:extLst>
          </p:cNvPr>
          <p:cNvSpPr txBox="1"/>
          <p:nvPr/>
        </p:nvSpPr>
        <p:spPr>
          <a:xfrm>
            <a:off x="1934109" y="3098815"/>
            <a:ext cx="1413144" cy="707886"/>
          </a:xfrm>
          <a:prstGeom prst="rect">
            <a:avLst/>
          </a:prstGeom>
          <a:noFill/>
        </p:spPr>
        <p:txBody>
          <a:bodyPr wrap="none" rtlCol="0">
            <a:spAutoFit/>
          </a:bodyPr>
          <a:lstStyle/>
          <a:p>
            <a:r>
              <a:rPr lang="en-US" sz="4000" b="1">
                <a:solidFill>
                  <a:srgbClr val="00B050"/>
                </a:solidFill>
              </a:rPr>
              <a:t>Front</a:t>
            </a:r>
          </a:p>
        </p:txBody>
      </p:sp>
      <p:sp>
        <p:nvSpPr>
          <p:cNvPr id="21" name="TextBox 20">
            <a:extLst>
              <a:ext uri="{FF2B5EF4-FFF2-40B4-BE49-F238E27FC236}">
                <a16:creationId xmlns:a16="http://schemas.microsoft.com/office/drawing/2014/main" id="{DE56080C-5313-68A8-64FC-3AA9E2C2A980}"/>
              </a:ext>
            </a:extLst>
          </p:cNvPr>
          <p:cNvSpPr txBox="1"/>
          <p:nvPr/>
        </p:nvSpPr>
        <p:spPr>
          <a:xfrm rot="16200000">
            <a:off x="23102" y="5214541"/>
            <a:ext cx="1130566" cy="707886"/>
          </a:xfrm>
          <a:prstGeom prst="rect">
            <a:avLst/>
          </a:prstGeom>
          <a:noFill/>
        </p:spPr>
        <p:txBody>
          <a:bodyPr wrap="none" rtlCol="0">
            <a:spAutoFit/>
          </a:bodyPr>
          <a:lstStyle/>
          <a:p>
            <a:r>
              <a:rPr lang="en-US" sz="4000" b="1">
                <a:solidFill>
                  <a:srgbClr val="0070C0"/>
                </a:solidFill>
              </a:rPr>
              <a:t>Low</a:t>
            </a:r>
          </a:p>
        </p:txBody>
      </p:sp>
      <p:sp>
        <p:nvSpPr>
          <p:cNvPr id="22" name="TextBox 21">
            <a:extLst>
              <a:ext uri="{FF2B5EF4-FFF2-40B4-BE49-F238E27FC236}">
                <a16:creationId xmlns:a16="http://schemas.microsoft.com/office/drawing/2014/main" id="{CBD4C02F-B62A-71CA-66E7-775F0F5C7D87}"/>
              </a:ext>
            </a:extLst>
          </p:cNvPr>
          <p:cNvSpPr txBox="1"/>
          <p:nvPr/>
        </p:nvSpPr>
        <p:spPr>
          <a:xfrm rot="16200000">
            <a:off x="113048" y="1087973"/>
            <a:ext cx="1255472" cy="707886"/>
          </a:xfrm>
          <a:prstGeom prst="rect">
            <a:avLst/>
          </a:prstGeom>
          <a:noFill/>
        </p:spPr>
        <p:txBody>
          <a:bodyPr wrap="none" rtlCol="0">
            <a:spAutoFit/>
          </a:bodyPr>
          <a:lstStyle/>
          <a:p>
            <a:r>
              <a:rPr lang="en-US" sz="4000" b="1">
                <a:solidFill>
                  <a:srgbClr val="FF0000"/>
                </a:solidFill>
              </a:rPr>
              <a:t>High</a:t>
            </a:r>
          </a:p>
        </p:txBody>
      </p:sp>
      <p:sp>
        <p:nvSpPr>
          <p:cNvPr id="23" name="TextBox 22">
            <a:extLst>
              <a:ext uri="{FF2B5EF4-FFF2-40B4-BE49-F238E27FC236}">
                <a16:creationId xmlns:a16="http://schemas.microsoft.com/office/drawing/2014/main" id="{606863A0-7C88-B745-477E-E18CF7542702}"/>
              </a:ext>
            </a:extLst>
          </p:cNvPr>
          <p:cNvSpPr txBox="1"/>
          <p:nvPr/>
        </p:nvSpPr>
        <p:spPr>
          <a:xfrm>
            <a:off x="9292826" y="3200046"/>
            <a:ext cx="1342034" cy="707886"/>
          </a:xfrm>
          <a:prstGeom prst="rect">
            <a:avLst/>
          </a:prstGeom>
          <a:noFill/>
        </p:spPr>
        <p:txBody>
          <a:bodyPr wrap="none" rtlCol="0">
            <a:spAutoFit/>
          </a:bodyPr>
          <a:lstStyle/>
          <a:p>
            <a:r>
              <a:rPr lang="en-US" sz="4000" b="1">
                <a:solidFill>
                  <a:srgbClr val="7030A0"/>
                </a:solidFill>
              </a:rPr>
              <a:t>Back</a:t>
            </a:r>
          </a:p>
        </p:txBody>
      </p:sp>
      <p:sp>
        <p:nvSpPr>
          <p:cNvPr id="24" name="TextBox 23">
            <a:extLst>
              <a:ext uri="{FF2B5EF4-FFF2-40B4-BE49-F238E27FC236}">
                <a16:creationId xmlns:a16="http://schemas.microsoft.com/office/drawing/2014/main" id="{8D40E0B5-48ED-BA22-A6A8-592396D60AAE}"/>
              </a:ext>
            </a:extLst>
          </p:cNvPr>
          <p:cNvSpPr txBox="1"/>
          <p:nvPr/>
        </p:nvSpPr>
        <p:spPr>
          <a:xfrm>
            <a:off x="5369265" y="4736019"/>
            <a:ext cx="1921488" cy="707886"/>
          </a:xfrm>
          <a:prstGeom prst="rect">
            <a:avLst/>
          </a:prstGeom>
          <a:noFill/>
        </p:spPr>
        <p:txBody>
          <a:bodyPr wrap="none" rtlCol="0">
            <a:spAutoFit/>
          </a:bodyPr>
          <a:lstStyle/>
          <a:p>
            <a:r>
              <a:rPr lang="en-US" sz="4000" b="1">
                <a:solidFill>
                  <a:schemeClr val="tx1">
                    <a:lumMod val="65000"/>
                    <a:lumOff val="35000"/>
                  </a:schemeClr>
                </a:solidFill>
              </a:rPr>
              <a:t>Central</a:t>
            </a:r>
          </a:p>
        </p:txBody>
      </p:sp>
      <p:sp>
        <p:nvSpPr>
          <p:cNvPr id="3" name="TextBox 2">
            <a:extLst>
              <a:ext uri="{FF2B5EF4-FFF2-40B4-BE49-F238E27FC236}">
                <a16:creationId xmlns:a16="http://schemas.microsoft.com/office/drawing/2014/main" id="{5C7DC0DA-8CBB-0B94-90C1-355FD67CFDAB}"/>
              </a:ext>
            </a:extLst>
          </p:cNvPr>
          <p:cNvSpPr txBox="1"/>
          <p:nvPr/>
        </p:nvSpPr>
        <p:spPr>
          <a:xfrm>
            <a:off x="5470510" y="2511991"/>
            <a:ext cx="1718997" cy="369332"/>
          </a:xfrm>
          <a:prstGeom prst="rect">
            <a:avLst/>
          </a:prstGeom>
          <a:noFill/>
        </p:spPr>
        <p:txBody>
          <a:bodyPr wrap="none" rtlCol="0">
            <a:spAutoFit/>
          </a:bodyPr>
          <a:lstStyle/>
          <a:p>
            <a:r>
              <a:rPr lang="en-US">
                <a:solidFill>
                  <a:srgbClr val="FFFF00"/>
                </a:solidFill>
              </a:rPr>
              <a:t>No constriction</a:t>
            </a:r>
          </a:p>
        </p:txBody>
      </p:sp>
      <p:sp>
        <p:nvSpPr>
          <p:cNvPr id="4" name="TextBox 3">
            <a:extLst>
              <a:ext uri="{FF2B5EF4-FFF2-40B4-BE49-F238E27FC236}">
                <a16:creationId xmlns:a16="http://schemas.microsoft.com/office/drawing/2014/main" id="{3C76E8BD-07FF-1F94-7757-AE9E9D9DFF6E}"/>
              </a:ext>
            </a:extLst>
          </p:cNvPr>
          <p:cNvSpPr txBox="1"/>
          <p:nvPr/>
        </p:nvSpPr>
        <p:spPr>
          <a:xfrm>
            <a:off x="1165602" y="203786"/>
            <a:ext cx="2967800" cy="369332"/>
          </a:xfrm>
          <a:prstGeom prst="rect">
            <a:avLst/>
          </a:prstGeom>
          <a:noFill/>
        </p:spPr>
        <p:txBody>
          <a:bodyPr wrap="none" rtlCol="0">
            <a:spAutoFit/>
          </a:bodyPr>
          <a:lstStyle/>
          <a:p>
            <a:r>
              <a:rPr lang="en-US">
                <a:solidFill>
                  <a:srgbClr val="FFFF00"/>
                </a:solidFill>
              </a:rPr>
              <a:t>Constriction 2/3 from glottis</a:t>
            </a:r>
          </a:p>
        </p:txBody>
      </p:sp>
      <p:sp>
        <p:nvSpPr>
          <p:cNvPr id="6" name="TextBox 5">
            <a:extLst>
              <a:ext uri="{FF2B5EF4-FFF2-40B4-BE49-F238E27FC236}">
                <a16:creationId xmlns:a16="http://schemas.microsoft.com/office/drawing/2014/main" id="{DFA081F6-669C-A870-BDD1-1BE3662E2DBC}"/>
              </a:ext>
            </a:extLst>
          </p:cNvPr>
          <p:cNvSpPr txBox="1"/>
          <p:nvPr/>
        </p:nvSpPr>
        <p:spPr>
          <a:xfrm>
            <a:off x="8515498" y="4466795"/>
            <a:ext cx="2967800" cy="369332"/>
          </a:xfrm>
          <a:prstGeom prst="rect">
            <a:avLst/>
          </a:prstGeom>
          <a:noFill/>
        </p:spPr>
        <p:txBody>
          <a:bodyPr wrap="none" rtlCol="0">
            <a:spAutoFit/>
          </a:bodyPr>
          <a:lstStyle/>
          <a:p>
            <a:r>
              <a:rPr lang="en-US">
                <a:solidFill>
                  <a:srgbClr val="FFFF00"/>
                </a:solidFill>
              </a:rPr>
              <a:t>Constriction 1/3 from glottis</a:t>
            </a:r>
          </a:p>
        </p:txBody>
      </p:sp>
      <p:sp>
        <p:nvSpPr>
          <p:cNvPr id="8" name="TextBox 7">
            <a:extLst>
              <a:ext uri="{FF2B5EF4-FFF2-40B4-BE49-F238E27FC236}">
                <a16:creationId xmlns:a16="http://schemas.microsoft.com/office/drawing/2014/main" id="{43273BAA-95FE-0B53-77C0-4329A53C85A3}"/>
              </a:ext>
            </a:extLst>
          </p:cNvPr>
          <p:cNvSpPr txBox="1"/>
          <p:nvPr/>
        </p:nvSpPr>
        <p:spPr>
          <a:xfrm>
            <a:off x="9045549" y="76371"/>
            <a:ext cx="2066400" cy="369332"/>
          </a:xfrm>
          <a:prstGeom prst="rect">
            <a:avLst/>
          </a:prstGeom>
          <a:noFill/>
        </p:spPr>
        <p:txBody>
          <a:bodyPr wrap="none" rtlCol="0">
            <a:spAutoFit/>
          </a:bodyPr>
          <a:lstStyle/>
          <a:p>
            <a:r>
              <a:rPr lang="en-US">
                <a:solidFill>
                  <a:srgbClr val="FFFF00"/>
                </a:solidFill>
              </a:rPr>
              <a:t>Constriction at lips</a:t>
            </a:r>
          </a:p>
        </p:txBody>
      </p:sp>
    </p:spTree>
    <p:extLst>
      <p:ext uri="{BB962C8B-B14F-4D97-AF65-F5344CB8AC3E}">
        <p14:creationId xmlns:p14="http://schemas.microsoft.com/office/powerpoint/2010/main" val="800606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3" grpId="0"/>
      <p:bldP spid="4" grpId="0"/>
      <p:bldP spid="6"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6EE0DC-E7EF-1F79-B920-D0956B021040}"/>
              </a:ext>
            </a:extLst>
          </p:cNvPr>
          <p:cNvSpPr txBox="1"/>
          <p:nvPr/>
        </p:nvSpPr>
        <p:spPr>
          <a:xfrm>
            <a:off x="1510746" y="1639957"/>
            <a:ext cx="9872869" cy="3416320"/>
          </a:xfrm>
          <a:prstGeom prst="rect">
            <a:avLst/>
          </a:prstGeom>
          <a:noFill/>
        </p:spPr>
        <p:txBody>
          <a:bodyPr wrap="square" rtlCol="0">
            <a:spAutoFit/>
          </a:bodyPr>
          <a:lstStyle/>
          <a:p>
            <a:r>
              <a:rPr lang="en-US" sz="2400"/>
              <a:t>When we compress air, as happens in a constriction, its stiffness rises, so making a constriction at a place that experiences lots of compression, will raise frequency. And bunching up air makes its mas//density larger, so in a part of the vocal tract where air moves a lot, constricting raises mass! So making a constriction increases mass and increases stiffness. </a:t>
            </a:r>
          </a:p>
          <a:p>
            <a:endParaRPr lang="en-US" sz="2400"/>
          </a:p>
          <a:p>
            <a:r>
              <a:rPr lang="en-US" sz="2400"/>
              <a:t>But be careful!!!! </a:t>
            </a:r>
            <a:r>
              <a:rPr lang="en-US" sz="2400">
                <a:highlight>
                  <a:srgbClr val="FFFF00"/>
                </a:highlight>
              </a:rPr>
              <a:t>This doesn’t mean that constrictions have no effect on frequency!!! </a:t>
            </a:r>
            <a:r>
              <a:rPr lang="en-US" sz="2400"/>
              <a:t>Why? Because the parts of a vibrating medium that moves the most alternate with those that compress/uncompress the most!</a:t>
            </a:r>
          </a:p>
        </p:txBody>
      </p:sp>
      <p:pic>
        <p:nvPicPr>
          <p:cNvPr id="4" name="Picture 3">
            <a:extLst>
              <a:ext uri="{FF2B5EF4-FFF2-40B4-BE49-F238E27FC236}">
                <a16:creationId xmlns:a16="http://schemas.microsoft.com/office/drawing/2014/main" id="{AF9A80F0-44C0-8FEF-DA9E-3944E806526C}"/>
              </a:ext>
            </a:extLst>
          </p:cNvPr>
          <p:cNvPicPr>
            <a:picLocks noChangeAspect="1"/>
          </p:cNvPicPr>
          <p:nvPr/>
        </p:nvPicPr>
        <p:blipFill>
          <a:blip r:embed="rId2"/>
          <a:stretch>
            <a:fillRect/>
          </a:stretch>
        </p:blipFill>
        <p:spPr>
          <a:xfrm>
            <a:off x="3993098" y="218663"/>
            <a:ext cx="1372251" cy="1252330"/>
          </a:xfrm>
          <a:prstGeom prst="rect">
            <a:avLst/>
          </a:prstGeom>
        </p:spPr>
      </p:pic>
      <p:pic>
        <p:nvPicPr>
          <p:cNvPr id="5" name="Picture 4">
            <a:extLst>
              <a:ext uri="{FF2B5EF4-FFF2-40B4-BE49-F238E27FC236}">
                <a16:creationId xmlns:a16="http://schemas.microsoft.com/office/drawing/2014/main" id="{0C5F695A-7514-E6DB-C88E-F25069EA7211}"/>
              </a:ext>
            </a:extLst>
          </p:cNvPr>
          <p:cNvPicPr>
            <a:picLocks noChangeAspect="1"/>
          </p:cNvPicPr>
          <p:nvPr/>
        </p:nvPicPr>
        <p:blipFill>
          <a:blip r:embed="rId3"/>
          <a:stretch>
            <a:fillRect/>
          </a:stretch>
        </p:blipFill>
        <p:spPr>
          <a:xfrm>
            <a:off x="7491671" y="218663"/>
            <a:ext cx="1417109" cy="1252330"/>
          </a:xfrm>
          <a:prstGeom prst="rect">
            <a:avLst/>
          </a:prstGeom>
        </p:spPr>
      </p:pic>
      <p:cxnSp>
        <p:nvCxnSpPr>
          <p:cNvPr id="7" name="Straight Arrow Connector 6">
            <a:extLst>
              <a:ext uri="{FF2B5EF4-FFF2-40B4-BE49-F238E27FC236}">
                <a16:creationId xmlns:a16="http://schemas.microsoft.com/office/drawing/2014/main" id="{927329A2-922E-3D35-6161-027D0F454BD7}"/>
              </a:ext>
            </a:extLst>
          </p:cNvPr>
          <p:cNvCxnSpPr>
            <a:stCxn id="4" idx="3"/>
            <a:endCxn id="5" idx="1"/>
          </p:cNvCxnSpPr>
          <p:nvPr/>
        </p:nvCxnSpPr>
        <p:spPr>
          <a:xfrm>
            <a:off x="5365349" y="844828"/>
            <a:ext cx="2126322"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6181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1FB74-046C-5522-D2EF-632DB9361DBE}"/>
            </a:ext>
          </a:extLst>
        </p:cNvPr>
        <p:cNvGrpSpPr/>
        <p:nvPr/>
      </p:nvGrpSpPr>
      <p:grpSpPr>
        <a:xfrm>
          <a:off x="0" y="0"/>
          <a:ext cx="0" cy="0"/>
          <a:chOff x="0" y="0"/>
          <a:chExt cx="0" cy="0"/>
        </a:xfrm>
      </p:grpSpPr>
      <p:pic>
        <p:nvPicPr>
          <p:cNvPr id="5" name="schwaF13_86781478-4D12-4316-931B-51D7BD47440D.mp4">
            <a:hlinkClick r:id="" action="ppaction://media"/>
            <a:extLst>
              <a:ext uri="{FF2B5EF4-FFF2-40B4-BE49-F238E27FC236}">
                <a16:creationId xmlns:a16="http://schemas.microsoft.com/office/drawing/2014/main" id="{890E2A26-BD6C-AEAE-95B3-E20BA31D6B7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24000" y="0"/>
            <a:ext cx="9144000" cy="6858000"/>
          </a:xfrm>
          <a:prstGeom prst="rect">
            <a:avLst/>
          </a:prstGeom>
        </p:spPr>
      </p:pic>
    </p:spTree>
    <p:extLst>
      <p:ext uri="{BB962C8B-B14F-4D97-AF65-F5344CB8AC3E}">
        <p14:creationId xmlns:p14="http://schemas.microsoft.com/office/powerpoint/2010/main" val="614649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F6DE8-409B-7FB4-2C04-1C6A785146C5}"/>
            </a:ext>
          </a:extLst>
        </p:cNvPr>
        <p:cNvGrpSpPr/>
        <p:nvPr/>
      </p:nvGrpSpPr>
      <p:grpSpPr>
        <a:xfrm>
          <a:off x="0" y="0"/>
          <a:ext cx="0" cy="0"/>
          <a:chOff x="0" y="0"/>
          <a:chExt cx="0" cy="0"/>
        </a:xfrm>
      </p:grpSpPr>
      <p:pic>
        <p:nvPicPr>
          <p:cNvPr id="2" name="MOVIE_base">
            <a:hlinkClick r:id="" action="ppaction://media"/>
            <a:extLst>
              <a:ext uri="{FF2B5EF4-FFF2-40B4-BE49-F238E27FC236}">
                <a16:creationId xmlns:a16="http://schemas.microsoft.com/office/drawing/2014/main" id="{41B7F88A-36C8-5846-DB85-52379FB2EA2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1695" cy="6858000"/>
          </a:xfrm>
          <a:prstGeom prst="rect">
            <a:avLst/>
          </a:prstGeom>
        </p:spPr>
      </p:pic>
    </p:spTree>
    <p:extLst>
      <p:ext uri="{BB962C8B-B14F-4D97-AF65-F5344CB8AC3E}">
        <p14:creationId xmlns:p14="http://schemas.microsoft.com/office/powerpoint/2010/main" val="3553943269"/>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mediacall" presetSubtype="0" fill="hold" nodeType="afterEffect">
                            <p:stCondLst>
                              <p:cond delay="0"/>
                            </p:stCondLst>
                            <p:childTnLst>
                              <p:cmd type="call" cmd="playFrom(0.0)">
                                <p:cBhvr>
                                  <p:cTn id="5" dur="1" fill="hold"/>
                                  <p:tgtEl>
                                    <p:spTgt spid="2"/>
                                  </p:tgtEl>
                                </p:cBhvr>
                              </p:cmd>
                            </p:childTnLst>
                          </p:cTn>
                        </p:par>
                      </p:childTnLst>
                    </p:cTn>
                  </p:par>
                </p:childTnLst>
              </p:cTn>
              <p:prevCondLst>
                <p:cond evt="onPrev" delay="0">
                  <p:tgtEl>
                    <p:sldTgt/>
                  </p:tgtEl>
                </p:cond>
              </p:prevCondLst>
              <p:nextCondLst>
                <p:cond evt="onNext" delay="0">
                  <p:tgtEl>
                    <p:sldTgt/>
                  </p:tgtEl>
                </p:cond>
              </p:nextCondLst>
            </p:seq>
            <p:video>
              <p:cMediaNode vol="0" mute="1">
                <p:cTn id="6" repeatCount="indefinite" restart="always" fill="hold">
                  <p:stCondLst>
                    <p:cond delay="indefinite"/>
                  </p:stCondLst>
                </p:cTn>
                <p:tgtEl>
                  <p:spTgt spid="2"/>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OVIE_u">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1695" cy="6858000"/>
          </a:xfrm>
          <a:prstGeom prst="rect">
            <a:avLst/>
          </a:prstGeom>
        </p:spPr>
      </p:pic>
      <p:sp>
        <p:nvSpPr>
          <p:cNvPr id="3" name="REVEAL_1_u"/>
          <p:cNvSpPr/>
          <p:nvPr/>
        </p:nvSpPr>
        <p:spPr>
          <a:xfrm>
            <a:off x="7178040" y="56692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/u/ = free-end loading</a:t>
            </a:r>
          </a:p>
        </p:txBody>
      </p:sp>
      <p:sp>
        <p:nvSpPr>
          <p:cNvPr id="4" name="REVEAL_2_u"/>
          <p:cNvSpPr/>
          <p:nvPr/>
        </p:nvSpPr>
        <p:spPr>
          <a:xfrm>
            <a:off x="7178040" y="97840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Mode 1: motion dominates</a:t>
            </a:r>
          </a:p>
        </p:txBody>
      </p:sp>
      <p:sp>
        <p:nvSpPr>
          <p:cNvPr id="5" name="REVEAL_3_u"/>
          <p:cNvSpPr/>
          <p:nvPr/>
        </p:nvSpPr>
        <p:spPr>
          <a:xfrm>
            <a:off x="7178040" y="138988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Mode 2: motion dominates</a:t>
            </a:r>
          </a:p>
        </p:txBody>
      </p:sp>
      <p:sp>
        <p:nvSpPr>
          <p:cNvPr id="6" name="REVEAL_4_u"/>
          <p:cNvSpPr/>
          <p:nvPr/>
        </p:nvSpPr>
        <p:spPr>
          <a:xfrm>
            <a:off x="7178040" y="180136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F1 ↓     F2 ↓</a:t>
            </a:r>
          </a:p>
        </p:txBody>
      </p:sp>
      <p:sp>
        <p:nvSpPr>
          <p:cNvPr id="7" name="HINT_u"/>
          <p:cNvSpPr txBox="1"/>
          <p:nvPr/>
        </p:nvSpPr>
        <p:spPr>
          <a:xfrm>
            <a:off x="7315200" y="2395728"/>
            <a:ext cx="4114800" cy="274320"/>
          </a:xfrm>
          <a:prstGeom prst="rect">
            <a:avLst/>
          </a:prstGeom>
          <a:noFill/>
        </p:spPr>
        <p:txBody>
          <a:bodyPr wrap="none">
            <a:spAutoFit/>
          </a:bodyPr>
          <a:lstStyle/>
          <a:p>
            <a:pPr>
              <a:defRPr sz="1200">
                <a:solidFill>
                  <a:srgbClr val="5A6978"/>
                </a:solidFill>
              </a:defRPr>
            </a:pPr>
            <a:r>
              <a:t>Click to reveal the reasoning steps.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mediacall" presetSubtype="0" fill="hold" nodeType="afterEffect">
                            <p:stCondLst>
                              <p:cond delay="0"/>
                            </p:stCondLst>
                            <p:childTnLst>
                              <p:cmd type="call" cmd="playFrom(0.0)">
                                <p:cBhvr>
                                  <p:cTn id="5" dur="1" fill="hold"/>
                                  <p:tgtEl>
                                    <p:spTgt spid="2"/>
                                  </p:tgtEl>
                                </p:cBhvr>
                              </p:cmd>
                            </p:childTnLst>
                          </p:cTn>
                        </p:par>
                      </p:childTnLst>
                    </p:cTn>
                  </p:par>
                  <p:par>
                    <p:cTn id="6" fill="hold">
                      <p:stCondLst>
                        <p:cond delay="indefinite"/>
                      </p:stCondLst>
                      <p:childTnLst>
                        <p:par>
                          <p:cTn id="7" presetID="1" presetClass="entr" presetSubtype="0" fill="hold" nodeType="clickEffect">
                            <p:stCondLst>
                              <p:cond delay="0"/>
                            </p:stCondLst>
                            <p:childTnLst>
                              <p:animEffect transition="in" filter="fade">
                                <p:cBhvr>
                                  <p:cTn id="8" dur="350" fill="hold"/>
                                  <p:tgtEl>
                                    <p:spTgt spid="3"/>
                                  </p:tgtEl>
                                </p:cBhvr>
                              </p:animEffect>
                            </p:childTnLst>
                          </p:cTn>
                        </p:par>
                      </p:childTnLst>
                    </p:cTn>
                  </p:par>
                  <p:par>
                    <p:cTn id="9" fill="hold">
                      <p:stCondLst>
                        <p:cond delay="indefinite"/>
                      </p:stCondLst>
                      <p:childTnLst>
                        <p:par>
                          <p:cTn id="10" presetID="1" presetClass="entr" presetSubtype="0" fill="hold" nodeType="clickEffect">
                            <p:stCondLst>
                              <p:cond delay="0"/>
                            </p:stCondLst>
                            <p:childTnLst>
                              <p:animEffect transition="in" filter="fade">
                                <p:cBhvr>
                                  <p:cTn id="11" dur="350" fill="hold"/>
                                  <p:tgtEl>
                                    <p:spTgt spid="4"/>
                                  </p:tgtEl>
                                </p:cBhvr>
                              </p:animEffect>
                            </p:childTnLst>
                          </p:cTn>
                        </p:par>
                      </p:childTnLst>
                    </p:cTn>
                  </p:par>
                  <p:par>
                    <p:cTn id="12" fill="hold">
                      <p:stCondLst>
                        <p:cond delay="indefinite"/>
                      </p:stCondLst>
                      <p:childTnLst>
                        <p:par>
                          <p:cTn id="13" presetID="1" presetClass="entr" presetSubtype="0" fill="hold" nodeType="clickEffect">
                            <p:stCondLst>
                              <p:cond delay="0"/>
                            </p:stCondLst>
                            <p:childTnLst>
                              <p:animEffect transition="in" filter="fade">
                                <p:cBhvr>
                                  <p:cTn id="14" dur="350" fill="hold"/>
                                  <p:tgtEl>
                                    <p:spTgt spid="5"/>
                                  </p:tgtEl>
                                </p:cBhvr>
                              </p:animEffect>
                            </p:childTnLst>
                          </p:cTn>
                        </p:par>
                      </p:childTnLst>
                    </p:cTn>
                  </p:par>
                  <p:par>
                    <p:cTn id="15" fill="hold">
                      <p:stCondLst>
                        <p:cond delay="indefinite"/>
                      </p:stCondLst>
                      <p:childTnLst>
                        <p:par>
                          <p:cTn id="16" presetID="1" presetClass="entr" presetSubtype="0" fill="hold" nodeType="clickEffect">
                            <p:stCondLst>
                              <p:cond delay="0"/>
                            </p:stCondLst>
                            <p:childTnLst>
                              <p:animEffect transition="in" filter="fade">
                                <p:cBhvr>
                                  <p:cTn id="17" dur="350" fill="hold"/>
                                  <p:tgtEl>
                                    <p:spTgt spid="6"/>
                                  </p:tgtEl>
                                </p:cBhvr>
                              </p:animEffect>
                            </p:childTnLst>
                          </p:cTn>
                        </p:par>
                      </p:childTnLst>
                    </p:cTn>
                  </p:par>
                </p:childTnLst>
              </p:cTn>
              <p:prevCondLst>
                <p:cond evt="onPrev" delay="0">
                  <p:tgtEl>
                    <p:sldTgt/>
                  </p:tgtEl>
                </p:cond>
              </p:prevCondLst>
              <p:nextCondLst>
                <p:cond evt="onNext" delay="0">
                  <p:tgtEl>
                    <p:sldTgt/>
                  </p:tgtEl>
                </p:cond>
              </p:nextCondLst>
            </p:seq>
            <p:video>
              <p:cMediaNode vol="0" mute="1">
                <p:cTn id="18" repeatCount="indefinite" restart="always" fill="hold">
                  <p:stCondLst>
                    <p:cond delay="indefinite"/>
                  </p:stCondLst>
                </p:cTn>
                <p:tgtEl>
                  <p:spTgt spid="2"/>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OVIE_i">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1695" cy="6858000"/>
          </a:xfrm>
          <a:prstGeom prst="rect">
            <a:avLst/>
          </a:prstGeom>
        </p:spPr>
      </p:pic>
      <p:sp>
        <p:nvSpPr>
          <p:cNvPr id="3" name="REVEAL_1_i"/>
          <p:cNvSpPr/>
          <p:nvPr/>
        </p:nvSpPr>
        <p:spPr>
          <a:xfrm>
            <a:off x="7178040" y="56692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/i/ = constriction near 2/3</a:t>
            </a:r>
          </a:p>
        </p:txBody>
      </p:sp>
      <p:sp>
        <p:nvSpPr>
          <p:cNvPr id="4" name="REVEAL_2_i"/>
          <p:cNvSpPr/>
          <p:nvPr/>
        </p:nvSpPr>
        <p:spPr>
          <a:xfrm>
            <a:off x="7178040" y="97840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Mode 1: mass motion dominates</a:t>
            </a:r>
          </a:p>
        </p:txBody>
      </p:sp>
      <p:sp>
        <p:nvSpPr>
          <p:cNvPr id="5" name="REVEAL_3_i"/>
          <p:cNvSpPr/>
          <p:nvPr/>
        </p:nvSpPr>
        <p:spPr>
          <a:xfrm>
            <a:off x="7178040" y="138988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Mode 2: springiness dominates</a:t>
            </a:r>
          </a:p>
        </p:txBody>
      </p:sp>
      <p:sp>
        <p:nvSpPr>
          <p:cNvPr id="6" name="REVEAL_4_i"/>
          <p:cNvSpPr/>
          <p:nvPr/>
        </p:nvSpPr>
        <p:spPr>
          <a:xfrm>
            <a:off x="7178040" y="180136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F1 ↓     F2 ↑</a:t>
            </a:r>
          </a:p>
        </p:txBody>
      </p:sp>
      <p:sp>
        <p:nvSpPr>
          <p:cNvPr id="7" name="HINT_i"/>
          <p:cNvSpPr txBox="1"/>
          <p:nvPr/>
        </p:nvSpPr>
        <p:spPr>
          <a:xfrm>
            <a:off x="7315200" y="2395728"/>
            <a:ext cx="4114800" cy="274320"/>
          </a:xfrm>
          <a:prstGeom prst="rect">
            <a:avLst/>
          </a:prstGeom>
          <a:noFill/>
        </p:spPr>
        <p:txBody>
          <a:bodyPr wrap="none">
            <a:spAutoFit/>
          </a:bodyPr>
          <a:lstStyle/>
          <a:p>
            <a:pPr>
              <a:defRPr sz="1200">
                <a:solidFill>
                  <a:srgbClr val="5A6978"/>
                </a:solidFill>
              </a:defRPr>
            </a:pPr>
            <a:r>
              <a:t>Click to reveal the reasoning steps.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mediacall" presetSubtype="0" fill="hold" nodeType="afterEffect">
                            <p:stCondLst>
                              <p:cond delay="0"/>
                            </p:stCondLst>
                            <p:childTnLst>
                              <p:cmd type="call" cmd="playFrom(0.0)">
                                <p:cBhvr>
                                  <p:cTn id="5" dur="1" fill="hold"/>
                                  <p:tgtEl>
                                    <p:spTgt spid="2"/>
                                  </p:tgtEl>
                                </p:cBhvr>
                              </p:cmd>
                            </p:childTnLst>
                          </p:cTn>
                        </p:par>
                      </p:childTnLst>
                    </p:cTn>
                  </p:par>
                  <p:par>
                    <p:cTn id="6" fill="hold">
                      <p:stCondLst>
                        <p:cond delay="indefinite"/>
                      </p:stCondLst>
                      <p:childTnLst>
                        <p:par>
                          <p:cTn id="7" presetID="1" presetClass="entr" presetSubtype="0" fill="hold" nodeType="clickEffect">
                            <p:stCondLst>
                              <p:cond delay="0"/>
                            </p:stCondLst>
                            <p:childTnLst>
                              <p:animEffect transition="in" filter="fade">
                                <p:cBhvr>
                                  <p:cTn id="8" dur="350" fill="hold"/>
                                  <p:tgtEl>
                                    <p:spTgt spid="3"/>
                                  </p:tgtEl>
                                </p:cBhvr>
                              </p:animEffect>
                            </p:childTnLst>
                          </p:cTn>
                        </p:par>
                      </p:childTnLst>
                    </p:cTn>
                  </p:par>
                  <p:par>
                    <p:cTn id="9" fill="hold">
                      <p:stCondLst>
                        <p:cond delay="indefinite"/>
                      </p:stCondLst>
                      <p:childTnLst>
                        <p:par>
                          <p:cTn id="10" presetID="1" presetClass="entr" presetSubtype="0" fill="hold" nodeType="clickEffect">
                            <p:stCondLst>
                              <p:cond delay="0"/>
                            </p:stCondLst>
                            <p:childTnLst>
                              <p:animEffect transition="in" filter="fade">
                                <p:cBhvr>
                                  <p:cTn id="11" dur="350" fill="hold"/>
                                  <p:tgtEl>
                                    <p:spTgt spid="4"/>
                                  </p:tgtEl>
                                </p:cBhvr>
                              </p:animEffect>
                            </p:childTnLst>
                          </p:cTn>
                        </p:par>
                      </p:childTnLst>
                    </p:cTn>
                  </p:par>
                  <p:par>
                    <p:cTn id="12" fill="hold">
                      <p:stCondLst>
                        <p:cond delay="indefinite"/>
                      </p:stCondLst>
                      <p:childTnLst>
                        <p:par>
                          <p:cTn id="13" presetID="1" presetClass="entr" presetSubtype="0" fill="hold" nodeType="clickEffect">
                            <p:stCondLst>
                              <p:cond delay="0"/>
                            </p:stCondLst>
                            <p:childTnLst>
                              <p:animEffect transition="in" filter="fade">
                                <p:cBhvr>
                                  <p:cTn id="14" dur="350" fill="hold"/>
                                  <p:tgtEl>
                                    <p:spTgt spid="5"/>
                                  </p:tgtEl>
                                </p:cBhvr>
                              </p:animEffect>
                            </p:childTnLst>
                          </p:cTn>
                        </p:par>
                      </p:childTnLst>
                    </p:cTn>
                  </p:par>
                  <p:par>
                    <p:cTn id="15" fill="hold">
                      <p:stCondLst>
                        <p:cond delay="indefinite"/>
                      </p:stCondLst>
                      <p:childTnLst>
                        <p:par>
                          <p:cTn id="16" presetID="1" presetClass="entr" presetSubtype="0" fill="hold" nodeType="clickEffect">
                            <p:stCondLst>
                              <p:cond delay="0"/>
                            </p:stCondLst>
                            <p:childTnLst>
                              <p:animEffect transition="in" filter="fade">
                                <p:cBhvr>
                                  <p:cTn id="17" dur="350" fill="hold"/>
                                  <p:tgtEl>
                                    <p:spTgt spid="6"/>
                                  </p:tgtEl>
                                </p:cBhvr>
                              </p:animEffect>
                            </p:childTnLst>
                          </p:cTn>
                        </p:par>
                      </p:childTnLst>
                    </p:cTn>
                  </p:par>
                </p:childTnLst>
              </p:cTn>
              <p:prevCondLst>
                <p:cond evt="onPrev" delay="0">
                  <p:tgtEl>
                    <p:sldTgt/>
                  </p:tgtEl>
                </p:cond>
              </p:prevCondLst>
              <p:nextCondLst>
                <p:cond evt="onNext" delay="0">
                  <p:tgtEl>
                    <p:sldTgt/>
                  </p:tgtEl>
                </p:cond>
              </p:nextCondLst>
            </p:seq>
            <p:video>
              <p:cMediaNode vol="0" mute="1">
                <p:cTn id="18" repeatCount="indefinite" restart="always" fill="hold">
                  <p:stCondLst>
                    <p:cond delay="indefinite"/>
                  </p:stCondLst>
                </p:cTn>
                <p:tgtEl>
                  <p:spTgt spid="2"/>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OVIE_a">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1695" cy="6858000"/>
          </a:xfrm>
          <a:prstGeom prst="rect">
            <a:avLst/>
          </a:prstGeom>
        </p:spPr>
      </p:pic>
      <p:sp>
        <p:nvSpPr>
          <p:cNvPr id="3" name="REVEAL_1_a"/>
          <p:cNvSpPr/>
          <p:nvPr/>
        </p:nvSpPr>
        <p:spPr>
          <a:xfrm>
            <a:off x="7178040" y="56692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/a/ = constriction near 1/3</a:t>
            </a:r>
          </a:p>
        </p:txBody>
      </p:sp>
      <p:sp>
        <p:nvSpPr>
          <p:cNvPr id="4" name="REVEAL_2_a"/>
          <p:cNvSpPr/>
          <p:nvPr/>
        </p:nvSpPr>
        <p:spPr>
          <a:xfrm>
            <a:off x="7178040" y="97840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Mode 1: springiness dominates</a:t>
            </a:r>
          </a:p>
        </p:txBody>
      </p:sp>
      <p:sp>
        <p:nvSpPr>
          <p:cNvPr id="5" name="REVEAL_3_a"/>
          <p:cNvSpPr/>
          <p:nvPr/>
        </p:nvSpPr>
        <p:spPr>
          <a:xfrm>
            <a:off x="7178040" y="138988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Mode 2: mass motion dominates</a:t>
            </a:r>
          </a:p>
        </p:txBody>
      </p:sp>
      <p:sp>
        <p:nvSpPr>
          <p:cNvPr id="6" name="REVEAL_4_a"/>
          <p:cNvSpPr/>
          <p:nvPr/>
        </p:nvSpPr>
        <p:spPr>
          <a:xfrm>
            <a:off x="7178040" y="180136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F1 ↑     F2 ↓</a:t>
            </a:r>
          </a:p>
        </p:txBody>
      </p:sp>
      <p:sp>
        <p:nvSpPr>
          <p:cNvPr id="7" name="HINT_a"/>
          <p:cNvSpPr txBox="1"/>
          <p:nvPr/>
        </p:nvSpPr>
        <p:spPr>
          <a:xfrm>
            <a:off x="7315200" y="2395728"/>
            <a:ext cx="4114800" cy="274320"/>
          </a:xfrm>
          <a:prstGeom prst="rect">
            <a:avLst/>
          </a:prstGeom>
          <a:noFill/>
        </p:spPr>
        <p:txBody>
          <a:bodyPr wrap="none">
            <a:spAutoFit/>
          </a:bodyPr>
          <a:lstStyle/>
          <a:p>
            <a:pPr>
              <a:defRPr sz="1200">
                <a:solidFill>
                  <a:srgbClr val="5A6978"/>
                </a:solidFill>
              </a:defRPr>
            </a:pPr>
            <a:r>
              <a:t>Click to reveal the reasoning steps.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mediacall" presetSubtype="0" fill="hold" nodeType="afterEffect">
                            <p:stCondLst>
                              <p:cond delay="0"/>
                            </p:stCondLst>
                            <p:childTnLst>
                              <p:cmd type="call" cmd="playFrom(0.0)">
                                <p:cBhvr>
                                  <p:cTn id="5" dur="1" fill="hold"/>
                                  <p:tgtEl>
                                    <p:spTgt spid="2"/>
                                  </p:tgtEl>
                                </p:cBhvr>
                              </p:cmd>
                            </p:childTnLst>
                          </p:cTn>
                        </p:par>
                      </p:childTnLst>
                    </p:cTn>
                  </p:par>
                  <p:par>
                    <p:cTn id="6" fill="hold">
                      <p:stCondLst>
                        <p:cond delay="indefinite"/>
                      </p:stCondLst>
                      <p:childTnLst>
                        <p:par>
                          <p:cTn id="7" presetID="1" presetClass="entr" presetSubtype="0" fill="hold" nodeType="clickEffect">
                            <p:stCondLst>
                              <p:cond delay="0"/>
                            </p:stCondLst>
                            <p:childTnLst>
                              <p:animEffect transition="in" filter="fade">
                                <p:cBhvr>
                                  <p:cTn id="8" dur="350" fill="hold"/>
                                  <p:tgtEl>
                                    <p:spTgt spid="3"/>
                                  </p:tgtEl>
                                </p:cBhvr>
                              </p:animEffect>
                            </p:childTnLst>
                          </p:cTn>
                        </p:par>
                      </p:childTnLst>
                    </p:cTn>
                  </p:par>
                  <p:par>
                    <p:cTn id="9" fill="hold">
                      <p:stCondLst>
                        <p:cond delay="indefinite"/>
                      </p:stCondLst>
                      <p:childTnLst>
                        <p:par>
                          <p:cTn id="10" presetID="1" presetClass="entr" presetSubtype="0" fill="hold" nodeType="clickEffect">
                            <p:stCondLst>
                              <p:cond delay="0"/>
                            </p:stCondLst>
                            <p:childTnLst>
                              <p:animEffect transition="in" filter="fade">
                                <p:cBhvr>
                                  <p:cTn id="11" dur="350" fill="hold"/>
                                  <p:tgtEl>
                                    <p:spTgt spid="4"/>
                                  </p:tgtEl>
                                </p:cBhvr>
                              </p:animEffect>
                            </p:childTnLst>
                          </p:cTn>
                        </p:par>
                      </p:childTnLst>
                    </p:cTn>
                  </p:par>
                  <p:par>
                    <p:cTn id="12" fill="hold">
                      <p:stCondLst>
                        <p:cond delay="indefinite"/>
                      </p:stCondLst>
                      <p:childTnLst>
                        <p:par>
                          <p:cTn id="13" presetID="1" presetClass="entr" presetSubtype="0" fill="hold" nodeType="clickEffect">
                            <p:stCondLst>
                              <p:cond delay="0"/>
                            </p:stCondLst>
                            <p:childTnLst>
                              <p:animEffect transition="in" filter="fade">
                                <p:cBhvr>
                                  <p:cTn id="14" dur="350" fill="hold"/>
                                  <p:tgtEl>
                                    <p:spTgt spid="5"/>
                                  </p:tgtEl>
                                </p:cBhvr>
                              </p:animEffect>
                            </p:childTnLst>
                          </p:cTn>
                        </p:par>
                      </p:childTnLst>
                    </p:cTn>
                  </p:par>
                  <p:par>
                    <p:cTn id="15" fill="hold">
                      <p:stCondLst>
                        <p:cond delay="indefinite"/>
                      </p:stCondLst>
                      <p:childTnLst>
                        <p:par>
                          <p:cTn id="16" presetID="1" presetClass="entr" presetSubtype="0" fill="hold" nodeType="clickEffect">
                            <p:stCondLst>
                              <p:cond delay="0"/>
                            </p:stCondLst>
                            <p:childTnLst>
                              <p:animEffect transition="in" filter="fade">
                                <p:cBhvr>
                                  <p:cTn id="17" dur="350" fill="hold"/>
                                  <p:tgtEl>
                                    <p:spTgt spid="6"/>
                                  </p:tgtEl>
                                </p:cBhvr>
                              </p:animEffect>
                            </p:childTnLst>
                          </p:cTn>
                        </p:par>
                      </p:childTnLst>
                    </p:cTn>
                  </p:par>
                </p:childTnLst>
              </p:cTn>
              <p:prevCondLst>
                <p:cond evt="onPrev" delay="0">
                  <p:tgtEl>
                    <p:sldTgt/>
                  </p:tgtEl>
                </p:cond>
              </p:prevCondLst>
              <p:nextCondLst>
                <p:cond evt="onNext" delay="0">
                  <p:tgtEl>
                    <p:sldTgt/>
                  </p:tgtEl>
                </p:cond>
              </p:nextCondLst>
            </p:seq>
            <p:video>
              <p:cMediaNode vol="0" mute="1">
                <p:cTn id="18" repeatCount="indefinite" restart="always" fill="hold">
                  <p:stCondLst>
                    <p:cond delay="indefinite"/>
                  </p:stCondLst>
                </p:cTn>
                <p:tgtEl>
                  <p:spTgt spid="2"/>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chwaF13_86781478-4D12-4316-931B-51D7BD47440D.mp4">
            <a:hlinkClick r:id="" action="ppaction://media"/>
            <a:extLst>
              <a:ext uri="{FF2B5EF4-FFF2-40B4-BE49-F238E27FC236}">
                <a16:creationId xmlns:a16="http://schemas.microsoft.com/office/drawing/2014/main" id="{03A84EA6-8609-BC5E-289C-5D35E097ECE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24000" y="0"/>
            <a:ext cx="9144000" cy="6858000"/>
          </a:xfrm>
          <a:prstGeom prst="rect">
            <a:avLst/>
          </a:prstGeom>
        </p:spPr>
      </p:pic>
    </p:spTree>
    <p:extLst>
      <p:ext uri="{BB962C8B-B14F-4D97-AF65-F5344CB8AC3E}">
        <p14:creationId xmlns:p14="http://schemas.microsoft.com/office/powerpoint/2010/main" val="1212082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source_filter_spectrogram_assets/schwa_base.png"/>
          <p:cNvPicPr>
            <a:picLocks noChangeAspect="1"/>
          </p:cNvPicPr>
          <p:nvPr/>
        </p:nvPicPr>
        <p:blipFill>
          <a:blip r:embed="rId3"/>
          <a:stretch>
            <a:fillRect/>
          </a:stretch>
        </p:blipFill>
        <p:spPr>
          <a:xfrm>
            <a:off x="0" y="0"/>
            <a:ext cx="12191695" cy="6858000"/>
          </a:xfrm>
          <a:prstGeom prst="rect">
            <a:avLst/>
          </a:prstGeom>
        </p:spPr>
      </p:pic>
      <p:pic>
        <p:nvPicPr>
          <p:cNvPr id="3" name="Image 1" descr="/mnt/data/source_filter_spectrogram_assets/schwa_overlay.png"/>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animEffect transition="in" filter="fade">
                                <p:cBhvr>
                                  <p:cTn id="5" dur="350" fill="hold"/>
                                  <p:tgtEl>
                                    <p:spTgt spid="3"/>
                                  </p:tgtEl>
                                </p:cBhvr>
                              </p:animEffect>
                            </p:childTnLst>
                          </p:cTn>
                        </p:par>
                      </p:childTnLst>
                    </p:cTn>
                  </p:par>
                </p:childTnLst>
              </p:cTn>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source_filter_spectrogram_assets/i_base.png"/>
          <p:cNvPicPr>
            <a:picLocks noChangeAspect="1"/>
          </p:cNvPicPr>
          <p:nvPr/>
        </p:nvPicPr>
        <p:blipFill>
          <a:blip r:embed="rId3"/>
          <a:stretch>
            <a:fillRect/>
          </a:stretch>
        </p:blipFill>
        <p:spPr>
          <a:xfrm>
            <a:off x="0" y="0"/>
            <a:ext cx="12191695" cy="6858000"/>
          </a:xfrm>
          <a:prstGeom prst="rect">
            <a:avLst/>
          </a:prstGeom>
        </p:spPr>
      </p:pic>
      <p:pic>
        <p:nvPicPr>
          <p:cNvPr id="3" name="Image 1" descr="/mnt/data/source_filter_spectrogram_assets/i_overlay.png"/>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animEffect transition="in" filter="fade">
                                <p:cBhvr>
                                  <p:cTn id="5" dur="350" fill="hold"/>
                                  <p:tgtEl>
                                    <p:spTgt spid="3"/>
                                  </p:tgtEl>
                                </p:cBhvr>
                              </p:animEffect>
                            </p:childTnLst>
                          </p:cTn>
                        </p:par>
                      </p:childTnLst>
                    </p:cTn>
                  </p:par>
                </p:childTnLst>
              </p:cTn>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source_filter_spectrogram_assets/a_base.png"/>
          <p:cNvPicPr>
            <a:picLocks noChangeAspect="1"/>
          </p:cNvPicPr>
          <p:nvPr/>
        </p:nvPicPr>
        <p:blipFill>
          <a:blip r:embed="rId3"/>
          <a:stretch>
            <a:fillRect/>
          </a:stretch>
        </p:blipFill>
        <p:spPr>
          <a:xfrm>
            <a:off x="0" y="0"/>
            <a:ext cx="12191695" cy="6858000"/>
          </a:xfrm>
          <a:prstGeom prst="rect">
            <a:avLst/>
          </a:prstGeom>
        </p:spPr>
      </p:pic>
      <p:pic>
        <p:nvPicPr>
          <p:cNvPr id="3" name="Image 1" descr="/mnt/data/source_filter_spectrogram_assets/a_overlay.png"/>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animEffect transition="in" filter="fade">
                                <p:cBhvr>
                                  <p:cTn id="5" dur="350" fill="hold"/>
                                  <p:tgtEl>
                                    <p:spTgt spid="3"/>
                                  </p:tgtEl>
                                </p:cBhvr>
                              </p:animEffect>
                            </p:childTnLst>
                          </p:cTn>
                        </p:par>
                      </p:childTnLst>
                    </p:cTn>
                  </p:par>
                </p:childTnLst>
              </p:cTn>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source_filter_spectrogram_assets/specgram_base.png"/>
          <p:cNvPicPr>
            <a:picLocks noChangeAspect="1"/>
          </p:cNvPicPr>
          <p:nvPr/>
        </p:nvPicPr>
        <p:blipFill>
          <a:blip r:embed="rId3"/>
          <a:stretch>
            <a:fillRect/>
          </a:stretch>
        </p:blipFill>
        <p:spPr>
          <a:xfrm>
            <a:off x="0" y="0"/>
            <a:ext cx="12191695" cy="6858000"/>
          </a:xfrm>
          <a:prstGeom prst="rect">
            <a:avLst/>
          </a:prstGeom>
        </p:spPr>
      </p:pic>
      <p:pic>
        <p:nvPicPr>
          <p:cNvPr id="3" name="Image 1" descr="/mnt/data/source_filter_spectrogram_assets/specgram_overlay1.png"/>
          <p:cNvPicPr>
            <a:picLocks noChangeAspect="1"/>
          </p:cNvPicPr>
          <p:nvPr/>
        </p:nvPicPr>
        <p:blipFill>
          <a:blip r:embed="rId4"/>
          <a:stretch>
            <a:fillRect/>
          </a:stretch>
        </p:blipFill>
        <p:spPr>
          <a:xfrm>
            <a:off x="0" y="0"/>
            <a:ext cx="12191695" cy="6858000"/>
          </a:xfrm>
          <a:prstGeom prst="rect">
            <a:avLst/>
          </a:prstGeom>
        </p:spPr>
      </p:pic>
      <p:pic>
        <p:nvPicPr>
          <p:cNvPr id="4" name="Image 2" descr="/mnt/data/source_filter_spectrogram_assets/specgram_overlay2.png"/>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animEffect transition="in" filter="fade">
                                <p:cBhvr>
                                  <p:cTn id="5" dur="350" fill="hold"/>
                                  <p:tgtEl>
                                    <p:spTgt spid="3"/>
                                  </p:tgtEl>
                                </p:cBhvr>
                              </p:animEffect>
                            </p:childTnLst>
                          </p:cTn>
                        </p:par>
                      </p:childTnLst>
                    </p:cTn>
                  </p:par>
                  <p:par>
                    <p:cTn id="6" fill="hold">
                      <p:stCondLst>
                        <p:cond delay="indefinite"/>
                      </p:stCondLst>
                      <p:childTnLst>
                        <p:par>
                          <p:cTn id="7" presetID="1" presetClass="entr" presetSubtype="0" fill="hold" nodeType="clickEffect">
                            <p:stCondLst>
                              <p:cond delay="0"/>
                            </p:stCondLst>
                            <p:childTnLst>
                              <p:animEffect transition="in" filter="fade">
                                <p:cBhvr>
                                  <p:cTn id="8" dur="350" fill="hold"/>
                                  <p:tgtEl>
                                    <p:spTgt spid="4"/>
                                  </p:tgtEl>
                                </p:cBhvr>
                              </p:animEffect>
                            </p:childTnLst>
                          </p:cTn>
                        </p:par>
                      </p:childTnLst>
                    </p:cTn>
                  </p:par>
                </p:childTnLst>
              </p:cTn>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F8D58-4F98-C962-1EB5-F0A6212B61F5}"/>
              </a:ext>
            </a:extLst>
          </p:cNvPr>
          <p:cNvSpPr>
            <a:spLocks noGrp="1"/>
          </p:cNvSpPr>
          <p:nvPr>
            <p:ph type="title"/>
          </p:nvPr>
        </p:nvSpPr>
        <p:spPr/>
        <p:txBody>
          <a:bodyPr/>
          <a:lstStyle/>
          <a:p>
            <a:r>
              <a:rPr lang="en-US"/>
              <a:t>Where were you a year ago?</a:t>
            </a:r>
          </a:p>
        </p:txBody>
      </p:sp>
      <p:sp>
        <p:nvSpPr>
          <p:cNvPr id="3" name="Content Placeholder 2">
            <a:extLst>
              <a:ext uri="{FF2B5EF4-FFF2-40B4-BE49-F238E27FC236}">
                <a16:creationId xmlns:a16="http://schemas.microsoft.com/office/drawing/2014/main" id="{D39BFDDB-C54A-D327-5869-8A2C8C21651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66915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9D1FF-FE9C-ADC5-C525-F10390375B15}"/>
              </a:ext>
            </a:extLst>
          </p:cNvPr>
          <p:cNvSpPr>
            <a:spLocks noGrp="1"/>
          </p:cNvSpPr>
          <p:nvPr>
            <p:ph type="title"/>
          </p:nvPr>
        </p:nvSpPr>
        <p:spPr/>
        <p:txBody>
          <a:bodyPr/>
          <a:lstStyle/>
          <a:p>
            <a:r>
              <a:rPr lang="en-US"/>
              <a:t>Problem: Harmonics and Formants</a:t>
            </a:r>
          </a:p>
        </p:txBody>
      </p:sp>
      <p:sp>
        <p:nvSpPr>
          <p:cNvPr id="3" name="Content Placeholder 2">
            <a:extLst>
              <a:ext uri="{FF2B5EF4-FFF2-40B4-BE49-F238E27FC236}">
                <a16:creationId xmlns:a16="http://schemas.microsoft.com/office/drawing/2014/main" id="{BA517628-8AC0-1B15-33D5-2F403D7981C2}"/>
              </a:ext>
            </a:extLst>
          </p:cNvPr>
          <p:cNvSpPr>
            <a:spLocks noGrp="1"/>
          </p:cNvSpPr>
          <p:nvPr>
            <p:ph idx="1"/>
          </p:nvPr>
        </p:nvSpPr>
        <p:spPr>
          <a:xfrm>
            <a:off x="838200" y="1825625"/>
            <a:ext cx="5893904" cy="4351338"/>
          </a:xfrm>
        </p:spPr>
        <p:txBody>
          <a:bodyPr>
            <a:normAutofit fontScale="92500" lnSpcReduction="10000"/>
          </a:bodyPr>
          <a:lstStyle/>
          <a:p>
            <a:r>
              <a:rPr lang="en-US"/>
              <a:t>Imagine you have harmonics 100,200,300,400, etc., and F1 at 300, and F2 at 2100. In that case, the formants can structure the amplitudes of many harmonics</a:t>
            </a:r>
          </a:p>
          <a:p>
            <a:r>
              <a:rPr lang="en-US"/>
              <a:t>Vs. harmonics 250, 500, 750…. </a:t>
            </a:r>
            <a:r>
              <a:rPr lang="en-US">
                <a:sym typeface="Wingdings" pitchFamily="2" charset="2"/>
              </a:rPr>
              <a:t></a:t>
            </a:r>
          </a:p>
          <a:p>
            <a:r>
              <a:rPr lang="en-US">
                <a:sym typeface="Wingdings" pitchFamily="2" charset="2"/>
              </a:rPr>
              <a:t>It’s very hard to tell harmonics from formants in the latter case :(</a:t>
            </a:r>
          </a:p>
          <a:p>
            <a:r>
              <a:rPr lang="en-US">
                <a:sym typeface="Wingdings" pitchFamily="2" charset="2"/>
              </a:rPr>
              <a:t>Consider: a toddler’s harmonics could be 400,800…</a:t>
            </a:r>
          </a:p>
          <a:p>
            <a:r>
              <a:rPr lang="en-US">
                <a:sym typeface="Wingdings" pitchFamily="2" charset="2"/>
              </a:rPr>
              <a:t>A soprano: 800,1600, 2400…</a:t>
            </a:r>
            <a:endParaRPr lang="en-US"/>
          </a:p>
        </p:txBody>
      </p:sp>
      <p:pic>
        <p:nvPicPr>
          <p:cNvPr id="4" name="Picture 3">
            <a:extLst>
              <a:ext uri="{FF2B5EF4-FFF2-40B4-BE49-F238E27FC236}">
                <a16:creationId xmlns:a16="http://schemas.microsoft.com/office/drawing/2014/main" id="{840D79EC-77D6-378D-8FAE-4DE2AA54F53D}"/>
              </a:ext>
            </a:extLst>
          </p:cNvPr>
          <p:cNvPicPr>
            <a:picLocks noChangeAspect="1"/>
          </p:cNvPicPr>
          <p:nvPr/>
        </p:nvPicPr>
        <p:blipFill>
          <a:blip r:embed="rId2"/>
          <a:stretch>
            <a:fillRect/>
          </a:stretch>
        </p:blipFill>
        <p:spPr>
          <a:xfrm>
            <a:off x="6991626" y="2524538"/>
            <a:ext cx="4523408" cy="2544417"/>
          </a:xfrm>
          <a:prstGeom prst="rect">
            <a:avLst/>
          </a:prstGeom>
        </p:spPr>
      </p:pic>
    </p:spTree>
    <p:extLst>
      <p:ext uri="{BB962C8B-B14F-4D97-AF65-F5344CB8AC3E}">
        <p14:creationId xmlns:p14="http://schemas.microsoft.com/office/powerpoint/2010/main" val="262210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11724-23E9-82C4-4EF0-625677E40D67}"/>
              </a:ext>
            </a:extLst>
          </p:cNvPr>
          <p:cNvSpPr>
            <a:spLocks noGrp="1"/>
          </p:cNvSpPr>
          <p:nvPr>
            <p:ph type="title"/>
          </p:nvPr>
        </p:nvSpPr>
        <p:spPr/>
        <p:txBody>
          <a:bodyPr/>
          <a:lstStyle/>
          <a:p>
            <a:r>
              <a:rPr lang="en-US"/>
              <a:t>HW4</a:t>
            </a:r>
          </a:p>
        </p:txBody>
      </p:sp>
      <p:sp>
        <p:nvSpPr>
          <p:cNvPr id="3" name="Content Placeholder 2">
            <a:extLst>
              <a:ext uri="{FF2B5EF4-FFF2-40B4-BE49-F238E27FC236}">
                <a16:creationId xmlns:a16="http://schemas.microsoft.com/office/drawing/2014/main" id="{17587CC0-5BD1-A597-5C16-0340B79610C1}"/>
              </a:ext>
            </a:extLst>
          </p:cNvPr>
          <p:cNvSpPr>
            <a:spLocks noGrp="1"/>
          </p:cNvSpPr>
          <p:nvPr>
            <p:ph idx="1"/>
          </p:nvPr>
        </p:nvSpPr>
        <p:spPr/>
        <p:txBody>
          <a:bodyPr/>
          <a:lstStyle/>
          <a:p>
            <a:r>
              <a:rPr lang="en-US"/>
              <a:t>You will figure out the formants for </a:t>
            </a:r>
            <a:r>
              <a:rPr lang="en-US" i="1"/>
              <a:t>your </a:t>
            </a:r>
            <a:r>
              <a:rPr lang="en-US"/>
              <a:t>basic vowels in Lab on Monday, and you will be given credit for HW4 by your TA.</a:t>
            </a:r>
          </a:p>
        </p:txBody>
      </p:sp>
    </p:spTree>
    <p:extLst>
      <p:ext uri="{BB962C8B-B14F-4D97-AF65-F5344CB8AC3E}">
        <p14:creationId xmlns:p14="http://schemas.microsoft.com/office/powerpoint/2010/main" val="32932012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3140</TotalTime>
  <Words>1537</Words>
  <Application>Microsoft Macintosh PowerPoint</Application>
  <PresentationFormat>Widescreen</PresentationFormat>
  <Paragraphs>81</Paragraphs>
  <Slides>26</Slides>
  <Notes>10</Notes>
  <HiddenSlides>0</HiddenSlides>
  <MMClips>14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Wingdings</vt:lpstr>
      <vt:lpstr>Office Theme</vt:lpstr>
      <vt:lpstr>Ling 285 Human Language and Technology Lecture 13  Masses and Springs in Speech Production </vt:lpstr>
      <vt:lpstr>Principles of Mass-Spring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Vowels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Where were you a year ago?</vt:lpstr>
      <vt:lpstr>Problem: Harmonics and Formants</vt:lpstr>
      <vt:lpstr>HW4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Khalil Iskarous</dc:creator>
  <cp:lastModifiedBy>Khalil Iskarous</cp:lastModifiedBy>
  <cp:revision>136</cp:revision>
  <dcterms:created xsi:type="dcterms:W3CDTF">2026-08-23T15:08:49Z</dcterms:created>
  <dcterms:modified xsi:type="dcterms:W3CDTF">2026-10-15T16:27:05Z</dcterms:modified>
</cp:coreProperties>
</file>