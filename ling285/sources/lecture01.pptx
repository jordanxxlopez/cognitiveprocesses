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3" r:id="rId3"/>
    <p:sldId id="266" r:id="rId4"/>
    <p:sldId id="269" r:id="rId5"/>
    <p:sldId id="265" r:id="rId6"/>
    <p:sldId id="262" r:id="rId7"/>
    <p:sldId id="264" r:id="rId8"/>
    <p:sldId id="259" r:id="rId9"/>
    <p:sldId id="267"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BEB"/>
    <a:srgbClr val="B8B618"/>
    <a:srgbClr val="F6A79E"/>
    <a:srgbClr val="FFD0D9"/>
    <a:srgbClr val="FF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25"/>
    <p:restoredTop sz="94658"/>
  </p:normalViewPr>
  <p:slideViewPr>
    <p:cSldViewPr snapToGrid="0">
      <p:cViewPr varScale="1">
        <p:scale>
          <a:sx n="115" d="100"/>
          <a:sy n="115" d="100"/>
        </p:scale>
        <p:origin x="216"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4B262-1B8B-4A4C-819C-0B7118916BFD}" type="datetimeFigureOut">
              <a:t>8/27/26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66DEC-9F58-194B-86B9-A0870E5C215A}" type="slidenum">
              <a:t>‹#›</a:t>
            </a:fld>
            <a:endParaRPr lang="en-US"/>
          </a:p>
        </p:txBody>
      </p:sp>
    </p:spTree>
    <p:extLst>
      <p:ext uri="{BB962C8B-B14F-4D97-AF65-F5344CB8AC3E}">
        <p14:creationId xmlns:p14="http://schemas.microsoft.com/office/powerpoint/2010/main" val="15265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033E-B3E4-D8BF-B72B-3F99C8E4E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FD9EF3-5FE3-C61F-98D6-E8FD88A41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6192D-F152-FAA0-B4DC-84915309E29C}"/>
              </a:ext>
            </a:extLst>
          </p:cNvPr>
          <p:cNvSpPr>
            <a:spLocks noGrp="1"/>
          </p:cNvSpPr>
          <p:nvPr>
            <p:ph type="dt" sz="half" idx="10"/>
          </p:nvPr>
        </p:nvSpPr>
        <p:spPr/>
        <p:txBody>
          <a:bodyPr/>
          <a:lstStyle/>
          <a:p>
            <a:fld id="{37646F92-438E-6F40-B57C-2225BFA3E3AC}" type="datetimeFigureOut">
              <a:t>8/27/26</a:t>
            </a:fld>
            <a:endParaRPr lang="en-US"/>
          </a:p>
        </p:txBody>
      </p:sp>
      <p:sp>
        <p:nvSpPr>
          <p:cNvPr id="5" name="Footer Placeholder 4">
            <a:extLst>
              <a:ext uri="{FF2B5EF4-FFF2-40B4-BE49-F238E27FC236}">
                <a16:creationId xmlns:a16="http://schemas.microsoft.com/office/drawing/2014/main" id="{5191B1A3-698B-7644-26F4-7E25AAA22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689BC-ABA8-801D-6039-2BCAF27375A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50520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340-2A5D-9FB2-EE63-A5A7BE044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CB61D-74C6-3CE1-EB04-9CB162B2C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A2CCA-CE9B-F23C-A59D-29C7370D5CB7}"/>
              </a:ext>
            </a:extLst>
          </p:cNvPr>
          <p:cNvSpPr>
            <a:spLocks noGrp="1"/>
          </p:cNvSpPr>
          <p:nvPr>
            <p:ph type="dt" sz="half" idx="10"/>
          </p:nvPr>
        </p:nvSpPr>
        <p:spPr/>
        <p:txBody>
          <a:bodyPr/>
          <a:lstStyle/>
          <a:p>
            <a:fld id="{37646F92-438E-6F40-B57C-2225BFA3E3AC}" type="datetimeFigureOut">
              <a:t>8/27/26</a:t>
            </a:fld>
            <a:endParaRPr lang="en-US"/>
          </a:p>
        </p:txBody>
      </p:sp>
      <p:sp>
        <p:nvSpPr>
          <p:cNvPr id="5" name="Footer Placeholder 4">
            <a:extLst>
              <a:ext uri="{FF2B5EF4-FFF2-40B4-BE49-F238E27FC236}">
                <a16:creationId xmlns:a16="http://schemas.microsoft.com/office/drawing/2014/main" id="{BA7091C1-7A87-2073-0250-B7D55D8B3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BC2CF-7EB1-F436-0711-D29B9E2CA57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8023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481-777C-F700-6715-6054DE70F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D9CBD-F458-29FA-8E35-4AA82B861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2357B-2F6B-3B74-1166-DA395732C899}"/>
              </a:ext>
            </a:extLst>
          </p:cNvPr>
          <p:cNvSpPr>
            <a:spLocks noGrp="1"/>
          </p:cNvSpPr>
          <p:nvPr>
            <p:ph type="dt" sz="half" idx="10"/>
          </p:nvPr>
        </p:nvSpPr>
        <p:spPr/>
        <p:txBody>
          <a:bodyPr/>
          <a:lstStyle/>
          <a:p>
            <a:fld id="{37646F92-438E-6F40-B57C-2225BFA3E3AC}" type="datetimeFigureOut">
              <a:t>8/27/26</a:t>
            </a:fld>
            <a:endParaRPr lang="en-US"/>
          </a:p>
        </p:txBody>
      </p:sp>
      <p:sp>
        <p:nvSpPr>
          <p:cNvPr id="5" name="Footer Placeholder 4">
            <a:extLst>
              <a:ext uri="{FF2B5EF4-FFF2-40B4-BE49-F238E27FC236}">
                <a16:creationId xmlns:a16="http://schemas.microsoft.com/office/drawing/2014/main" id="{2076B74B-EF09-9330-B5EF-CD3382F32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4A8CE-01F8-FA16-5B9F-2862FEEC538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668722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4AEF-07C2-1ADC-16F8-ABC7717A9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CE002D-5A6D-9C8C-3421-75B9117A1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A8773-94D3-8AB1-FB00-B17AA969B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0059AB-2836-81D1-C0BE-2E656A19AE9B}"/>
              </a:ext>
            </a:extLst>
          </p:cNvPr>
          <p:cNvSpPr>
            <a:spLocks noGrp="1"/>
          </p:cNvSpPr>
          <p:nvPr>
            <p:ph type="dt" sz="half" idx="10"/>
          </p:nvPr>
        </p:nvSpPr>
        <p:spPr/>
        <p:txBody>
          <a:bodyPr/>
          <a:lstStyle/>
          <a:p>
            <a:fld id="{37646F92-438E-6F40-B57C-2225BFA3E3AC}" type="datetimeFigureOut">
              <a:t>8/27/26</a:t>
            </a:fld>
            <a:endParaRPr lang="en-US"/>
          </a:p>
        </p:txBody>
      </p:sp>
      <p:sp>
        <p:nvSpPr>
          <p:cNvPr id="6" name="Footer Placeholder 5">
            <a:extLst>
              <a:ext uri="{FF2B5EF4-FFF2-40B4-BE49-F238E27FC236}">
                <a16:creationId xmlns:a16="http://schemas.microsoft.com/office/drawing/2014/main" id="{4364C135-8FE2-FA2E-C91D-EE1B1B05D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054F4-CE46-86B3-21E3-5B6ABC966BE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19661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8AE6-1C38-FA87-7D05-08171661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9F5E04-953C-6026-E6B7-CD1557147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890B6-7E39-0F59-D422-B34787C2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CB19E-1F65-EA6B-1DE7-C4617E232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C98FD-BF81-6C18-5296-BCEB36195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2DB79-8863-0DA7-F8E4-229B6561C45C}"/>
              </a:ext>
            </a:extLst>
          </p:cNvPr>
          <p:cNvSpPr>
            <a:spLocks noGrp="1"/>
          </p:cNvSpPr>
          <p:nvPr>
            <p:ph type="dt" sz="half" idx="10"/>
          </p:nvPr>
        </p:nvSpPr>
        <p:spPr/>
        <p:txBody>
          <a:bodyPr/>
          <a:lstStyle/>
          <a:p>
            <a:fld id="{37646F92-438E-6F40-B57C-2225BFA3E3AC}" type="datetimeFigureOut">
              <a:t>8/27/26</a:t>
            </a:fld>
            <a:endParaRPr lang="en-US"/>
          </a:p>
        </p:txBody>
      </p:sp>
      <p:sp>
        <p:nvSpPr>
          <p:cNvPr id="8" name="Footer Placeholder 7">
            <a:extLst>
              <a:ext uri="{FF2B5EF4-FFF2-40B4-BE49-F238E27FC236}">
                <a16:creationId xmlns:a16="http://schemas.microsoft.com/office/drawing/2014/main" id="{8612CC33-1C75-C6A3-8803-22C0B52CB4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EE189-3744-D268-6860-5C0D0810630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42028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1F1-7BAE-6DF2-0597-710BB1750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64002-DECD-1DD5-370C-36935B736486}"/>
              </a:ext>
            </a:extLst>
          </p:cNvPr>
          <p:cNvSpPr>
            <a:spLocks noGrp="1"/>
          </p:cNvSpPr>
          <p:nvPr>
            <p:ph type="dt" sz="half" idx="10"/>
          </p:nvPr>
        </p:nvSpPr>
        <p:spPr/>
        <p:txBody>
          <a:bodyPr/>
          <a:lstStyle/>
          <a:p>
            <a:fld id="{37646F92-438E-6F40-B57C-2225BFA3E3AC}" type="datetimeFigureOut">
              <a:t>8/27/26</a:t>
            </a:fld>
            <a:endParaRPr lang="en-US"/>
          </a:p>
        </p:txBody>
      </p:sp>
      <p:sp>
        <p:nvSpPr>
          <p:cNvPr id="4" name="Footer Placeholder 3">
            <a:extLst>
              <a:ext uri="{FF2B5EF4-FFF2-40B4-BE49-F238E27FC236}">
                <a16:creationId xmlns:a16="http://schemas.microsoft.com/office/drawing/2014/main" id="{428C536A-1252-F499-406F-883794863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F046-1AC9-B7E5-7053-BFA9C3480092}"/>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6614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8825C-C265-5CAB-7AC0-23439495E732}"/>
              </a:ext>
            </a:extLst>
          </p:cNvPr>
          <p:cNvSpPr>
            <a:spLocks noGrp="1"/>
          </p:cNvSpPr>
          <p:nvPr>
            <p:ph type="dt" sz="half" idx="10"/>
          </p:nvPr>
        </p:nvSpPr>
        <p:spPr/>
        <p:txBody>
          <a:bodyPr/>
          <a:lstStyle/>
          <a:p>
            <a:fld id="{37646F92-438E-6F40-B57C-2225BFA3E3AC}" type="datetimeFigureOut">
              <a:t>8/27/26</a:t>
            </a:fld>
            <a:endParaRPr lang="en-US"/>
          </a:p>
        </p:txBody>
      </p:sp>
      <p:sp>
        <p:nvSpPr>
          <p:cNvPr id="3" name="Footer Placeholder 2">
            <a:extLst>
              <a:ext uri="{FF2B5EF4-FFF2-40B4-BE49-F238E27FC236}">
                <a16:creationId xmlns:a16="http://schemas.microsoft.com/office/drawing/2014/main" id="{179341E9-CE1B-FFF8-0DFF-7374EA2A1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EB226-0556-2DD2-A2F4-E84E8F99B64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96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27F-0FE7-B99E-99CA-715FE1B10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A9ADE-C28A-1C3D-D71D-F439E74F8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A4577-3B61-9617-C828-92398BAF7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A225C-6E8F-3199-5A3B-C315D2BA567E}"/>
              </a:ext>
            </a:extLst>
          </p:cNvPr>
          <p:cNvSpPr>
            <a:spLocks noGrp="1"/>
          </p:cNvSpPr>
          <p:nvPr>
            <p:ph type="dt" sz="half" idx="10"/>
          </p:nvPr>
        </p:nvSpPr>
        <p:spPr/>
        <p:txBody>
          <a:bodyPr/>
          <a:lstStyle/>
          <a:p>
            <a:fld id="{37646F92-438E-6F40-B57C-2225BFA3E3AC}" type="datetimeFigureOut">
              <a:t>8/27/26</a:t>
            </a:fld>
            <a:endParaRPr lang="en-US"/>
          </a:p>
        </p:txBody>
      </p:sp>
      <p:sp>
        <p:nvSpPr>
          <p:cNvPr id="6" name="Footer Placeholder 5">
            <a:extLst>
              <a:ext uri="{FF2B5EF4-FFF2-40B4-BE49-F238E27FC236}">
                <a16:creationId xmlns:a16="http://schemas.microsoft.com/office/drawing/2014/main" id="{ABF5E875-97F1-4B2A-5AC0-2708F95A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913F0-2055-E8BD-7B35-7E894E49B2C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39951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86A4-D083-E51D-7524-E16AB094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09D880-38EE-237D-3B88-94692F100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C8615-1F31-7C21-7C9F-42E9CAF53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19CCF-F8C3-71E1-3349-C5899E5CF156}"/>
              </a:ext>
            </a:extLst>
          </p:cNvPr>
          <p:cNvSpPr>
            <a:spLocks noGrp="1"/>
          </p:cNvSpPr>
          <p:nvPr>
            <p:ph type="dt" sz="half" idx="10"/>
          </p:nvPr>
        </p:nvSpPr>
        <p:spPr/>
        <p:txBody>
          <a:bodyPr/>
          <a:lstStyle/>
          <a:p>
            <a:fld id="{37646F92-438E-6F40-B57C-2225BFA3E3AC}" type="datetimeFigureOut">
              <a:t>8/27/26</a:t>
            </a:fld>
            <a:endParaRPr lang="en-US"/>
          </a:p>
        </p:txBody>
      </p:sp>
      <p:sp>
        <p:nvSpPr>
          <p:cNvPr id="6" name="Footer Placeholder 5">
            <a:extLst>
              <a:ext uri="{FF2B5EF4-FFF2-40B4-BE49-F238E27FC236}">
                <a16:creationId xmlns:a16="http://schemas.microsoft.com/office/drawing/2014/main" id="{3B00CE98-EA24-C4F2-2E03-187AED28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80172-B8E6-505C-52B3-AE108F4AA2C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27392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F2-4109-BD4B-6D8C-A57D0513AC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57E555-8D2E-C3F2-9CA2-43C5006F1E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D83CD-08CA-0D74-7CDD-56087C9B77FB}"/>
              </a:ext>
            </a:extLst>
          </p:cNvPr>
          <p:cNvSpPr>
            <a:spLocks noGrp="1"/>
          </p:cNvSpPr>
          <p:nvPr>
            <p:ph type="dt" sz="half" idx="10"/>
          </p:nvPr>
        </p:nvSpPr>
        <p:spPr/>
        <p:txBody>
          <a:bodyPr/>
          <a:lstStyle/>
          <a:p>
            <a:fld id="{37646F92-438E-6F40-B57C-2225BFA3E3AC}" type="datetimeFigureOut">
              <a:t>8/27/26</a:t>
            </a:fld>
            <a:endParaRPr lang="en-US"/>
          </a:p>
        </p:txBody>
      </p:sp>
      <p:sp>
        <p:nvSpPr>
          <p:cNvPr id="5" name="Footer Placeholder 4">
            <a:extLst>
              <a:ext uri="{FF2B5EF4-FFF2-40B4-BE49-F238E27FC236}">
                <a16:creationId xmlns:a16="http://schemas.microsoft.com/office/drawing/2014/main" id="{EB06D11C-63FE-4B11-B038-2FE264562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5DCBD-EC9E-3896-73AC-1D10CD39318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76175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FED0E-7240-2A07-6730-FCED2E24E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51B0-D11C-F6BC-941E-5F6EA59D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8A2D8-5FF9-4174-9DEA-697BE8BEE516}"/>
              </a:ext>
            </a:extLst>
          </p:cNvPr>
          <p:cNvSpPr>
            <a:spLocks noGrp="1"/>
          </p:cNvSpPr>
          <p:nvPr>
            <p:ph type="dt" sz="half" idx="10"/>
          </p:nvPr>
        </p:nvSpPr>
        <p:spPr/>
        <p:txBody>
          <a:bodyPr/>
          <a:lstStyle/>
          <a:p>
            <a:fld id="{37646F92-438E-6F40-B57C-2225BFA3E3AC}" type="datetimeFigureOut">
              <a:t>8/27/26</a:t>
            </a:fld>
            <a:endParaRPr lang="en-US"/>
          </a:p>
        </p:txBody>
      </p:sp>
      <p:sp>
        <p:nvSpPr>
          <p:cNvPr id="5" name="Footer Placeholder 4">
            <a:extLst>
              <a:ext uri="{FF2B5EF4-FFF2-40B4-BE49-F238E27FC236}">
                <a16:creationId xmlns:a16="http://schemas.microsoft.com/office/drawing/2014/main" id="{B0EFEC65-256E-FCF4-185C-ED1C94475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77BC-7B02-B700-CCD6-342F9BF435C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3141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EF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B67B5-93D6-11CF-76A0-070C5F42A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E95ED-9CA4-E2D1-3B66-C39D94808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15462-D29C-2E3A-787F-43D9CCDE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46F92-438E-6F40-B57C-2225BFA3E3AC}" type="datetimeFigureOut">
              <a:t>8/27/26</a:t>
            </a:fld>
            <a:endParaRPr lang="en-US"/>
          </a:p>
        </p:txBody>
      </p:sp>
      <p:sp>
        <p:nvSpPr>
          <p:cNvPr id="5" name="Footer Placeholder 4">
            <a:extLst>
              <a:ext uri="{FF2B5EF4-FFF2-40B4-BE49-F238E27FC236}">
                <a16:creationId xmlns:a16="http://schemas.microsoft.com/office/drawing/2014/main" id="{9E8167E5-E6D2-5D53-ED01-171102C40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B2A63-327D-25E4-F362-1FC7B3E1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37906-23E7-C341-9F29-2E2CC23DE015}" type="slidenum">
              <a:t>‹#›</a:t>
            </a:fld>
            <a:endParaRPr lang="en-US"/>
          </a:p>
        </p:txBody>
      </p:sp>
    </p:spTree>
    <p:extLst>
      <p:ext uri="{BB962C8B-B14F-4D97-AF65-F5344CB8AC3E}">
        <p14:creationId xmlns:p14="http://schemas.microsoft.com/office/powerpoint/2010/main" val="351959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png"/><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microsoft.com/office/2007/relationships/media" Target="../media/media2.mp4"/><Relationship Id="rId7"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audio" Target="../media/media3.wav"/><Relationship Id="rId5" Type="http://schemas.microsoft.com/office/2007/relationships/media" Target="../media/media3.wav"/><Relationship Id="rId10" Type="http://schemas.openxmlformats.org/officeDocument/2006/relationships/image" Target="../media/image3.png"/><Relationship Id="rId4" Type="http://schemas.openxmlformats.org/officeDocument/2006/relationships/video" Target="../media/media2.mp4"/><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2.xml"/><Relationship Id="rId5" Type="http://schemas.openxmlformats.org/officeDocument/2006/relationships/image" Target="../media/image15.gif"/><Relationship Id="rId4" Type="http://schemas.openxmlformats.org/officeDocument/2006/relationships/image" Target="../media/image14.gif"/></Relationships>
</file>

<file path=ppt/slides/_rels/slide10.xml.rels><?xml version="1.0" encoding="UTF-8" standalone="yes"?>
<Relationships xmlns="http://schemas.openxmlformats.org/package/2006/relationships"><Relationship Id="rId8" Type="http://schemas.openxmlformats.org/officeDocument/2006/relationships/image" Target="../media/image16.gif"/><Relationship Id="rId13" Type="http://schemas.openxmlformats.org/officeDocument/2006/relationships/image" Target="../media/image21.gif"/><Relationship Id="rId3" Type="http://schemas.microsoft.com/office/2007/relationships/media" Target="../media/media6.mp4"/><Relationship Id="rId7" Type="http://schemas.openxmlformats.org/officeDocument/2006/relationships/slideLayout" Target="../slideLayouts/slideLayout2.xml"/><Relationship Id="rId12" Type="http://schemas.openxmlformats.org/officeDocument/2006/relationships/image" Target="../media/image20.gif"/><Relationship Id="rId2" Type="http://schemas.openxmlformats.org/officeDocument/2006/relationships/video" Target="../media/media5.mp4"/><Relationship Id="rId16" Type="http://schemas.openxmlformats.org/officeDocument/2006/relationships/image" Target="../media/image24.png"/><Relationship Id="rId1" Type="http://schemas.microsoft.com/office/2007/relationships/media" Target="../media/media5.mp4"/><Relationship Id="rId6" Type="http://schemas.openxmlformats.org/officeDocument/2006/relationships/video" Target="../media/media7.mp4"/><Relationship Id="rId11" Type="http://schemas.openxmlformats.org/officeDocument/2006/relationships/image" Target="../media/image19.gif"/><Relationship Id="rId5" Type="http://schemas.microsoft.com/office/2007/relationships/media" Target="../media/media7.mp4"/><Relationship Id="rId15" Type="http://schemas.openxmlformats.org/officeDocument/2006/relationships/image" Target="../media/image23.png"/><Relationship Id="rId10" Type="http://schemas.openxmlformats.org/officeDocument/2006/relationships/image" Target="../media/image18.gif"/><Relationship Id="rId4" Type="http://schemas.openxmlformats.org/officeDocument/2006/relationships/video" Target="../media/media6.mp4"/><Relationship Id="rId9" Type="http://schemas.openxmlformats.org/officeDocument/2006/relationships/image" Target="../media/image17.gif"/><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p:txBody>
          <a:bodyPr>
            <a:normAutofit fontScale="90000"/>
          </a:bodyPr>
          <a:lstStyle/>
          <a:p>
            <a:r>
              <a:rPr lang="en-US" sz="4400"/>
              <a:t>Ling 285</a:t>
            </a:r>
            <a:br>
              <a:rPr lang="en-US" sz="4400"/>
            </a:br>
            <a:r>
              <a:rPr lang="en-US" sz="4400"/>
              <a:t>Human Language and Computation</a:t>
            </a:r>
            <a:br>
              <a:rPr lang="en-US" sz="4400"/>
            </a:br>
            <a:r>
              <a:rPr lang="en-US" sz="4400"/>
              <a:t>Lecture 1 </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D10_B04_R06.mp4">
            <a:hlinkClick r:id="" action="ppaction://media"/>
            <a:extLst>
              <a:ext uri="{FF2B5EF4-FFF2-40B4-BE49-F238E27FC236}">
                <a16:creationId xmlns:a16="http://schemas.microsoft.com/office/drawing/2014/main" id="{178BEB75-A9F9-91BF-5C94-FF09D2DD375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051463" y="849993"/>
            <a:ext cx="4924425" cy="4924425"/>
          </a:xfrm>
          <a:prstGeom prst="rect">
            <a:avLst/>
          </a:prstGeom>
        </p:spPr>
      </p:pic>
      <p:pic>
        <p:nvPicPr>
          <p:cNvPr id="3" name="ID11_B01_R13.mp4">
            <a:hlinkClick r:id="" action="ppaction://media"/>
            <a:extLst>
              <a:ext uri="{FF2B5EF4-FFF2-40B4-BE49-F238E27FC236}">
                <a16:creationId xmlns:a16="http://schemas.microsoft.com/office/drawing/2014/main" id="{0F839877-B483-38D0-7B31-1DB9B36DAB44}"/>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326590" y="849993"/>
            <a:ext cx="4924425" cy="4924425"/>
          </a:xfrm>
          <a:prstGeom prst="rect">
            <a:avLst/>
          </a:prstGeom>
        </p:spPr>
      </p:pic>
    </p:spTree>
    <p:extLst>
      <p:ext uri="{BB962C8B-B14F-4D97-AF65-F5344CB8AC3E}">
        <p14:creationId xmlns:p14="http://schemas.microsoft.com/office/powerpoint/2010/main" val="364127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517"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572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3"/>
                </p:tgtEl>
              </p:cMediaNode>
            </p:video>
            <p:seq concurrent="1" nextAc="seek">
              <p:cTn id="18" restart="whenNotActive" fill="hold" evtFilter="cancelBubble" nodeType="interactiveSeq">
                <p:stCondLst>
                  <p:cond evt="onClick" delay="0">
                    <p:tgtEl>
                      <p:spTgt spid="3"/>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B2E8-0C7F-8477-654B-AD8F199CB1F5}"/>
              </a:ext>
            </a:extLst>
          </p:cNvPr>
          <p:cNvSpPr>
            <a:spLocks noGrp="1"/>
          </p:cNvSpPr>
          <p:nvPr>
            <p:ph type="title"/>
          </p:nvPr>
        </p:nvSpPr>
        <p:spPr/>
        <p:txBody>
          <a:bodyPr/>
          <a:lstStyle/>
          <a:p>
            <a:r>
              <a:rPr lang="en-US"/>
              <a:t>Speech and Language</a:t>
            </a:r>
          </a:p>
        </p:txBody>
      </p:sp>
      <p:pic>
        <p:nvPicPr>
          <p:cNvPr id="4" name="ID10_B04_R06.mp4">
            <a:hlinkClick r:id="" action="ppaction://media"/>
            <a:hlinkHover r:id="" action="ppaction://ole?verb=0"/>
            <a:extLst>
              <a:ext uri="{FF2B5EF4-FFF2-40B4-BE49-F238E27FC236}">
                <a16:creationId xmlns:a16="http://schemas.microsoft.com/office/drawing/2014/main" id="{773A8E63-2C2B-A746-AAA2-288E1CE331B6}"/>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8773311" y="2703895"/>
            <a:ext cx="2194005" cy="2194005"/>
          </a:xfrm>
          <a:prstGeom prst="rect">
            <a:avLst/>
          </a:prstGeom>
        </p:spPr>
      </p:pic>
      <p:pic>
        <p:nvPicPr>
          <p:cNvPr id="5" name="ID11_B01_R13.mp4">
            <a:extLst>
              <a:ext uri="{FF2B5EF4-FFF2-40B4-BE49-F238E27FC236}">
                <a16:creationId xmlns:a16="http://schemas.microsoft.com/office/drawing/2014/main" id="{867EE237-07AD-1387-1834-B1B879936830}"/>
              </a:ext>
            </a:extLst>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8773312" y="264544"/>
            <a:ext cx="2194005" cy="2194005"/>
          </a:xfrm>
          <a:prstGeom prst="rect">
            <a:avLst/>
          </a:prstGeom>
        </p:spPr>
      </p:pic>
      <p:sp>
        <p:nvSpPr>
          <p:cNvPr id="6" name="Content Placeholder 2">
            <a:extLst>
              <a:ext uri="{FF2B5EF4-FFF2-40B4-BE49-F238E27FC236}">
                <a16:creationId xmlns:a16="http://schemas.microsoft.com/office/drawing/2014/main" id="{D3CE4B8F-82E6-AF44-111E-D0F52967E385}"/>
              </a:ext>
            </a:extLst>
          </p:cNvPr>
          <p:cNvSpPr>
            <a:spLocks noGrp="1"/>
          </p:cNvSpPr>
          <p:nvPr>
            <p:ph idx="1"/>
          </p:nvPr>
        </p:nvSpPr>
        <p:spPr>
          <a:xfrm>
            <a:off x="838199" y="1825624"/>
            <a:ext cx="6895011" cy="4549049"/>
          </a:xfrm>
        </p:spPr>
        <p:txBody>
          <a:bodyPr>
            <a:normAutofit fontScale="77500" lnSpcReduction="20000"/>
          </a:bodyPr>
          <a:lstStyle/>
          <a:p>
            <a:r>
              <a:rPr lang="en-US"/>
              <a:t>You learn to move your speech organs in extremely complex way with neither instructions, nor hardly any visual feedback.</a:t>
            </a:r>
          </a:p>
          <a:p>
            <a:r>
              <a:rPr lang="en-US"/>
              <a:t>By 2-4 you can speak with a wide vocabulary and near-adult language, with hardly any explicit instruction.</a:t>
            </a:r>
          </a:p>
          <a:p>
            <a:r>
              <a:rPr lang="en-US"/>
              <a:t>You may have also memorized the visual shape of the alphabet, but reading and writing whole wordscomes at 6-7, and requires a great deal of instruction.</a:t>
            </a:r>
          </a:p>
          <a:p>
            <a:r>
              <a:rPr lang="en-US"/>
              <a:t>Articulatory Phonetics is the field that studies the movements of different vocal tract structures.</a:t>
            </a:r>
          </a:p>
          <a:p>
            <a:r>
              <a:rPr lang="en-US"/>
              <a:t>And the last two year Voice Assistants and other Speech Tech have come to emulate the speech ability in ways none of us thought possible.</a:t>
            </a:r>
          </a:p>
          <a:p>
            <a:r>
              <a:rPr lang="en-US"/>
              <a:t>Ling 285 is about Human and AI speech</a:t>
            </a:r>
          </a:p>
          <a:p>
            <a:endParaRPr lang="en-US"/>
          </a:p>
        </p:txBody>
      </p:sp>
      <p:pic>
        <p:nvPicPr>
          <p:cNvPr id="7" name="podc.wav">
            <a:hlinkClick r:id="" action="ppaction://media"/>
            <a:extLst>
              <a:ext uri="{FF2B5EF4-FFF2-40B4-BE49-F238E27FC236}">
                <a16:creationId xmlns:a16="http://schemas.microsoft.com/office/drawing/2014/main" id="{44207ADF-DA4E-495C-1DB1-61BD3B7CF402}"/>
              </a:ext>
            </a:extLst>
          </p:cNvPr>
          <p:cNvPicPr>
            <a:picLocks noChangeAspect="1"/>
          </p:cNvPicPr>
          <p:nvPr>
            <a:audioFile r:link="rId6"/>
            <p:extLst>
              <p:ext uri="{DAA4B4D4-6D71-4841-9C94-3DE7FCFB9230}">
                <p14:media xmlns:p14="http://schemas.microsoft.com/office/powerpoint/2010/main" r:embed="rId5"/>
              </p:ext>
            </p:extLst>
          </p:nvPr>
        </p:nvPicPr>
        <p:blipFill>
          <a:blip r:embed="rId10"/>
          <a:stretch>
            <a:fillRect/>
          </a:stretch>
        </p:blipFill>
        <p:spPr>
          <a:xfrm>
            <a:off x="9321074" y="5334726"/>
            <a:ext cx="812800" cy="812800"/>
          </a:xfrm>
          <a:prstGeom prst="rect">
            <a:avLst/>
          </a:prstGeom>
        </p:spPr>
      </p:pic>
    </p:spTree>
    <p:extLst>
      <p:ext uri="{BB962C8B-B14F-4D97-AF65-F5344CB8AC3E}">
        <p14:creationId xmlns:p14="http://schemas.microsoft.com/office/powerpoint/2010/main" val="366521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517"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5727"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mediacall" presetSubtype="0" fill="hold" nodeType="clickEffect">
                                  <p:stCondLst>
                                    <p:cond delay="0"/>
                                  </p:stCondLst>
                                  <p:childTnLst>
                                    <p:cmd type="call" cmd="playFrom(0.0)">
                                      <p:cBhvr>
                                        <p:cTn id="38" dur="104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39" restart="whenNotActive" fill="hold" evtFilter="cancelBubble" nodeType="interactiveSeq">
                <p:stCondLst>
                  <p:cond evt="onClick" delay="0">
                    <p:tgtEl>
                      <p:spTgt spid="4"/>
                    </p:tgtEl>
                  </p:cond>
                </p:stCondLst>
                <p:endSync evt="end" delay="0">
                  <p:rtn val="all"/>
                </p:endSync>
                <p:childTnLst>
                  <p:par>
                    <p:cTn id="40" fill="hold">
                      <p:stCondLst>
                        <p:cond delay="0"/>
                      </p:stCondLst>
                      <p:childTnLst>
                        <p:par>
                          <p:cTn id="41" fill="hold">
                            <p:stCondLst>
                              <p:cond delay="0"/>
                            </p:stCondLst>
                            <p:childTnLst>
                              <p:par>
                                <p:cTn id="42" presetID="2" presetClass="mediacall" presetSubtype="0" fill="hold" nodeType="clickEffect">
                                  <p:stCondLst>
                                    <p:cond delay="0"/>
                                  </p:stCondLst>
                                  <p:childTnLst>
                                    <p:cmd type="call" cmd="togglePause">
                                      <p:cBhvr>
                                        <p:cTn id="43" dur="1" fill="hold"/>
                                        <p:tgtEl>
                                          <p:spTgt spid="4"/>
                                        </p:tgtEl>
                                      </p:cBhvr>
                                    </p:cmd>
                                  </p:childTnLst>
                                </p:cTn>
                              </p:par>
                            </p:childTnLst>
                          </p:cTn>
                        </p:par>
                      </p:childTnLst>
                    </p:cTn>
                  </p:par>
                </p:childTnLst>
              </p:cTn>
              <p:nextCondLst>
                <p:cond evt="onClick" delay="0">
                  <p:tgtEl>
                    <p:spTgt spid="4"/>
                  </p:tgtEl>
                </p:cond>
              </p:nextCondLst>
            </p:seq>
            <p:seq concurrent="1" nextAc="seek">
              <p:cTn id="44" restart="whenNotActive" fill="hold" evtFilter="cancelBubble" nodeType="interactiveSeq">
                <p:stCondLst>
                  <p:cond evt="onClick" delay="0">
                    <p:tgtEl>
                      <p:spTgt spid="5"/>
                    </p:tgtEl>
                  </p:cond>
                </p:stCondLst>
                <p:endSync evt="end" delay="0">
                  <p:rtn val="all"/>
                </p:endSync>
                <p:childTnLst>
                  <p:par>
                    <p:cTn id="45" fill="hold">
                      <p:stCondLst>
                        <p:cond delay="0"/>
                      </p:stCondLst>
                      <p:childTnLst>
                        <p:par>
                          <p:cTn id="46" fill="hold">
                            <p:stCondLst>
                              <p:cond delay="0"/>
                            </p:stCondLst>
                            <p:childTnLst>
                              <p:par>
                                <p:cTn id="47" presetID="2" presetClass="mediacall" presetSubtype="0" fill="hold" nodeType="clickEffect">
                                  <p:stCondLst>
                                    <p:cond delay="0"/>
                                  </p:stCondLst>
                                  <p:childTnLst>
                                    <p:cmd type="call" cmd="togglePause">
                                      <p:cBhvr>
                                        <p:cTn id="48" dur="1" fill="hold"/>
                                        <p:tgtEl>
                                          <p:spTgt spid="5"/>
                                        </p:tgtEl>
                                      </p:cBhvr>
                                    </p:cmd>
                                  </p:childTnLst>
                                </p:cTn>
                              </p:par>
                            </p:childTnLst>
                          </p:cTn>
                        </p:par>
                      </p:childTnLst>
                    </p:cTn>
                  </p:par>
                </p:childTnLst>
              </p:cTn>
              <p:nextCondLst>
                <p:cond evt="onClick" delay="0">
                  <p:tgtEl>
                    <p:spTgt spid="5"/>
                  </p:tgtEl>
                </p:cond>
              </p:nextCondLst>
            </p:seq>
            <p:video>
              <p:cMediaNode vol="0">
                <p:cTn id="49" repeatCount="indefinite" fill="hold" display="0">
                  <p:stCondLst>
                    <p:cond delay="indefinite"/>
                  </p:stCondLst>
                </p:cTn>
                <p:tgtEl>
                  <p:spTgt spid="4"/>
                </p:tgtEl>
              </p:cMediaNode>
            </p:video>
            <p:video>
              <p:cMediaNode vol="0">
                <p:cTn id="50" repeatCount="indefinite" fill="hold" display="0">
                  <p:stCondLst>
                    <p:cond delay="indefinite"/>
                  </p:stCondLst>
                </p:cTn>
                <p:tgtEl>
                  <p:spTgt spid="5"/>
                </p:tgtEl>
              </p:cMediaNode>
            </p:video>
            <p:audio>
              <p:cMediaNode vol="80000">
                <p:cTn id="51" fill="hold" display="0">
                  <p:stCondLst>
                    <p:cond delay="indefinite"/>
                  </p:stCondLst>
                  <p:endCondLst>
                    <p:cond evt="onStopAudio" delay="0">
                      <p:tgtEl>
                        <p:sldTgt/>
                      </p:tgtEl>
                    </p:cond>
                  </p:endCondLst>
                </p:cTn>
                <p:tgtEl>
                  <p:spTgt spid="7"/>
                </p:tgtEl>
              </p:cMediaNode>
            </p:audio>
          </p:childTnLst>
        </p:cTn>
      </p:par>
    </p:tnLst>
    <p:bldLst>
      <p:bldP spid="6"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89AB5-0B64-1770-CD75-83237E4A81D2}"/>
              </a:ext>
            </a:extLst>
          </p:cNvPr>
          <p:cNvSpPr>
            <a:spLocks noGrp="1"/>
          </p:cNvSpPr>
          <p:nvPr>
            <p:ph type="title"/>
          </p:nvPr>
        </p:nvSpPr>
        <p:spPr>
          <a:xfrm>
            <a:off x="838199" y="365125"/>
            <a:ext cx="11184379" cy="1325563"/>
          </a:xfrm>
        </p:spPr>
        <p:txBody>
          <a:bodyPr>
            <a:normAutofit fontScale="90000"/>
          </a:bodyPr>
          <a:lstStyle/>
          <a:p>
            <a:r>
              <a:rPr lang="en-US" sz="3200" dirty="0">
                <a:solidFill>
                  <a:srgbClr val="FF0000"/>
                </a:solidFill>
              </a:rPr>
              <a:t>Now think of the air between the tongue and the rest of the vocal tract</a:t>
            </a:r>
            <a:r>
              <a:rPr lang="en-US" sz="3200" i="1" dirty="0">
                <a:solidFill>
                  <a:srgbClr val="FF0000"/>
                </a:solidFill>
              </a:rPr>
              <a:t>. </a:t>
            </a:r>
            <a:r>
              <a:rPr lang="en-US" sz="3200" u="sng" dirty="0">
                <a:solidFill>
                  <a:srgbClr val="FF0000"/>
                </a:solidFill>
              </a:rPr>
              <a:t>And ignore the fact that it is curved. This is how air vibrates in your vocal tract, schematically</a:t>
            </a:r>
            <a:r>
              <a:rPr lang="en-US" sz="3200" dirty="0">
                <a:solidFill>
                  <a:srgbClr val="FF0000"/>
                </a:solidFill>
              </a:rPr>
              <a:t>. That’s the subject matter of Acoustic Phonetics.</a:t>
            </a:r>
          </a:p>
        </p:txBody>
      </p:sp>
      <p:pic>
        <p:nvPicPr>
          <p:cNvPr id="4" name="Picture 3" descr="A close-up of a person's face&#10;&#10;Description automatically generated">
            <a:extLst>
              <a:ext uri="{FF2B5EF4-FFF2-40B4-BE49-F238E27FC236}">
                <a16:creationId xmlns:a16="http://schemas.microsoft.com/office/drawing/2014/main" id="{D4B11942-8984-F617-CF38-088177F783D0}"/>
              </a:ext>
            </a:extLst>
          </p:cNvPr>
          <p:cNvPicPr>
            <a:picLocks noChangeAspect="1"/>
          </p:cNvPicPr>
          <p:nvPr/>
        </p:nvPicPr>
        <p:blipFill>
          <a:blip r:embed="rId4"/>
          <a:stretch>
            <a:fillRect/>
          </a:stretch>
        </p:blipFill>
        <p:spPr>
          <a:xfrm>
            <a:off x="528671" y="1821134"/>
            <a:ext cx="3443824" cy="3629458"/>
          </a:xfrm>
          <a:prstGeom prst="rect">
            <a:avLst/>
          </a:prstGeom>
        </p:spPr>
      </p:pic>
      <p:sp>
        <p:nvSpPr>
          <p:cNvPr id="3" name="Freeform 2">
            <a:extLst>
              <a:ext uri="{FF2B5EF4-FFF2-40B4-BE49-F238E27FC236}">
                <a16:creationId xmlns:a16="http://schemas.microsoft.com/office/drawing/2014/main" id="{DAFD4EAD-1A04-6F1D-86A1-F374A97CDA0B}"/>
              </a:ext>
            </a:extLst>
          </p:cNvPr>
          <p:cNvSpPr/>
          <p:nvPr/>
        </p:nvSpPr>
        <p:spPr>
          <a:xfrm>
            <a:off x="720436" y="3740727"/>
            <a:ext cx="3782291" cy="3061855"/>
          </a:xfrm>
          <a:custGeom>
            <a:avLst/>
            <a:gdLst>
              <a:gd name="connsiteX0" fmla="*/ 249382 w 3782291"/>
              <a:gd name="connsiteY0" fmla="*/ 0 h 3061855"/>
              <a:gd name="connsiteX1" fmla="*/ 221673 w 3782291"/>
              <a:gd name="connsiteY1" fmla="*/ 207818 h 3061855"/>
              <a:gd name="connsiteX2" fmla="*/ 193964 w 3782291"/>
              <a:gd name="connsiteY2" fmla="*/ 304800 h 3061855"/>
              <a:gd name="connsiteX3" fmla="*/ 180109 w 3782291"/>
              <a:gd name="connsiteY3" fmla="*/ 401782 h 3061855"/>
              <a:gd name="connsiteX4" fmla="*/ 138546 w 3782291"/>
              <a:gd name="connsiteY4" fmla="*/ 568037 h 3061855"/>
              <a:gd name="connsiteX5" fmla="*/ 124691 w 3782291"/>
              <a:gd name="connsiteY5" fmla="*/ 692728 h 3061855"/>
              <a:gd name="connsiteX6" fmla="*/ 69273 w 3782291"/>
              <a:gd name="connsiteY6" fmla="*/ 942109 h 3061855"/>
              <a:gd name="connsiteX7" fmla="*/ 41564 w 3782291"/>
              <a:gd name="connsiteY7" fmla="*/ 1163782 h 3061855"/>
              <a:gd name="connsiteX8" fmla="*/ 13855 w 3782291"/>
              <a:gd name="connsiteY8" fmla="*/ 1371600 h 3061855"/>
              <a:gd name="connsiteX9" fmla="*/ 0 w 3782291"/>
              <a:gd name="connsiteY9" fmla="*/ 1454728 h 3061855"/>
              <a:gd name="connsiteX10" fmla="*/ 13855 w 3782291"/>
              <a:gd name="connsiteY10" fmla="*/ 2189018 h 3061855"/>
              <a:gd name="connsiteX11" fmla="*/ 27709 w 3782291"/>
              <a:gd name="connsiteY11" fmla="*/ 2272146 h 3061855"/>
              <a:gd name="connsiteX12" fmla="*/ 69273 w 3782291"/>
              <a:gd name="connsiteY12" fmla="*/ 2424546 h 3061855"/>
              <a:gd name="connsiteX13" fmla="*/ 83128 w 3782291"/>
              <a:gd name="connsiteY13" fmla="*/ 2466109 h 3061855"/>
              <a:gd name="connsiteX14" fmla="*/ 96982 w 3782291"/>
              <a:gd name="connsiteY14" fmla="*/ 2521528 h 3061855"/>
              <a:gd name="connsiteX15" fmla="*/ 124691 w 3782291"/>
              <a:gd name="connsiteY15" fmla="*/ 2576946 h 3061855"/>
              <a:gd name="connsiteX16" fmla="*/ 193964 w 3782291"/>
              <a:gd name="connsiteY16" fmla="*/ 2673928 h 3061855"/>
              <a:gd name="connsiteX17" fmla="*/ 304800 w 3782291"/>
              <a:gd name="connsiteY17" fmla="*/ 2784764 h 3061855"/>
              <a:gd name="connsiteX18" fmla="*/ 360219 w 3782291"/>
              <a:gd name="connsiteY18" fmla="*/ 2812473 h 3061855"/>
              <a:gd name="connsiteX19" fmla="*/ 471055 w 3782291"/>
              <a:gd name="connsiteY19" fmla="*/ 2895600 h 3061855"/>
              <a:gd name="connsiteX20" fmla="*/ 512619 w 3782291"/>
              <a:gd name="connsiteY20" fmla="*/ 2923309 h 3061855"/>
              <a:gd name="connsiteX21" fmla="*/ 581891 w 3782291"/>
              <a:gd name="connsiteY21" fmla="*/ 2951018 h 3061855"/>
              <a:gd name="connsiteX22" fmla="*/ 706582 w 3782291"/>
              <a:gd name="connsiteY22" fmla="*/ 3006437 h 3061855"/>
              <a:gd name="connsiteX23" fmla="*/ 775855 w 3782291"/>
              <a:gd name="connsiteY23" fmla="*/ 3020291 h 3061855"/>
              <a:gd name="connsiteX24" fmla="*/ 831273 w 3782291"/>
              <a:gd name="connsiteY24" fmla="*/ 3034146 h 3061855"/>
              <a:gd name="connsiteX25" fmla="*/ 872837 w 3782291"/>
              <a:gd name="connsiteY25" fmla="*/ 3048000 h 3061855"/>
              <a:gd name="connsiteX26" fmla="*/ 955964 w 3782291"/>
              <a:gd name="connsiteY26" fmla="*/ 3061855 h 3061855"/>
              <a:gd name="connsiteX27" fmla="*/ 1219200 w 3782291"/>
              <a:gd name="connsiteY27" fmla="*/ 3048000 h 3061855"/>
              <a:gd name="connsiteX28" fmla="*/ 1260764 w 3782291"/>
              <a:gd name="connsiteY28" fmla="*/ 3034146 h 3061855"/>
              <a:gd name="connsiteX29" fmla="*/ 1357746 w 3782291"/>
              <a:gd name="connsiteY29" fmla="*/ 3006437 h 3061855"/>
              <a:gd name="connsiteX30" fmla="*/ 1427019 w 3782291"/>
              <a:gd name="connsiteY30" fmla="*/ 2978728 h 3061855"/>
              <a:gd name="connsiteX31" fmla="*/ 1524000 w 3782291"/>
              <a:gd name="connsiteY31" fmla="*/ 2951018 h 3061855"/>
              <a:gd name="connsiteX32" fmla="*/ 1565564 w 3782291"/>
              <a:gd name="connsiteY32" fmla="*/ 2923309 h 3061855"/>
              <a:gd name="connsiteX33" fmla="*/ 1648691 w 3782291"/>
              <a:gd name="connsiteY33" fmla="*/ 2895600 h 3061855"/>
              <a:gd name="connsiteX34" fmla="*/ 1731819 w 3782291"/>
              <a:gd name="connsiteY34" fmla="*/ 2854037 h 3061855"/>
              <a:gd name="connsiteX35" fmla="*/ 1842655 w 3782291"/>
              <a:gd name="connsiteY35" fmla="*/ 2798618 h 3061855"/>
              <a:gd name="connsiteX36" fmla="*/ 1884219 w 3782291"/>
              <a:gd name="connsiteY36" fmla="*/ 2784764 h 3061855"/>
              <a:gd name="connsiteX37" fmla="*/ 1939637 w 3782291"/>
              <a:gd name="connsiteY37" fmla="*/ 2757055 h 3061855"/>
              <a:gd name="connsiteX38" fmla="*/ 1981200 w 3782291"/>
              <a:gd name="connsiteY38" fmla="*/ 2729346 h 3061855"/>
              <a:gd name="connsiteX39" fmla="*/ 2036619 w 3782291"/>
              <a:gd name="connsiteY39" fmla="*/ 2715491 h 3061855"/>
              <a:gd name="connsiteX40" fmla="*/ 2133600 w 3782291"/>
              <a:gd name="connsiteY40" fmla="*/ 2660073 h 3061855"/>
              <a:gd name="connsiteX41" fmla="*/ 2216728 w 3782291"/>
              <a:gd name="connsiteY41" fmla="*/ 2632364 h 3061855"/>
              <a:gd name="connsiteX42" fmla="*/ 2313709 w 3782291"/>
              <a:gd name="connsiteY42" fmla="*/ 2576946 h 3061855"/>
              <a:gd name="connsiteX43" fmla="*/ 2355273 w 3782291"/>
              <a:gd name="connsiteY43" fmla="*/ 2563091 h 3061855"/>
              <a:gd name="connsiteX44" fmla="*/ 2424546 w 3782291"/>
              <a:gd name="connsiteY44" fmla="*/ 2521528 h 3061855"/>
              <a:gd name="connsiteX45" fmla="*/ 2493819 w 3782291"/>
              <a:gd name="connsiteY45" fmla="*/ 2466109 h 3061855"/>
              <a:gd name="connsiteX46" fmla="*/ 2535382 w 3782291"/>
              <a:gd name="connsiteY46" fmla="*/ 2438400 h 3061855"/>
              <a:gd name="connsiteX47" fmla="*/ 2590800 w 3782291"/>
              <a:gd name="connsiteY47" fmla="*/ 2382982 h 3061855"/>
              <a:gd name="connsiteX48" fmla="*/ 2632364 w 3782291"/>
              <a:gd name="connsiteY48" fmla="*/ 2355273 h 3061855"/>
              <a:gd name="connsiteX49" fmla="*/ 2673928 w 3782291"/>
              <a:gd name="connsiteY49" fmla="*/ 2313709 h 3061855"/>
              <a:gd name="connsiteX50" fmla="*/ 2757055 w 3782291"/>
              <a:gd name="connsiteY50" fmla="*/ 2258291 h 3061855"/>
              <a:gd name="connsiteX51" fmla="*/ 2812473 w 3782291"/>
              <a:gd name="connsiteY51" fmla="*/ 2230582 h 3061855"/>
              <a:gd name="connsiteX52" fmla="*/ 2909455 w 3782291"/>
              <a:gd name="connsiteY52" fmla="*/ 2133600 h 3061855"/>
              <a:gd name="connsiteX53" fmla="*/ 2964873 w 3782291"/>
              <a:gd name="connsiteY53" fmla="*/ 2092037 h 3061855"/>
              <a:gd name="connsiteX54" fmla="*/ 3117273 w 3782291"/>
              <a:gd name="connsiteY54" fmla="*/ 1925782 h 3061855"/>
              <a:gd name="connsiteX55" fmla="*/ 3172691 w 3782291"/>
              <a:gd name="connsiteY55" fmla="*/ 1870364 h 3061855"/>
              <a:gd name="connsiteX56" fmla="*/ 3255819 w 3782291"/>
              <a:gd name="connsiteY56" fmla="*/ 1759528 h 3061855"/>
              <a:gd name="connsiteX57" fmla="*/ 3283528 w 3782291"/>
              <a:gd name="connsiteY57" fmla="*/ 1676400 h 3061855"/>
              <a:gd name="connsiteX58" fmla="*/ 3325091 w 3782291"/>
              <a:gd name="connsiteY58" fmla="*/ 1524000 h 3061855"/>
              <a:gd name="connsiteX59" fmla="*/ 3352800 w 3782291"/>
              <a:gd name="connsiteY59" fmla="*/ 1357746 h 3061855"/>
              <a:gd name="connsiteX60" fmla="*/ 3366655 w 3782291"/>
              <a:gd name="connsiteY60" fmla="*/ 1316182 h 3061855"/>
              <a:gd name="connsiteX61" fmla="*/ 3380509 w 3782291"/>
              <a:gd name="connsiteY61" fmla="*/ 1260764 h 3061855"/>
              <a:gd name="connsiteX62" fmla="*/ 3408219 w 3782291"/>
              <a:gd name="connsiteY62" fmla="*/ 1205346 h 3061855"/>
              <a:gd name="connsiteX63" fmla="*/ 3435928 w 3782291"/>
              <a:gd name="connsiteY63" fmla="*/ 1108364 h 3061855"/>
              <a:gd name="connsiteX64" fmla="*/ 3463637 w 3782291"/>
              <a:gd name="connsiteY64" fmla="*/ 1052946 h 3061855"/>
              <a:gd name="connsiteX65" fmla="*/ 3491346 w 3782291"/>
              <a:gd name="connsiteY65" fmla="*/ 942109 h 3061855"/>
              <a:gd name="connsiteX66" fmla="*/ 3519055 w 3782291"/>
              <a:gd name="connsiteY66" fmla="*/ 858982 h 3061855"/>
              <a:gd name="connsiteX67" fmla="*/ 3560619 w 3782291"/>
              <a:gd name="connsiteY67" fmla="*/ 762000 h 3061855"/>
              <a:gd name="connsiteX68" fmla="*/ 3574473 w 3782291"/>
              <a:gd name="connsiteY68" fmla="*/ 720437 h 3061855"/>
              <a:gd name="connsiteX69" fmla="*/ 3643746 w 3782291"/>
              <a:gd name="connsiteY69" fmla="*/ 595746 h 3061855"/>
              <a:gd name="connsiteX70" fmla="*/ 3602182 w 3782291"/>
              <a:gd name="connsiteY70" fmla="*/ 581891 h 3061855"/>
              <a:gd name="connsiteX71" fmla="*/ 3463637 w 3782291"/>
              <a:gd name="connsiteY71" fmla="*/ 651164 h 3061855"/>
              <a:gd name="connsiteX72" fmla="*/ 3422073 w 3782291"/>
              <a:gd name="connsiteY72" fmla="*/ 665018 h 3061855"/>
              <a:gd name="connsiteX73" fmla="*/ 3505200 w 3782291"/>
              <a:gd name="connsiteY73" fmla="*/ 609600 h 3061855"/>
              <a:gd name="connsiteX74" fmla="*/ 3546764 w 3782291"/>
              <a:gd name="connsiteY74" fmla="*/ 581891 h 3061855"/>
              <a:gd name="connsiteX75" fmla="*/ 3629891 w 3782291"/>
              <a:gd name="connsiteY75" fmla="*/ 554182 h 3061855"/>
              <a:gd name="connsiteX76" fmla="*/ 3671455 w 3782291"/>
              <a:gd name="connsiteY76" fmla="*/ 540328 h 3061855"/>
              <a:gd name="connsiteX77" fmla="*/ 3699164 w 3782291"/>
              <a:gd name="connsiteY77" fmla="*/ 623455 h 3061855"/>
              <a:gd name="connsiteX78" fmla="*/ 3726873 w 3782291"/>
              <a:gd name="connsiteY78" fmla="*/ 775855 h 3061855"/>
              <a:gd name="connsiteX79" fmla="*/ 3754582 w 3782291"/>
              <a:gd name="connsiteY79" fmla="*/ 817418 h 3061855"/>
              <a:gd name="connsiteX80" fmla="*/ 3768437 w 3782291"/>
              <a:gd name="connsiteY80" fmla="*/ 858982 h 3061855"/>
              <a:gd name="connsiteX81" fmla="*/ 3782291 w 3782291"/>
              <a:gd name="connsiteY81" fmla="*/ 886691 h 306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3782291" h="3061855">
                <a:moveTo>
                  <a:pt x="249382" y="0"/>
                </a:moveTo>
                <a:cubicBezTo>
                  <a:pt x="240725" y="86578"/>
                  <a:pt x="240805" y="131290"/>
                  <a:pt x="221673" y="207818"/>
                </a:cubicBezTo>
                <a:cubicBezTo>
                  <a:pt x="213519" y="240435"/>
                  <a:pt x="201009" y="271925"/>
                  <a:pt x="193964" y="304800"/>
                </a:cubicBezTo>
                <a:cubicBezTo>
                  <a:pt x="187122" y="336731"/>
                  <a:pt x="185478" y="369571"/>
                  <a:pt x="180109" y="401782"/>
                </a:cubicBezTo>
                <a:cubicBezTo>
                  <a:pt x="167839" y="475402"/>
                  <a:pt x="161049" y="489276"/>
                  <a:pt x="138546" y="568037"/>
                </a:cubicBezTo>
                <a:cubicBezTo>
                  <a:pt x="133928" y="609601"/>
                  <a:pt x="132306" y="651608"/>
                  <a:pt x="124691" y="692728"/>
                </a:cubicBezTo>
                <a:cubicBezTo>
                  <a:pt x="109185" y="776459"/>
                  <a:pt x="79835" y="857612"/>
                  <a:pt x="69273" y="942109"/>
                </a:cubicBezTo>
                <a:lnTo>
                  <a:pt x="41564" y="1163782"/>
                </a:lnTo>
                <a:cubicBezTo>
                  <a:pt x="30931" y="1248841"/>
                  <a:pt x="26595" y="1288787"/>
                  <a:pt x="13855" y="1371600"/>
                </a:cubicBezTo>
                <a:cubicBezTo>
                  <a:pt x="9584" y="1399365"/>
                  <a:pt x="4618" y="1427019"/>
                  <a:pt x="0" y="1454728"/>
                </a:cubicBezTo>
                <a:cubicBezTo>
                  <a:pt x="4618" y="1699491"/>
                  <a:pt x="5561" y="1944352"/>
                  <a:pt x="13855" y="2189018"/>
                </a:cubicBezTo>
                <a:cubicBezTo>
                  <a:pt x="14807" y="2217093"/>
                  <a:pt x="22684" y="2244508"/>
                  <a:pt x="27709" y="2272146"/>
                </a:cubicBezTo>
                <a:cubicBezTo>
                  <a:pt x="43373" y="2358300"/>
                  <a:pt x="38979" y="2333664"/>
                  <a:pt x="69273" y="2424546"/>
                </a:cubicBezTo>
                <a:cubicBezTo>
                  <a:pt x="73891" y="2438400"/>
                  <a:pt x="79586" y="2451941"/>
                  <a:pt x="83128" y="2466109"/>
                </a:cubicBezTo>
                <a:cubicBezTo>
                  <a:pt x="87746" y="2484582"/>
                  <a:pt x="90296" y="2503699"/>
                  <a:pt x="96982" y="2521528"/>
                </a:cubicBezTo>
                <a:cubicBezTo>
                  <a:pt x="104234" y="2540866"/>
                  <a:pt x="114444" y="2559014"/>
                  <a:pt x="124691" y="2576946"/>
                </a:cubicBezTo>
                <a:cubicBezTo>
                  <a:pt x="136165" y="2597025"/>
                  <a:pt x="182687" y="2661626"/>
                  <a:pt x="193964" y="2673928"/>
                </a:cubicBezTo>
                <a:cubicBezTo>
                  <a:pt x="229270" y="2712443"/>
                  <a:pt x="258067" y="2761398"/>
                  <a:pt x="304800" y="2784764"/>
                </a:cubicBezTo>
                <a:cubicBezTo>
                  <a:pt x="323273" y="2794000"/>
                  <a:pt x="343034" y="2801017"/>
                  <a:pt x="360219" y="2812473"/>
                </a:cubicBezTo>
                <a:cubicBezTo>
                  <a:pt x="398645" y="2838090"/>
                  <a:pt x="432629" y="2869983"/>
                  <a:pt x="471055" y="2895600"/>
                </a:cubicBezTo>
                <a:cubicBezTo>
                  <a:pt x="484910" y="2904836"/>
                  <a:pt x="497726" y="2915862"/>
                  <a:pt x="512619" y="2923309"/>
                </a:cubicBezTo>
                <a:cubicBezTo>
                  <a:pt x="534863" y="2934431"/>
                  <a:pt x="559165" y="2940917"/>
                  <a:pt x="581891" y="2951018"/>
                </a:cubicBezTo>
                <a:cubicBezTo>
                  <a:pt x="638576" y="2976212"/>
                  <a:pt x="643392" y="2987480"/>
                  <a:pt x="706582" y="3006437"/>
                </a:cubicBezTo>
                <a:cubicBezTo>
                  <a:pt x="729137" y="3013203"/>
                  <a:pt x="752867" y="3015183"/>
                  <a:pt x="775855" y="3020291"/>
                </a:cubicBezTo>
                <a:cubicBezTo>
                  <a:pt x="794443" y="3024422"/>
                  <a:pt x="812964" y="3028915"/>
                  <a:pt x="831273" y="3034146"/>
                </a:cubicBezTo>
                <a:cubicBezTo>
                  <a:pt x="845315" y="3038158"/>
                  <a:pt x="858581" y="3044832"/>
                  <a:pt x="872837" y="3048000"/>
                </a:cubicBezTo>
                <a:cubicBezTo>
                  <a:pt x="900259" y="3054094"/>
                  <a:pt x="928255" y="3057237"/>
                  <a:pt x="955964" y="3061855"/>
                </a:cubicBezTo>
                <a:cubicBezTo>
                  <a:pt x="1043709" y="3057237"/>
                  <a:pt x="1131694" y="3055955"/>
                  <a:pt x="1219200" y="3048000"/>
                </a:cubicBezTo>
                <a:cubicBezTo>
                  <a:pt x="1233744" y="3046678"/>
                  <a:pt x="1246722" y="3038158"/>
                  <a:pt x="1260764" y="3034146"/>
                </a:cubicBezTo>
                <a:cubicBezTo>
                  <a:pt x="1321887" y="3016682"/>
                  <a:pt x="1304608" y="3026363"/>
                  <a:pt x="1357746" y="3006437"/>
                </a:cubicBezTo>
                <a:cubicBezTo>
                  <a:pt x="1381032" y="2997705"/>
                  <a:pt x="1403733" y="2987460"/>
                  <a:pt x="1427019" y="2978728"/>
                </a:cubicBezTo>
                <a:cubicBezTo>
                  <a:pt x="1466775" y="2963819"/>
                  <a:pt x="1480323" y="2961938"/>
                  <a:pt x="1524000" y="2951018"/>
                </a:cubicBezTo>
                <a:cubicBezTo>
                  <a:pt x="1537855" y="2941782"/>
                  <a:pt x="1550348" y="2930072"/>
                  <a:pt x="1565564" y="2923309"/>
                </a:cubicBezTo>
                <a:cubicBezTo>
                  <a:pt x="1592254" y="2911447"/>
                  <a:pt x="1624389" y="2911801"/>
                  <a:pt x="1648691" y="2895600"/>
                </a:cubicBezTo>
                <a:cubicBezTo>
                  <a:pt x="1739786" y="2834871"/>
                  <a:pt x="1641674" y="2895012"/>
                  <a:pt x="1731819" y="2854037"/>
                </a:cubicBezTo>
                <a:cubicBezTo>
                  <a:pt x="1769423" y="2836944"/>
                  <a:pt x="1803468" y="2811680"/>
                  <a:pt x="1842655" y="2798618"/>
                </a:cubicBezTo>
                <a:cubicBezTo>
                  <a:pt x="1856510" y="2794000"/>
                  <a:pt x="1870796" y="2790517"/>
                  <a:pt x="1884219" y="2784764"/>
                </a:cubicBezTo>
                <a:cubicBezTo>
                  <a:pt x="1903202" y="2776628"/>
                  <a:pt x="1921705" y="2767302"/>
                  <a:pt x="1939637" y="2757055"/>
                </a:cubicBezTo>
                <a:cubicBezTo>
                  <a:pt x="1954094" y="2748794"/>
                  <a:pt x="1965895" y="2735905"/>
                  <a:pt x="1981200" y="2729346"/>
                </a:cubicBezTo>
                <a:cubicBezTo>
                  <a:pt x="1998702" y="2721845"/>
                  <a:pt x="2018790" y="2722177"/>
                  <a:pt x="2036619" y="2715491"/>
                </a:cubicBezTo>
                <a:cubicBezTo>
                  <a:pt x="2213563" y="2649137"/>
                  <a:pt x="1988883" y="2724391"/>
                  <a:pt x="2133600" y="2660073"/>
                </a:cubicBezTo>
                <a:cubicBezTo>
                  <a:pt x="2160291" y="2648210"/>
                  <a:pt x="2216728" y="2632364"/>
                  <a:pt x="2216728" y="2632364"/>
                </a:cubicBezTo>
                <a:cubicBezTo>
                  <a:pt x="2258471" y="2604535"/>
                  <a:pt x="2264490" y="2598040"/>
                  <a:pt x="2313709" y="2576946"/>
                </a:cubicBezTo>
                <a:cubicBezTo>
                  <a:pt x="2327132" y="2571193"/>
                  <a:pt x="2342211" y="2569622"/>
                  <a:pt x="2355273" y="2563091"/>
                </a:cubicBezTo>
                <a:cubicBezTo>
                  <a:pt x="2379359" y="2551048"/>
                  <a:pt x="2401711" y="2535800"/>
                  <a:pt x="2424546" y="2521528"/>
                </a:cubicBezTo>
                <a:cubicBezTo>
                  <a:pt x="2522002" y="2460618"/>
                  <a:pt x="2419014" y="2525952"/>
                  <a:pt x="2493819" y="2466109"/>
                </a:cubicBezTo>
                <a:cubicBezTo>
                  <a:pt x="2506821" y="2455707"/>
                  <a:pt x="2522740" y="2449236"/>
                  <a:pt x="2535382" y="2438400"/>
                </a:cubicBezTo>
                <a:cubicBezTo>
                  <a:pt x="2555217" y="2421398"/>
                  <a:pt x="2570965" y="2399983"/>
                  <a:pt x="2590800" y="2382982"/>
                </a:cubicBezTo>
                <a:cubicBezTo>
                  <a:pt x="2603443" y="2372146"/>
                  <a:pt x="2619572" y="2365933"/>
                  <a:pt x="2632364" y="2355273"/>
                </a:cubicBezTo>
                <a:cubicBezTo>
                  <a:pt x="2647416" y="2342730"/>
                  <a:pt x="2658462" y="2325738"/>
                  <a:pt x="2673928" y="2313709"/>
                </a:cubicBezTo>
                <a:cubicBezTo>
                  <a:pt x="2700215" y="2293263"/>
                  <a:pt x="2727269" y="2273184"/>
                  <a:pt x="2757055" y="2258291"/>
                </a:cubicBezTo>
                <a:cubicBezTo>
                  <a:pt x="2775528" y="2249055"/>
                  <a:pt x="2796488" y="2243660"/>
                  <a:pt x="2812473" y="2230582"/>
                </a:cubicBezTo>
                <a:cubicBezTo>
                  <a:pt x="2847857" y="2201632"/>
                  <a:pt x="2872881" y="2161030"/>
                  <a:pt x="2909455" y="2133600"/>
                </a:cubicBezTo>
                <a:cubicBezTo>
                  <a:pt x="2927928" y="2119746"/>
                  <a:pt x="2947787" y="2107569"/>
                  <a:pt x="2964873" y="2092037"/>
                </a:cubicBezTo>
                <a:cubicBezTo>
                  <a:pt x="3108293" y="1961656"/>
                  <a:pt x="3016784" y="2038833"/>
                  <a:pt x="3117273" y="1925782"/>
                </a:cubicBezTo>
                <a:cubicBezTo>
                  <a:pt x="3134629" y="1906256"/>
                  <a:pt x="3155967" y="1890433"/>
                  <a:pt x="3172691" y="1870364"/>
                </a:cubicBezTo>
                <a:cubicBezTo>
                  <a:pt x="3202256" y="1834886"/>
                  <a:pt x="3255819" y="1759528"/>
                  <a:pt x="3255819" y="1759528"/>
                </a:cubicBezTo>
                <a:lnTo>
                  <a:pt x="3283528" y="1676400"/>
                </a:lnTo>
                <a:cubicBezTo>
                  <a:pt x="3300437" y="1625673"/>
                  <a:pt x="3317278" y="1578687"/>
                  <a:pt x="3325091" y="1524000"/>
                </a:cubicBezTo>
                <a:cubicBezTo>
                  <a:pt x="3332910" y="1469270"/>
                  <a:pt x="3339296" y="1411762"/>
                  <a:pt x="3352800" y="1357746"/>
                </a:cubicBezTo>
                <a:cubicBezTo>
                  <a:pt x="3356342" y="1343578"/>
                  <a:pt x="3362643" y="1330224"/>
                  <a:pt x="3366655" y="1316182"/>
                </a:cubicBezTo>
                <a:cubicBezTo>
                  <a:pt x="3371886" y="1297873"/>
                  <a:pt x="3373823" y="1278593"/>
                  <a:pt x="3380509" y="1260764"/>
                </a:cubicBezTo>
                <a:cubicBezTo>
                  <a:pt x="3387761" y="1241426"/>
                  <a:pt x="3398982" y="1223819"/>
                  <a:pt x="3408219" y="1205346"/>
                </a:cubicBezTo>
                <a:cubicBezTo>
                  <a:pt x="3415251" y="1177218"/>
                  <a:pt x="3424001" y="1136194"/>
                  <a:pt x="3435928" y="1108364"/>
                </a:cubicBezTo>
                <a:cubicBezTo>
                  <a:pt x="3444064" y="1089381"/>
                  <a:pt x="3454401" y="1071419"/>
                  <a:pt x="3463637" y="1052946"/>
                </a:cubicBezTo>
                <a:cubicBezTo>
                  <a:pt x="3472873" y="1016000"/>
                  <a:pt x="3479303" y="978237"/>
                  <a:pt x="3491346" y="942109"/>
                </a:cubicBezTo>
                <a:cubicBezTo>
                  <a:pt x="3500582" y="914400"/>
                  <a:pt x="3511971" y="887318"/>
                  <a:pt x="3519055" y="858982"/>
                </a:cubicBezTo>
                <a:cubicBezTo>
                  <a:pt x="3536947" y="787410"/>
                  <a:pt x="3522347" y="819407"/>
                  <a:pt x="3560619" y="762000"/>
                </a:cubicBezTo>
                <a:cubicBezTo>
                  <a:pt x="3565237" y="748146"/>
                  <a:pt x="3567381" y="733203"/>
                  <a:pt x="3574473" y="720437"/>
                </a:cubicBezTo>
                <a:cubicBezTo>
                  <a:pt x="3653874" y="577514"/>
                  <a:pt x="3612395" y="689795"/>
                  <a:pt x="3643746" y="595746"/>
                </a:cubicBezTo>
                <a:cubicBezTo>
                  <a:pt x="3629891" y="591128"/>
                  <a:pt x="3616786" y="581891"/>
                  <a:pt x="3602182" y="581891"/>
                </a:cubicBezTo>
                <a:cubicBezTo>
                  <a:pt x="3523662" y="581891"/>
                  <a:pt x="3546507" y="623542"/>
                  <a:pt x="3463637" y="651164"/>
                </a:cubicBezTo>
                <a:lnTo>
                  <a:pt x="3422073" y="665018"/>
                </a:lnTo>
                <a:lnTo>
                  <a:pt x="3505200" y="609600"/>
                </a:lnTo>
                <a:cubicBezTo>
                  <a:pt x="3519055" y="600364"/>
                  <a:pt x="3530967" y="587157"/>
                  <a:pt x="3546764" y="581891"/>
                </a:cubicBezTo>
                <a:lnTo>
                  <a:pt x="3629891" y="554182"/>
                </a:lnTo>
                <a:lnTo>
                  <a:pt x="3671455" y="540328"/>
                </a:lnTo>
                <a:cubicBezTo>
                  <a:pt x="3680691" y="568037"/>
                  <a:pt x="3694362" y="594645"/>
                  <a:pt x="3699164" y="623455"/>
                </a:cubicBezTo>
                <a:cubicBezTo>
                  <a:pt x="3700719" y="632785"/>
                  <a:pt x="3721066" y="760370"/>
                  <a:pt x="3726873" y="775855"/>
                </a:cubicBezTo>
                <a:cubicBezTo>
                  <a:pt x="3732719" y="791446"/>
                  <a:pt x="3747135" y="802525"/>
                  <a:pt x="3754582" y="817418"/>
                </a:cubicBezTo>
                <a:cubicBezTo>
                  <a:pt x="3761113" y="830480"/>
                  <a:pt x="3763013" y="845422"/>
                  <a:pt x="3768437" y="858982"/>
                </a:cubicBezTo>
                <a:cubicBezTo>
                  <a:pt x="3772272" y="868570"/>
                  <a:pt x="3777673" y="877455"/>
                  <a:pt x="3782291" y="886691"/>
                </a:cubicBezTo>
              </a:path>
            </a:pathLst>
          </a:custGeom>
          <a:noFill/>
          <a:ln w="349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AA6C2617-47E8-DEB8-9E3A-29065D347FF1}"/>
              </a:ext>
            </a:extLst>
          </p:cNvPr>
          <p:cNvSpPr/>
          <p:nvPr/>
        </p:nvSpPr>
        <p:spPr>
          <a:xfrm>
            <a:off x="2161309" y="1357745"/>
            <a:ext cx="6317673" cy="1787237"/>
          </a:xfrm>
          <a:custGeom>
            <a:avLst/>
            <a:gdLst>
              <a:gd name="connsiteX0" fmla="*/ 0 w 6317673"/>
              <a:gd name="connsiteY0" fmla="*/ 1579419 h 1787237"/>
              <a:gd name="connsiteX1" fmla="*/ 124691 w 6317673"/>
              <a:gd name="connsiteY1" fmla="*/ 1427019 h 1787237"/>
              <a:gd name="connsiteX2" fmla="*/ 415636 w 6317673"/>
              <a:gd name="connsiteY2" fmla="*/ 1163782 h 1787237"/>
              <a:gd name="connsiteX3" fmla="*/ 568036 w 6317673"/>
              <a:gd name="connsiteY3" fmla="*/ 1052946 h 1787237"/>
              <a:gd name="connsiteX4" fmla="*/ 1066800 w 6317673"/>
              <a:gd name="connsiteY4" fmla="*/ 706582 h 1787237"/>
              <a:gd name="connsiteX5" fmla="*/ 1579418 w 6317673"/>
              <a:gd name="connsiteY5" fmla="*/ 415637 h 1787237"/>
              <a:gd name="connsiteX6" fmla="*/ 1953491 w 6317673"/>
              <a:gd name="connsiteY6" fmla="*/ 277091 h 1787237"/>
              <a:gd name="connsiteX7" fmla="*/ 2147455 w 6317673"/>
              <a:gd name="connsiteY7" fmla="*/ 207819 h 1787237"/>
              <a:gd name="connsiteX8" fmla="*/ 2687782 w 6317673"/>
              <a:gd name="connsiteY8" fmla="*/ 83128 h 1787237"/>
              <a:gd name="connsiteX9" fmla="*/ 2867891 w 6317673"/>
              <a:gd name="connsiteY9" fmla="*/ 55419 h 1787237"/>
              <a:gd name="connsiteX10" fmla="*/ 3186546 w 6317673"/>
              <a:gd name="connsiteY10" fmla="*/ 27710 h 1787237"/>
              <a:gd name="connsiteX11" fmla="*/ 3602182 w 6317673"/>
              <a:gd name="connsiteY11" fmla="*/ 0 h 1787237"/>
              <a:gd name="connsiteX12" fmla="*/ 3990109 w 6317673"/>
              <a:gd name="connsiteY12" fmla="*/ 13855 h 1787237"/>
              <a:gd name="connsiteX13" fmla="*/ 4087091 w 6317673"/>
              <a:gd name="connsiteY13" fmla="*/ 27710 h 1787237"/>
              <a:gd name="connsiteX14" fmla="*/ 4197927 w 6317673"/>
              <a:gd name="connsiteY14" fmla="*/ 41564 h 1787237"/>
              <a:gd name="connsiteX15" fmla="*/ 4294909 w 6317673"/>
              <a:gd name="connsiteY15" fmla="*/ 69273 h 1787237"/>
              <a:gd name="connsiteX16" fmla="*/ 4405746 w 6317673"/>
              <a:gd name="connsiteY16" fmla="*/ 110837 h 1787237"/>
              <a:gd name="connsiteX17" fmla="*/ 4488873 w 6317673"/>
              <a:gd name="connsiteY17" fmla="*/ 138546 h 1787237"/>
              <a:gd name="connsiteX18" fmla="*/ 4599709 w 6317673"/>
              <a:gd name="connsiteY18" fmla="*/ 180110 h 1787237"/>
              <a:gd name="connsiteX19" fmla="*/ 4724400 w 6317673"/>
              <a:gd name="connsiteY19" fmla="*/ 221673 h 1787237"/>
              <a:gd name="connsiteX20" fmla="*/ 4807527 w 6317673"/>
              <a:gd name="connsiteY20" fmla="*/ 263237 h 1787237"/>
              <a:gd name="connsiteX21" fmla="*/ 5015346 w 6317673"/>
              <a:gd name="connsiteY21" fmla="*/ 346364 h 1787237"/>
              <a:gd name="connsiteX22" fmla="*/ 5070764 w 6317673"/>
              <a:gd name="connsiteY22" fmla="*/ 387928 h 1787237"/>
              <a:gd name="connsiteX23" fmla="*/ 5195455 w 6317673"/>
              <a:gd name="connsiteY23" fmla="*/ 457200 h 1787237"/>
              <a:gd name="connsiteX24" fmla="*/ 5250873 w 6317673"/>
              <a:gd name="connsiteY24" fmla="*/ 498764 h 1787237"/>
              <a:gd name="connsiteX25" fmla="*/ 5292436 w 6317673"/>
              <a:gd name="connsiteY25" fmla="*/ 540328 h 1787237"/>
              <a:gd name="connsiteX26" fmla="*/ 5347855 w 6317673"/>
              <a:gd name="connsiteY26" fmla="*/ 568037 h 1787237"/>
              <a:gd name="connsiteX27" fmla="*/ 5444836 w 6317673"/>
              <a:gd name="connsiteY27" fmla="*/ 637310 h 1787237"/>
              <a:gd name="connsiteX28" fmla="*/ 5555673 w 6317673"/>
              <a:gd name="connsiteY28" fmla="*/ 692728 h 1787237"/>
              <a:gd name="connsiteX29" fmla="*/ 5611091 w 6317673"/>
              <a:gd name="connsiteY29" fmla="*/ 720437 h 1787237"/>
              <a:gd name="connsiteX30" fmla="*/ 5708073 w 6317673"/>
              <a:gd name="connsiteY30" fmla="*/ 789710 h 1787237"/>
              <a:gd name="connsiteX31" fmla="*/ 5763491 w 6317673"/>
              <a:gd name="connsiteY31" fmla="*/ 817419 h 1787237"/>
              <a:gd name="connsiteX32" fmla="*/ 5846618 w 6317673"/>
              <a:gd name="connsiteY32" fmla="*/ 886691 h 1787237"/>
              <a:gd name="connsiteX33" fmla="*/ 5888182 w 6317673"/>
              <a:gd name="connsiteY33" fmla="*/ 900546 h 1787237"/>
              <a:gd name="connsiteX34" fmla="*/ 5929746 w 6317673"/>
              <a:gd name="connsiteY34" fmla="*/ 955964 h 1787237"/>
              <a:gd name="connsiteX35" fmla="*/ 5971309 w 6317673"/>
              <a:gd name="connsiteY35" fmla="*/ 983673 h 1787237"/>
              <a:gd name="connsiteX36" fmla="*/ 6012873 w 6317673"/>
              <a:gd name="connsiteY36" fmla="*/ 1066800 h 1787237"/>
              <a:gd name="connsiteX37" fmla="*/ 6026727 w 6317673"/>
              <a:gd name="connsiteY37" fmla="*/ 1149928 h 1787237"/>
              <a:gd name="connsiteX38" fmla="*/ 6054436 w 6317673"/>
              <a:gd name="connsiteY38" fmla="*/ 1371600 h 1787237"/>
              <a:gd name="connsiteX39" fmla="*/ 6068291 w 6317673"/>
              <a:gd name="connsiteY39" fmla="*/ 1427019 h 1787237"/>
              <a:gd name="connsiteX40" fmla="*/ 6096000 w 6317673"/>
              <a:gd name="connsiteY40" fmla="*/ 1482437 h 1787237"/>
              <a:gd name="connsiteX41" fmla="*/ 6123709 w 6317673"/>
              <a:gd name="connsiteY41" fmla="*/ 1565564 h 1787237"/>
              <a:gd name="connsiteX42" fmla="*/ 6109855 w 6317673"/>
              <a:gd name="connsiteY42" fmla="*/ 1648691 h 1787237"/>
              <a:gd name="connsiteX43" fmla="*/ 5985164 w 6317673"/>
              <a:gd name="connsiteY43" fmla="*/ 1620982 h 1787237"/>
              <a:gd name="connsiteX44" fmla="*/ 5860473 w 6317673"/>
              <a:gd name="connsiteY44" fmla="*/ 1524000 h 1787237"/>
              <a:gd name="connsiteX45" fmla="*/ 5777346 w 6317673"/>
              <a:gd name="connsiteY45" fmla="*/ 1468582 h 1787237"/>
              <a:gd name="connsiteX46" fmla="*/ 5708073 w 6317673"/>
              <a:gd name="connsiteY46" fmla="*/ 1399310 h 1787237"/>
              <a:gd name="connsiteX47" fmla="*/ 5666509 w 6317673"/>
              <a:gd name="connsiteY47" fmla="*/ 1385455 h 1787237"/>
              <a:gd name="connsiteX48" fmla="*/ 5735782 w 6317673"/>
              <a:gd name="connsiteY48" fmla="*/ 1427019 h 1787237"/>
              <a:gd name="connsiteX49" fmla="*/ 5846618 w 6317673"/>
              <a:gd name="connsiteY49" fmla="*/ 1524000 h 1787237"/>
              <a:gd name="connsiteX50" fmla="*/ 5902036 w 6317673"/>
              <a:gd name="connsiteY50" fmla="*/ 1565564 h 1787237"/>
              <a:gd name="connsiteX51" fmla="*/ 5999018 w 6317673"/>
              <a:gd name="connsiteY51" fmla="*/ 1676400 h 1787237"/>
              <a:gd name="connsiteX52" fmla="*/ 6068291 w 6317673"/>
              <a:gd name="connsiteY52" fmla="*/ 1731819 h 1787237"/>
              <a:gd name="connsiteX53" fmla="*/ 6151418 w 6317673"/>
              <a:gd name="connsiteY53" fmla="*/ 1787237 h 1787237"/>
              <a:gd name="connsiteX54" fmla="*/ 6165273 w 6317673"/>
              <a:gd name="connsiteY54" fmla="*/ 1468582 h 1787237"/>
              <a:gd name="connsiteX55" fmla="*/ 6192982 w 6317673"/>
              <a:gd name="connsiteY55" fmla="*/ 1427019 h 1787237"/>
              <a:gd name="connsiteX56" fmla="*/ 6276109 w 6317673"/>
              <a:gd name="connsiteY56" fmla="*/ 1343891 h 1787237"/>
              <a:gd name="connsiteX57" fmla="*/ 6317673 w 6317673"/>
              <a:gd name="connsiteY57" fmla="*/ 1316182 h 178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317673" h="1787237">
                <a:moveTo>
                  <a:pt x="0" y="1579419"/>
                </a:moveTo>
                <a:cubicBezTo>
                  <a:pt x="41564" y="1528619"/>
                  <a:pt x="81469" y="1476416"/>
                  <a:pt x="124691" y="1427019"/>
                </a:cubicBezTo>
                <a:cubicBezTo>
                  <a:pt x="186598" y="1356268"/>
                  <a:pt x="400275" y="1174954"/>
                  <a:pt x="415636" y="1163782"/>
                </a:cubicBezTo>
                <a:cubicBezTo>
                  <a:pt x="466436" y="1126837"/>
                  <a:pt x="518332" y="1091353"/>
                  <a:pt x="568036" y="1052946"/>
                </a:cubicBezTo>
                <a:cubicBezTo>
                  <a:pt x="934627" y="769671"/>
                  <a:pt x="439395" y="1113547"/>
                  <a:pt x="1066800" y="706582"/>
                </a:cubicBezTo>
                <a:cubicBezTo>
                  <a:pt x="1247518" y="589360"/>
                  <a:pt x="1357252" y="497921"/>
                  <a:pt x="1579418" y="415637"/>
                </a:cubicBezTo>
                <a:lnTo>
                  <a:pt x="1953491" y="277091"/>
                </a:lnTo>
                <a:cubicBezTo>
                  <a:pt x="2017966" y="253503"/>
                  <a:pt x="2080851" y="224470"/>
                  <a:pt x="2147455" y="207819"/>
                </a:cubicBezTo>
                <a:cubicBezTo>
                  <a:pt x="2393337" y="146348"/>
                  <a:pt x="2463879" y="123110"/>
                  <a:pt x="2687782" y="83128"/>
                </a:cubicBezTo>
                <a:cubicBezTo>
                  <a:pt x="2747579" y="72450"/>
                  <a:pt x="2807520" y="62127"/>
                  <a:pt x="2867891" y="55419"/>
                </a:cubicBezTo>
                <a:cubicBezTo>
                  <a:pt x="2973858" y="43645"/>
                  <a:pt x="3080339" y="37081"/>
                  <a:pt x="3186546" y="27710"/>
                </a:cubicBezTo>
                <a:cubicBezTo>
                  <a:pt x="3444485" y="4951"/>
                  <a:pt x="3256945" y="18171"/>
                  <a:pt x="3602182" y="0"/>
                </a:cubicBezTo>
                <a:cubicBezTo>
                  <a:pt x="3731491" y="4618"/>
                  <a:pt x="3860928" y="6473"/>
                  <a:pt x="3990109" y="13855"/>
                </a:cubicBezTo>
                <a:cubicBezTo>
                  <a:pt x="4022711" y="15718"/>
                  <a:pt x="4054722" y="23394"/>
                  <a:pt x="4087091" y="27710"/>
                </a:cubicBezTo>
                <a:lnTo>
                  <a:pt x="4197927" y="41564"/>
                </a:lnTo>
                <a:cubicBezTo>
                  <a:pt x="4230254" y="50800"/>
                  <a:pt x="4263013" y="58641"/>
                  <a:pt x="4294909" y="69273"/>
                </a:cubicBezTo>
                <a:cubicBezTo>
                  <a:pt x="4332342" y="81751"/>
                  <a:pt x="4368587" y="97566"/>
                  <a:pt x="4405746" y="110837"/>
                </a:cubicBezTo>
                <a:cubicBezTo>
                  <a:pt x="4433252" y="120661"/>
                  <a:pt x="4461367" y="128722"/>
                  <a:pt x="4488873" y="138546"/>
                </a:cubicBezTo>
                <a:cubicBezTo>
                  <a:pt x="4526032" y="151817"/>
                  <a:pt x="4562501" y="166978"/>
                  <a:pt x="4599709" y="180110"/>
                </a:cubicBezTo>
                <a:cubicBezTo>
                  <a:pt x="4641023" y="194691"/>
                  <a:pt x="4683722" y="205402"/>
                  <a:pt x="4724400" y="221673"/>
                </a:cubicBezTo>
                <a:cubicBezTo>
                  <a:pt x="4753164" y="233179"/>
                  <a:pt x="4779052" y="251034"/>
                  <a:pt x="4807527" y="263237"/>
                </a:cubicBezTo>
                <a:cubicBezTo>
                  <a:pt x="4867709" y="289029"/>
                  <a:pt x="4956602" y="314322"/>
                  <a:pt x="5015346" y="346364"/>
                </a:cubicBezTo>
                <a:cubicBezTo>
                  <a:pt x="5035617" y="357421"/>
                  <a:pt x="5051183" y="375690"/>
                  <a:pt x="5070764" y="387928"/>
                </a:cubicBezTo>
                <a:cubicBezTo>
                  <a:pt x="5282055" y="519986"/>
                  <a:pt x="4936642" y="284659"/>
                  <a:pt x="5195455" y="457200"/>
                </a:cubicBezTo>
                <a:cubicBezTo>
                  <a:pt x="5214668" y="470009"/>
                  <a:pt x="5233341" y="483736"/>
                  <a:pt x="5250873" y="498764"/>
                </a:cubicBezTo>
                <a:cubicBezTo>
                  <a:pt x="5265749" y="511515"/>
                  <a:pt x="5276492" y="528940"/>
                  <a:pt x="5292436" y="540328"/>
                </a:cubicBezTo>
                <a:cubicBezTo>
                  <a:pt x="5309242" y="552333"/>
                  <a:pt x="5330341" y="557091"/>
                  <a:pt x="5347855" y="568037"/>
                </a:cubicBezTo>
                <a:cubicBezTo>
                  <a:pt x="5396154" y="598224"/>
                  <a:pt x="5398800" y="612199"/>
                  <a:pt x="5444836" y="637310"/>
                </a:cubicBezTo>
                <a:cubicBezTo>
                  <a:pt x="5481099" y="657090"/>
                  <a:pt x="5518727" y="674255"/>
                  <a:pt x="5555673" y="692728"/>
                </a:cubicBezTo>
                <a:cubicBezTo>
                  <a:pt x="5574146" y="701964"/>
                  <a:pt x="5594568" y="708045"/>
                  <a:pt x="5611091" y="720437"/>
                </a:cubicBezTo>
                <a:cubicBezTo>
                  <a:pt x="5634873" y="738273"/>
                  <a:pt x="5679717" y="773506"/>
                  <a:pt x="5708073" y="789710"/>
                </a:cubicBezTo>
                <a:cubicBezTo>
                  <a:pt x="5726005" y="799957"/>
                  <a:pt x="5745559" y="807172"/>
                  <a:pt x="5763491" y="817419"/>
                </a:cubicBezTo>
                <a:cubicBezTo>
                  <a:pt x="5922142" y="908076"/>
                  <a:pt x="5674691" y="772073"/>
                  <a:pt x="5846618" y="886691"/>
                </a:cubicBezTo>
                <a:cubicBezTo>
                  <a:pt x="5858769" y="894792"/>
                  <a:pt x="5874327" y="895928"/>
                  <a:pt x="5888182" y="900546"/>
                </a:cubicBezTo>
                <a:cubicBezTo>
                  <a:pt x="5902037" y="919019"/>
                  <a:pt x="5913418" y="939636"/>
                  <a:pt x="5929746" y="955964"/>
                </a:cubicBezTo>
                <a:cubicBezTo>
                  <a:pt x="5941520" y="967738"/>
                  <a:pt x="5959535" y="971899"/>
                  <a:pt x="5971309" y="983673"/>
                </a:cubicBezTo>
                <a:cubicBezTo>
                  <a:pt x="5998165" y="1010530"/>
                  <a:pt x="6001605" y="1032996"/>
                  <a:pt x="6012873" y="1066800"/>
                </a:cubicBezTo>
                <a:cubicBezTo>
                  <a:pt x="6017491" y="1094509"/>
                  <a:pt x="6022932" y="1122094"/>
                  <a:pt x="6026727" y="1149928"/>
                </a:cubicBezTo>
                <a:cubicBezTo>
                  <a:pt x="6036788" y="1223711"/>
                  <a:pt x="6036375" y="1299358"/>
                  <a:pt x="6054436" y="1371600"/>
                </a:cubicBezTo>
                <a:cubicBezTo>
                  <a:pt x="6059054" y="1390073"/>
                  <a:pt x="6061605" y="1409190"/>
                  <a:pt x="6068291" y="1427019"/>
                </a:cubicBezTo>
                <a:cubicBezTo>
                  <a:pt x="6075543" y="1446357"/>
                  <a:pt x="6088330" y="1463261"/>
                  <a:pt x="6096000" y="1482437"/>
                </a:cubicBezTo>
                <a:cubicBezTo>
                  <a:pt x="6106848" y="1509556"/>
                  <a:pt x="6123709" y="1565564"/>
                  <a:pt x="6123709" y="1565564"/>
                </a:cubicBezTo>
                <a:cubicBezTo>
                  <a:pt x="6119091" y="1593273"/>
                  <a:pt x="6135937" y="1638258"/>
                  <a:pt x="6109855" y="1648691"/>
                </a:cubicBezTo>
                <a:cubicBezTo>
                  <a:pt x="6070323" y="1664504"/>
                  <a:pt x="6024696" y="1636795"/>
                  <a:pt x="5985164" y="1620982"/>
                </a:cubicBezTo>
                <a:cubicBezTo>
                  <a:pt x="5890814" y="1583242"/>
                  <a:pt x="5922595" y="1572317"/>
                  <a:pt x="5860473" y="1524000"/>
                </a:cubicBezTo>
                <a:cubicBezTo>
                  <a:pt x="5834186" y="1503554"/>
                  <a:pt x="5800894" y="1492130"/>
                  <a:pt x="5777346" y="1468582"/>
                </a:cubicBezTo>
                <a:cubicBezTo>
                  <a:pt x="5754255" y="1445491"/>
                  <a:pt x="5739053" y="1409637"/>
                  <a:pt x="5708073" y="1399310"/>
                </a:cubicBezTo>
                <a:cubicBezTo>
                  <a:pt x="5694218" y="1394692"/>
                  <a:pt x="5656182" y="1375128"/>
                  <a:pt x="5666509" y="1385455"/>
                </a:cubicBezTo>
                <a:cubicBezTo>
                  <a:pt x="5685550" y="1404496"/>
                  <a:pt x="5713721" y="1411577"/>
                  <a:pt x="5735782" y="1427019"/>
                </a:cubicBezTo>
                <a:cubicBezTo>
                  <a:pt x="5852250" y="1508546"/>
                  <a:pt x="5763012" y="1452337"/>
                  <a:pt x="5846618" y="1524000"/>
                </a:cubicBezTo>
                <a:cubicBezTo>
                  <a:pt x="5864150" y="1539027"/>
                  <a:pt x="5884504" y="1550537"/>
                  <a:pt x="5902036" y="1565564"/>
                </a:cubicBezTo>
                <a:cubicBezTo>
                  <a:pt x="5947744" y="1604743"/>
                  <a:pt x="5956662" y="1626985"/>
                  <a:pt x="5999018" y="1676400"/>
                </a:cubicBezTo>
                <a:cubicBezTo>
                  <a:pt x="6039328" y="1723429"/>
                  <a:pt x="6014804" y="1687248"/>
                  <a:pt x="6068291" y="1731819"/>
                </a:cubicBezTo>
                <a:cubicBezTo>
                  <a:pt x="6137479" y="1789474"/>
                  <a:pt x="6078375" y="1762888"/>
                  <a:pt x="6151418" y="1787237"/>
                </a:cubicBezTo>
                <a:cubicBezTo>
                  <a:pt x="6156036" y="1681019"/>
                  <a:pt x="6153086" y="1574200"/>
                  <a:pt x="6165273" y="1468582"/>
                </a:cubicBezTo>
                <a:cubicBezTo>
                  <a:pt x="6167182" y="1452041"/>
                  <a:pt x="6181920" y="1439464"/>
                  <a:pt x="6192982" y="1427019"/>
                </a:cubicBezTo>
                <a:cubicBezTo>
                  <a:pt x="6219016" y="1397730"/>
                  <a:pt x="6243504" y="1365628"/>
                  <a:pt x="6276109" y="1343891"/>
                </a:cubicBezTo>
                <a:lnTo>
                  <a:pt x="6317673" y="1316182"/>
                </a:lnTo>
              </a:path>
            </a:pathLst>
          </a:custGeom>
          <a:noFill/>
          <a:ln w="349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B3F2B150-3715-C17F-2841-998AA5558C7D}"/>
              </a:ext>
            </a:extLst>
          </p:cNvPr>
          <p:cNvSpPr/>
          <p:nvPr/>
        </p:nvSpPr>
        <p:spPr>
          <a:xfrm>
            <a:off x="3408218" y="4225636"/>
            <a:ext cx="8424578" cy="1122219"/>
          </a:xfrm>
          <a:custGeom>
            <a:avLst/>
            <a:gdLst>
              <a:gd name="connsiteX0" fmla="*/ 0 w 8424578"/>
              <a:gd name="connsiteY0" fmla="*/ 0 h 1122219"/>
              <a:gd name="connsiteX1" fmla="*/ 180109 w 8424578"/>
              <a:gd name="connsiteY1" fmla="*/ 193964 h 1122219"/>
              <a:gd name="connsiteX2" fmla="*/ 235527 w 8424578"/>
              <a:gd name="connsiteY2" fmla="*/ 235528 h 1122219"/>
              <a:gd name="connsiteX3" fmla="*/ 360218 w 8424578"/>
              <a:gd name="connsiteY3" fmla="*/ 360219 h 1122219"/>
              <a:gd name="connsiteX4" fmla="*/ 443346 w 8424578"/>
              <a:gd name="connsiteY4" fmla="*/ 415637 h 1122219"/>
              <a:gd name="connsiteX5" fmla="*/ 845127 w 8424578"/>
              <a:gd name="connsiteY5" fmla="*/ 734291 h 1122219"/>
              <a:gd name="connsiteX6" fmla="*/ 942109 w 8424578"/>
              <a:gd name="connsiteY6" fmla="*/ 789709 h 1122219"/>
              <a:gd name="connsiteX7" fmla="*/ 1136073 w 8424578"/>
              <a:gd name="connsiteY7" fmla="*/ 914400 h 1122219"/>
              <a:gd name="connsiteX8" fmla="*/ 1219200 w 8424578"/>
              <a:gd name="connsiteY8" fmla="*/ 969819 h 1122219"/>
              <a:gd name="connsiteX9" fmla="*/ 1302327 w 8424578"/>
              <a:gd name="connsiteY9" fmla="*/ 997528 h 1122219"/>
              <a:gd name="connsiteX10" fmla="*/ 1454727 w 8424578"/>
              <a:gd name="connsiteY10" fmla="*/ 1052946 h 1122219"/>
              <a:gd name="connsiteX11" fmla="*/ 1524000 w 8424578"/>
              <a:gd name="connsiteY11" fmla="*/ 1080655 h 1122219"/>
              <a:gd name="connsiteX12" fmla="*/ 1801091 w 8424578"/>
              <a:gd name="connsiteY12" fmla="*/ 1122219 h 1122219"/>
              <a:gd name="connsiteX13" fmla="*/ 6705600 w 8424578"/>
              <a:gd name="connsiteY13" fmla="*/ 1108364 h 1122219"/>
              <a:gd name="connsiteX14" fmla="*/ 6788727 w 8424578"/>
              <a:gd name="connsiteY14" fmla="*/ 1094509 h 1122219"/>
              <a:gd name="connsiteX15" fmla="*/ 6927273 w 8424578"/>
              <a:gd name="connsiteY15" fmla="*/ 1066800 h 1122219"/>
              <a:gd name="connsiteX16" fmla="*/ 6982691 w 8424578"/>
              <a:gd name="connsiteY16" fmla="*/ 1039091 h 1122219"/>
              <a:gd name="connsiteX17" fmla="*/ 7162800 w 8424578"/>
              <a:gd name="connsiteY17" fmla="*/ 955964 h 1122219"/>
              <a:gd name="connsiteX18" fmla="*/ 7287491 w 8424578"/>
              <a:gd name="connsiteY18" fmla="*/ 872837 h 1122219"/>
              <a:gd name="connsiteX19" fmla="*/ 7329055 w 8424578"/>
              <a:gd name="connsiteY19" fmla="*/ 845128 h 1122219"/>
              <a:gd name="connsiteX20" fmla="*/ 7398327 w 8424578"/>
              <a:gd name="connsiteY20" fmla="*/ 789709 h 1122219"/>
              <a:gd name="connsiteX21" fmla="*/ 7453746 w 8424578"/>
              <a:gd name="connsiteY21" fmla="*/ 762000 h 1122219"/>
              <a:gd name="connsiteX22" fmla="*/ 7523018 w 8424578"/>
              <a:gd name="connsiteY22" fmla="*/ 720437 h 1122219"/>
              <a:gd name="connsiteX23" fmla="*/ 7564582 w 8424578"/>
              <a:gd name="connsiteY23" fmla="*/ 692728 h 1122219"/>
              <a:gd name="connsiteX24" fmla="*/ 7606146 w 8424578"/>
              <a:gd name="connsiteY24" fmla="*/ 678873 h 1122219"/>
              <a:gd name="connsiteX25" fmla="*/ 7647709 w 8424578"/>
              <a:gd name="connsiteY25" fmla="*/ 651164 h 1122219"/>
              <a:gd name="connsiteX26" fmla="*/ 7716982 w 8424578"/>
              <a:gd name="connsiteY26" fmla="*/ 609600 h 1122219"/>
              <a:gd name="connsiteX27" fmla="*/ 7800109 w 8424578"/>
              <a:gd name="connsiteY27" fmla="*/ 512619 h 1122219"/>
              <a:gd name="connsiteX28" fmla="*/ 7883237 w 8424578"/>
              <a:gd name="connsiteY28" fmla="*/ 429491 h 1122219"/>
              <a:gd name="connsiteX29" fmla="*/ 7966364 w 8424578"/>
              <a:gd name="connsiteY29" fmla="*/ 346364 h 1122219"/>
              <a:gd name="connsiteX30" fmla="*/ 8035637 w 8424578"/>
              <a:gd name="connsiteY30" fmla="*/ 263237 h 1122219"/>
              <a:gd name="connsiteX31" fmla="*/ 8118764 w 8424578"/>
              <a:gd name="connsiteY31" fmla="*/ 193964 h 1122219"/>
              <a:gd name="connsiteX32" fmla="*/ 8188037 w 8424578"/>
              <a:gd name="connsiteY32" fmla="*/ 124691 h 1122219"/>
              <a:gd name="connsiteX33" fmla="*/ 8229600 w 8424578"/>
              <a:gd name="connsiteY33" fmla="*/ 96982 h 1122219"/>
              <a:gd name="connsiteX34" fmla="*/ 8188037 w 8424578"/>
              <a:gd name="connsiteY34" fmla="*/ 110837 h 1122219"/>
              <a:gd name="connsiteX35" fmla="*/ 8146473 w 8424578"/>
              <a:gd name="connsiteY35" fmla="*/ 138546 h 1122219"/>
              <a:gd name="connsiteX36" fmla="*/ 8104909 w 8424578"/>
              <a:gd name="connsiteY36" fmla="*/ 152400 h 1122219"/>
              <a:gd name="connsiteX37" fmla="*/ 8007927 w 8424578"/>
              <a:gd name="connsiteY37" fmla="*/ 207819 h 1122219"/>
              <a:gd name="connsiteX38" fmla="*/ 7910946 w 8424578"/>
              <a:gd name="connsiteY38" fmla="*/ 193964 h 1122219"/>
              <a:gd name="connsiteX39" fmla="*/ 7952509 w 8424578"/>
              <a:gd name="connsiteY39" fmla="*/ 180109 h 1122219"/>
              <a:gd name="connsiteX40" fmla="*/ 8007927 w 8424578"/>
              <a:gd name="connsiteY40" fmla="*/ 166255 h 1122219"/>
              <a:gd name="connsiteX41" fmla="*/ 8160327 w 8424578"/>
              <a:gd name="connsiteY41" fmla="*/ 152400 h 1122219"/>
              <a:gd name="connsiteX42" fmla="*/ 8174182 w 8424578"/>
              <a:gd name="connsiteY42" fmla="*/ 235528 h 1122219"/>
              <a:gd name="connsiteX43" fmla="*/ 8188037 w 8424578"/>
              <a:gd name="connsiteY43" fmla="*/ 346364 h 1122219"/>
              <a:gd name="connsiteX44" fmla="*/ 8271164 w 8424578"/>
              <a:gd name="connsiteY44" fmla="*/ 498764 h 1122219"/>
              <a:gd name="connsiteX45" fmla="*/ 8312727 w 8424578"/>
              <a:gd name="connsiteY45" fmla="*/ 554182 h 1122219"/>
              <a:gd name="connsiteX46" fmla="*/ 8382000 w 8424578"/>
              <a:gd name="connsiteY46" fmla="*/ 665019 h 1122219"/>
              <a:gd name="connsiteX47" fmla="*/ 8423564 w 8424578"/>
              <a:gd name="connsiteY47" fmla="*/ 748146 h 1122219"/>
              <a:gd name="connsiteX48" fmla="*/ 8395855 w 8424578"/>
              <a:gd name="connsiteY48" fmla="*/ 734291 h 112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424578" h="1122219">
                <a:moveTo>
                  <a:pt x="0" y="0"/>
                </a:moveTo>
                <a:cubicBezTo>
                  <a:pt x="17078" y="18975"/>
                  <a:pt x="133354" y="153053"/>
                  <a:pt x="180109" y="193964"/>
                </a:cubicBezTo>
                <a:cubicBezTo>
                  <a:pt x="197487" y="209170"/>
                  <a:pt x="218560" y="219866"/>
                  <a:pt x="235527" y="235528"/>
                </a:cubicBezTo>
                <a:cubicBezTo>
                  <a:pt x="278719" y="275397"/>
                  <a:pt x="311310" y="327614"/>
                  <a:pt x="360218" y="360219"/>
                </a:cubicBezTo>
                <a:cubicBezTo>
                  <a:pt x="387927" y="378692"/>
                  <a:pt x="417208" y="395001"/>
                  <a:pt x="443346" y="415637"/>
                </a:cubicBezTo>
                <a:cubicBezTo>
                  <a:pt x="560661" y="508254"/>
                  <a:pt x="717095" y="661130"/>
                  <a:pt x="845127" y="734291"/>
                </a:cubicBezTo>
                <a:cubicBezTo>
                  <a:pt x="877454" y="752764"/>
                  <a:pt x="910451" y="770111"/>
                  <a:pt x="942109" y="789709"/>
                </a:cubicBezTo>
                <a:cubicBezTo>
                  <a:pt x="1007462" y="830166"/>
                  <a:pt x="1071629" y="872511"/>
                  <a:pt x="1136073" y="914400"/>
                </a:cubicBezTo>
                <a:cubicBezTo>
                  <a:pt x="1163995" y="932549"/>
                  <a:pt x="1187607" y="959288"/>
                  <a:pt x="1219200" y="969819"/>
                </a:cubicBezTo>
                <a:cubicBezTo>
                  <a:pt x="1246909" y="979055"/>
                  <a:pt x="1275737" y="985442"/>
                  <a:pt x="1302327" y="997528"/>
                </a:cubicBezTo>
                <a:cubicBezTo>
                  <a:pt x="1442860" y="1061406"/>
                  <a:pt x="1295829" y="1026462"/>
                  <a:pt x="1454727" y="1052946"/>
                </a:cubicBezTo>
                <a:cubicBezTo>
                  <a:pt x="1477818" y="1062182"/>
                  <a:pt x="1499970" y="1074247"/>
                  <a:pt x="1524000" y="1080655"/>
                </a:cubicBezTo>
                <a:cubicBezTo>
                  <a:pt x="1634432" y="1110103"/>
                  <a:pt x="1688238" y="1110933"/>
                  <a:pt x="1801091" y="1122219"/>
                </a:cubicBezTo>
                <a:lnTo>
                  <a:pt x="6705600" y="1108364"/>
                </a:lnTo>
                <a:cubicBezTo>
                  <a:pt x="6733691" y="1108208"/>
                  <a:pt x="6761117" y="1099686"/>
                  <a:pt x="6788727" y="1094509"/>
                </a:cubicBezTo>
                <a:cubicBezTo>
                  <a:pt x="6835017" y="1085830"/>
                  <a:pt x="6927273" y="1066800"/>
                  <a:pt x="6927273" y="1066800"/>
                </a:cubicBezTo>
                <a:cubicBezTo>
                  <a:pt x="6945746" y="1057564"/>
                  <a:pt x="6963818" y="1047479"/>
                  <a:pt x="6982691" y="1039091"/>
                </a:cubicBezTo>
                <a:cubicBezTo>
                  <a:pt x="7051748" y="1008399"/>
                  <a:pt x="7093778" y="1001979"/>
                  <a:pt x="7162800" y="955964"/>
                </a:cubicBezTo>
                <a:lnTo>
                  <a:pt x="7287491" y="872837"/>
                </a:lnTo>
                <a:cubicBezTo>
                  <a:pt x="7301346" y="863601"/>
                  <a:pt x="7316053" y="855530"/>
                  <a:pt x="7329055" y="845128"/>
                </a:cubicBezTo>
                <a:cubicBezTo>
                  <a:pt x="7352146" y="826655"/>
                  <a:pt x="7373723" y="806112"/>
                  <a:pt x="7398327" y="789709"/>
                </a:cubicBezTo>
                <a:cubicBezTo>
                  <a:pt x="7415512" y="778253"/>
                  <a:pt x="7435692" y="772030"/>
                  <a:pt x="7453746" y="762000"/>
                </a:cubicBezTo>
                <a:cubicBezTo>
                  <a:pt x="7477285" y="748923"/>
                  <a:pt x="7500183" y="734709"/>
                  <a:pt x="7523018" y="720437"/>
                </a:cubicBezTo>
                <a:cubicBezTo>
                  <a:pt x="7537138" y="711612"/>
                  <a:pt x="7549689" y="700175"/>
                  <a:pt x="7564582" y="692728"/>
                </a:cubicBezTo>
                <a:cubicBezTo>
                  <a:pt x="7577644" y="686197"/>
                  <a:pt x="7593084" y="685404"/>
                  <a:pt x="7606146" y="678873"/>
                </a:cubicBezTo>
                <a:cubicBezTo>
                  <a:pt x="7621039" y="671426"/>
                  <a:pt x="7633589" y="659989"/>
                  <a:pt x="7647709" y="651164"/>
                </a:cubicBezTo>
                <a:cubicBezTo>
                  <a:pt x="7670544" y="636892"/>
                  <a:pt x="7695726" y="626133"/>
                  <a:pt x="7716982" y="609600"/>
                </a:cubicBezTo>
                <a:cubicBezTo>
                  <a:pt x="7812676" y="535171"/>
                  <a:pt x="7739742" y="580531"/>
                  <a:pt x="7800109" y="512619"/>
                </a:cubicBezTo>
                <a:cubicBezTo>
                  <a:pt x="7826143" y="483330"/>
                  <a:pt x="7855528" y="457200"/>
                  <a:pt x="7883237" y="429491"/>
                </a:cubicBezTo>
                <a:lnTo>
                  <a:pt x="7966364" y="346364"/>
                </a:lnTo>
                <a:cubicBezTo>
                  <a:pt x="8087783" y="224943"/>
                  <a:pt x="7939199" y="378962"/>
                  <a:pt x="8035637" y="263237"/>
                </a:cubicBezTo>
                <a:cubicBezTo>
                  <a:pt x="8099806" y="186235"/>
                  <a:pt x="8051692" y="252652"/>
                  <a:pt x="8118764" y="193964"/>
                </a:cubicBezTo>
                <a:cubicBezTo>
                  <a:pt x="8143340" y="172460"/>
                  <a:pt x="8160866" y="142805"/>
                  <a:pt x="8188037" y="124691"/>
                </a:cubicBezTo>
                <a:cubicBezTo>
                  <a:pt x="8201891" y="115455"/>
                  <a:pt x="8229600" y="113633"/>
                  <a:pt x="8229600" y="96982"/>
                </a:cubicBezTo>
                <a:cubicBezTo>
                  <a:pt x="8229600" y="82378"/>
                  <a:pt x="8201099" y="104306"/>
                  <a:pt x="8188037" y="110837"/>
                </a:cubicBezTo>
                <a:cubicBezTo>
                  <a:pt x="8173144" y="118284"/>
                  <a:pt x="8161366" y="131100"/>
                  <a:pt x="8146473" y="138546"/>
                </a:cubicBezTo>
                <a:cubicBezTo>
                  <a:pt x="8133411" y="145077"/>
                  <a:pt x="8118332" y="146647"/>
                  <a:pt x="8104909" y="152400"/>
                </a:cubicBezTo>
                <a:cubicBezTo>
                  <a:pt x="8055691" y="173493"/>
                  <a:pt x="8049669" y="179990"/>
                  <a:pt x="8007927" y="207819"/>
                </a:cubicBezTo>
                <a:cubicBezTo>
                  <a:pt x="7975600" y="203201"/>
                  <a:pt x="7940154" y="208568"/>
                  <a:pt x="7910946" y="193964"/>
                </a:cubicBezTo>
                <a:cubicBezTo>
                  <a:pt x="7897884" y="187433"/>
                  <a:pt x="7938467" y="184121"/>
                  <a:pt x="7952509" y="180109"/>
                </a:cubicBezTo>
                <a:cubicBezTo>
                  <a:pt x="7970818" y="174878"/>
                  <a:pt x="7989053" y="168772"/>
                  <a:pt x="8007927" y="166255"/>
                </a:cubicBezTo>
                <a:cubicBezTo>
                  <a:pt x="8058489" y="159513"/>
                  <a:pt x="8109527" y="157018"/>
                  <a:pt x="8160327" y="152400"/>
                </a:cubicBezTo>
                <a:cubicBezTo>
                  <a:pt x="8213179" y="205251"/>
                  <a:pt x="8174182" y="150414"/>
                  <a:pt x="8174182" y="235528"/>
                </a:cubicBezTo>
                <a:cubicBezTo>
                  <a:pt x="8174182" y="272761"/>
                  <a:pt x="8179665" y="310085"/>
                  <a:pt x="8188037" y="346364"/>
                </a:cubicBezTo>
                <a:cubicBezTo>
                  <a:pt x="8201549" y="404915"/>
                  <a:pt x="8237523" y="450705"/>
                  <a:pt x="8271164" y="498764"/>
                </a:cubicBezTo>
                <a:cubicBezTo>
                  <a:pt x="8284406" y="517681"/>
                  <a:pt x="8299306" y="535392"/>
                  <a:pt x="8312727" y="554182"/>
                </a:cubicBezTo>
                <a:cubicBezTo>
                  <a:pt x="8344395" y="598516"/>
                  <a:pt x="8349627" y="613221"/>
                  <a:pt x="8382000" y="665019"/>
                </a:cubicBezTo>
                <a:cubicBezTo>
                  <a:pt x="8386537" y="672279"/>
                  <a:pt x="8431872" y="731530"/>
                  <a:pt x="8423564" y="748146"/>
                </a:cubicBezTo>
                <a:cubicBezTo>
                  <a:pt x="8418946" y="757382"/>
                  <a:pt x="8405091" y="738909"/>
                  <a:pt x="8395855" y="734291"/>
                </a:cubicBezTo>
              </a:path>
            </a:pathLst>
          </a:custGeom>
          <a:noFill/>
          <a:ln w="349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chwa285_1">
            <a:hlinkClick r:id="" action="ppaction://media"/>
            <a:extLst>
              <a:ext uri="{FF2B5EF4-FFF2-40B4-BE49-F238E27FC236}">
                <a16:creationId xmlns:a16="http://schemas.microsoft.com/office/drawing/2014/main" id="{B33EAC12-B2C9-3B74-71D4-10BDE9C27E75}"/>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7632" t="5048" r="14813" b="-5048"/>
          <a:stretch>
            <a:fillRect/>
          </a:stretch>
        </p:blipFill>
        <p:spPr>
          <a:xfrm>
            <a:off x="4057850" y="2900922"/>
            <a:ext cx="8181892" cy="1513916"/>
          </a:xfrm>
          <a:prstGeom prst="rect">
            <a:avLst/>
          </a:prstGeom>
        </p:spPr>
      </p:pic>
    </p:spTree>
    <p:extLst>
      <p:ext uri="{BB962C8B-B14F-4D97-AF65-F5344CB8AC3E}">
        <p14:creationId xmlns:p14="http://schemas.microsoft.com/office/powerpoint/2010/main" val="216656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06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5"/>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5"/>
                                        </p:tgtEl>
                                      </p:cBhvr>
                                    </p:cmd>
                                  </p:childTnLst>
                                </p:cTn>
                              </p:par>
                            </p:childTnLst>
                          </p:cTn>
                        </p:par>
                      </p:childTnLst>
                    </p:cTn>
                  </p:par>
                </p:childTnLst>
              </p:cTn>
              <p:nextCondLst>
                <p:cond evt="onClick" delay="0">
                  <p:tgtEl>
                    <p:spTgt spid="5"/>
                  </p:tgtEl>
                </p:cond>
              </p:nextCondLst>
            </p:seq>
            <p:video>
              <p:cMediaNode vol="80000">
                <p:cTn id="24" fill="hold" display="0">
                  <p:stCondLst>
                    <p:cond delay="indefinite"/>
                  </p:stCondLst>
                </p:cTn>
                <p:tgtEl>
                  <p:spTgt spid="5"/>
                </p:tgtEl>
              </p:cMediaNode>
            </p:video>
          </p:childTnLst>
        </p:cTn>
      </p:par>
    </p:tnLst>
    <p:bldLst>
      <p:bldP spid="3"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A9E0A-2032-8334-537B-A95AC3C3DD17}"/>
              </a:ext>
            </a:extLst>
          </p:cNvPr>
          <p:cNvSpPr>
            <a:spLocks noGrp="1"/>
          </p:cNvSpPr>
          <p:nvPr>
            <p:ph type="title"/>
          </p:nvPr>
        </p:nvSpPr>
        <p:spPr/>
        <p:txBody>
          <a:bodyPr/>
          <a:lstStyle/>
          <a:p>
            <a:r>
              <a:rPr lang="en-US"/>
              <a:t>AI: Ughhhhhh… Can’t we just ignore  AI?</a:t>
            </a:r>
          </a:p>
        </p:txBody>
      </p:sp>
      <p:sp>
        <p:nvSpPr>
          <p:cNvPr id="3" name="Content Placeholder 2">
            <a:extLst>
              <a:ext uri="{FF2B5EF4-FFF2-40B4-BE49-F238E27FC236}">
                <a16:creationId xmlns:a16="http://schemas.microsoft.com/office/drawing/2014/main" id="{EE2B9BDF-859E-2F6F-DF42-8722AE5AECB4}"/>
              </a:ext>
            </a:extLst>
          </p:cNvPr>
          <p:cNvSpPr>
            <a:spLocks noGrp="1"/>
          </p:cNvSpPr>
          <p:nvPr>
            <p:ph idx="1"/>
          </p:nvPr>
        </p:nvSpPr>
        <p:spPr>
          <a:xfrm>
            <a:off x="838199" y="1825625"/>
            <a:ext cx="10691813" cy="4775200"/>
          </a:xfrm>
        </p:spPr>
        <p:txBody>
          <a:bodyPr>
            <a:normAutofit fontScale="85000" lnSpcReduction="20000"/>
          </a:bodyPr>
          <a:lstStyle/>
          <a:p>
            <a:r>
              <a:rPr lang="en-US"/>
              <a:t>Given all we know about the psychological, economic, social, and environmental harm, can we just ignore AI– just pretend it doesn’t exist? </a:t>
            </a:r>
          </a:p>
          <a:p>
            <a:r>
              <a:rPr lang="en-US"/>
              <a:t>Given the existential harm that many scientists warn about, can we just pretend it doesn’t exist?</a:t>
            </a:r>
          </a:p>
          <a:p>
            <a:r>
              <a:rPr lang="en-US"/>
              <a:t>It exists, with many harms, and some benefits (e.g., immunotherapy, and yes, environmental engineering)</a:t>
            </a:r>
          </a:p>
          <a:p>
            <a:r>
              <a:rPr lang="en-US"/>
              <a:t>One of the biggest dangers: We have no idea how it works. </a:t>
            </a:r>
            <a:r>
              <a:rPr lang="en-US" b="1" i="1"/>
              <a:t>We know everything, and Understand nothing</a:t>
            </a:r>
            <a:r>
              <a:rPr lang="en-US"/>
              <a:t>.</a:t>
            </a:r>
          </a:p>
          <a:p>
            <a:r>
              <a:rPr lang="en-US"/>
              <a:t>And the people who </a:t>
            </a:r>
            <a:r>
              <a:rPr lang="en-US" i="1"/>
              <a:t>know</a:t>
            </a:r>
            <a:r>
              <a:rPr lang="en-US"/>
              <a:t> how it operates are very very few.</a:t>
            </a:r>
          </a:p>
          <a:p>
            <a:r>
              <a:rPr lang="en-US"/>
              <a:t>In my opinion, AI literacy is necessary for scientists who use it, politicians who need to control it, lawyers who litigate on it, etc.</a:t>
            </a:r>
          </a:p>
          <a:p>
            <a:r>
              <a:rPr lang="en-US"/>
              <a:t>I teach this course, because I believe that someone in a class like this, a creatve thinker can help us understand these systems enough to benefit from them, while avoiding their negative consequences</a:t>
            </a:r>
          </a:p>
        </p:txBody>
      </p:sp>
      <p:pic>
        <p:nvPicPr>
          <p:cNvPr id="4" name="Picture 3" descr="A black text on a white background&#10;&#10;AI-generated content may be incorrect.">
            <a:extLst>
              <a:ext uri="{FF2B5EF4-FFF2-40B4-BE49-F238E27FC236}">
                <a16:creationId xmlns:a16="http://schemas.microsoft.com/office/drawing/2014/main" id="{A2040199-DCEC-DB1B-6A95-C7429C46ADAE}"/>
              </a:ext>
            </a:extLst>
          </p:cNvPr>
          <p:cNvPicPr>
            <a:picLocks noChangeAspect="1"/>
          </p:cNvPicPr>
          <p:nvPr/>
        </p:nvPicPr>
        <p:blipFill>
          <a:blip r:embed="rId2"/>
          <a:stretch>
            <a:fillRect/>
          </a:stretch>
        </p:blipFill>
        <p:spPr>
          <a:xfrm>
            <a:off x="6953250" y="2928937"/>
            <a:ext cx="2531563" cy="692150"/>
          </a:xfrm>
          <a:prstGeom prst="rect">
            <a:avLst/>
          </a:prstGeom>
        </p:spPr>
      </p:pic>
    </p:spTree>
    <p:extLst>
      <p:ext uri="{BB962C8B-B14F-4D97-AF65-F5344CB8AC3E}">
        <p14:creationId xmlns:p14="http://schemas.microsoft.com/office/powerpoint/2010/main" val="254258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65C23-EE1B-BE17-0BCA-7E9C972E1669}"/>
              </a:ext>
            </a:extLst>
          </p:cNvPr>
          <p:cNvSpPr>
            <a:spLocks noGrp="1"/>
          </p:cNvSpPr>
          <p:nvPr>
            <p:ph type="title"/>
          </p:nvPr>
        </p:nvSpPr>
        <p:spPr/>
        <p:txBody>
          <a:bodyPr/>
          <a:lstStyle/>
          <a:p>
            <a:r>
              <a:rPr lang="en-US"/>
              <a:t>Goals of Ling 285</a:t>
            </a:r>
          </a:p>
        </p:txBody>
      </p:sp>
      <p:sp>
        <p:nvSpPr>
          <p:cNvPr id="3" name="Content Placeholder 2">
            <a:extLst>
              <a:ext uri="{FF2B5EF4-FFF2-40B4-BE49-F238E27FC236}">
                <a16:creationId xmlns:a16="http://schemas.microsoft.com/office/drawing/2014/main" id="{F1642760-91F3-64C2-306E-1142E19F7800}"/>
              </a:ext>
            </a:extLst>
          </p:cNvPr>
          <p:cNvSpPr>
            <a:spLocks noGrp="1"/>
          </p:cNvSpPr>
          <p:nvPr>
            <p:ph idx="1"/>
          </p:nvPr>
        </p:nvSpPr>
        <p:spPr/>
        <p:txBody>
          <a:bodyPr>
            <a:normAutofit lnSpcReduction="10000"/>
          </a:bodyPr>
          <a:lstStyle/>
          <a:p>
            <a:r>
              <a:rPr lang="en-US"/>
              <a:t>Specific:</a:t>
            </a:r>
          </a:p>
          <a:p>
            <a:pPr lvl="1"/>
            <a:r>
              <a:rPr lang="en-US"/>
              <a:t>To appreciate the human cognitive skill of speech</a:t>
            </a:r>
          </a:p>
          <a:p>
            <a:pPr lvl="1"/>
            <a:r>
              <a:rPr lang="en-US"/>
              <a:t>To understand some basic principles of physics through speech</a:t>
            </a:r>
          </a:p>
          <a:p>
            <a:pPr lvl="1"/>
            <a:r>
              <a:rPr lang="en-US"/>
              <a:t>To understand how modern AI systems model human cognition</a:t>
            </a:r>
          </a:p>
          <a:p>
            <a:pPr lvl="1"/>
            <a:r>
              <a:rPr lang="en-US"/>
              <a:t>To sharpen your methodical reasoning via elementary programming</a:t>
            </a:r>
          </a:p>
          <a:p>
            <a:r>
              <a:rPr lang="en-US"/>
              <a:t>General:</a:t>
            </a:r>
          </a:p>
          <a:p>
            <a:pPr lvl="1"/>
            <a:r>
              <a:rPr lang="en-US"/>
              <a:t>How to think creatively in a rich interdisciplinary way, as this course will involve physics, psychology, linguistics, biology, economics, computer science, philosophy, neuroscience, and many other fields.</a:t>
            </a:r>
          </a:p>
          <a:p>
            <a:pPr lvl="1"/>
            <a:r>
              <a:rPr lang="en-US"/>
              <a:t>To deepen your understanding of the world we are all living in today</a:t>
            </a:r>
          </a:p>
          <a:p>
            <a:pPr lvl="1"/>
            <a:r>
              <a:rPr lang="en-US"/>
              <a:t>To sharpen your skillful use of modern AI systems</a:t>
            </a:r>
          </a:p>
        </p:txBody>
      </p:sp>
    </p:spTree>
    <p:extLst>
      <p:ext uri="{BB962C8B-B14F-4D97-AF65-F5344CB8AC3E}">
        <p14:creationId xmlns:p14="http://schemas.microsoft.com/office/powerpoint/2010/main" val="399545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2D958-645B-9B0F-FC05-13926776CE88}"/>
              </a:ext>
            </a:extLst>
          </p:cNvPr>
          <p:cNvSpPr>
            <a:spLocks noGrp="1"/>
          </p:cNvSpPr>
          <p:nvPr>
            <p:ph type="title"/>
          </p:nvPr>
        </p:nvSpPr>
        <p:spPr>
          <a:xfrm>
            <a:off x="831056" y="257660"/>
            <a:ext cx="10529888" cy="1004888"/>
          </a:xfrm>
        </p:spPr>
        <p:txBody>
          <a:bodyPr>
            <a:normAutofit/>
          </a:bodyPr>
          <a:lstStyle/>
          <a:p>
            <a:r>
              <a:rPr lang="en-US"/>
              <a:t>Diotima (440 BCE) to Job Interviews (2026...)</a:t>
            </a:r>
          </a:p>
        </p:txBody>
      </p:sp>
      <p:pic>
        <p:nvPicPr>
          <p:cNvPr id="5" name="Picture 4">
            <a:extLst>
              <a:ext uri="{FF2B5EF4-FFF2-40B4-BE49-F238E27FC236}">
                <a16:creationId xmlns:a16="http://schemas.microsoft.com/office/drawing/2014/main" id="{B3B62957-47F5-6A26-EFF5-D7F8A6946C32}"/>
              </a:ext>
            </a:extLst>
          </p:cNvPr>
          <p:cNvPicPr>
            <a:picLocks noChangeAspect="1"/>
          </p:cNvPicPr>
          <p:nvPr/>
        </p:nvPicPr>
        <p:blipFill>
          <a:blip r:embed="rId2"/>
          <a:stretch>
            <a:fillRect/>
          </a:stretch>
        </p:blipFill>
        <p:spPr>
          <a:xfrm>
            <a:off x="2463169" y="1370044"/>
            <a:ext cx="2584681" cy="4351758"/>
          </a:xfrm>
          <a:prstGeom prst="rect">
            <a:avLst/>
          </a:prstGeom>
        </p:spPr>
      </p:pic>
      <p:pic>
        <p:nvPicPr>
          <p:cNvPr id="7" name="Picture 6">
            <a:extLst>
              <a:ext uri="{FF2B5EF4-FFF2-40B4-BE49-F238E27FC236}">
                <a16:creationId xmlns:a16="http://schemas.microsoft.com/office/drawing/2014/main" id="{E16DD98A-9967-3D7F-17B6-52994B558F6E}"/>
              </a:ext>
            </a:extLst>
          </p:cNvPr>
          <p:cNvPicPr>
            <a:picLocks noChangeAspect="1"/>
          </p:cNvPicPr>
          <p:nvPr/>
        </p:nvPicPr>
        <p:blipFill>
          <a:blip r:embed="rId3"/>
          <a:stretch>
            <a:fillRect/>
          </a:stretch>
        </p:blipFill>
        <p:spPr>
          <a:xfrm>
            <a:off x="255513" y="1104899"/>
            <a:ext cx="2059062" cy="2854609"/>
          </a:xfrm>
          <a:prstGeom prst="rect">
            <a:avLst/>
          </a:prstGeom>
        </p:spPr>
      </p:pic>
      <p:pic>
        <p:nvPicPr>
          <p:cNvPr id="9" name="Picture 8">
            <a:extLst>
              <a:ext uri="{FF2B5EF4-FFF2-40B4-BE49-F238E27FC236}">
                <a16:creationId xmlns:a16="http://schemas.microsoft.com/office/drawing/2014/main" id="{9DB1826D-1A54-28EB-7E05-2411D2FBF306}"/>
              </a:ext>
            </a:extLst>
          </p:cNvPr>
          <p:cNvPicPr>
            <a:picLocks noChangeAspect="1"/>
          </p:cNvPicPr>
          <p:nvPr/>
        </p:nvPicPr>
        <p:blipFill>
          <a:blip r:embed="rId4"/>
          <a:srcRect b="24160"/>
          <a:stretch>
            <a:fillRect/>
          </a:stretch>
        </p:blipFill>
        <p:spPr>
          <a:xfrm>
            <a:off x="888382" y="3946412"/>
            <a:ext cx="638533" cy="829174"/>
          </a:xfrm>
          <a:prstGeom prst="rect">
            <a:avLst/>
          </a:prstGeom>
        </p:spPr>
      </p:pic>
      <p:pic>
        <p:nvPicPr>
          <p:cNvPr id="13" name="Picture 12">
            <a:extLst>
              <a:ext uri="{FF2B5EF4-FFF2-40B4-BE49-F238E27FC236}">
                <a16:creationId xmlns:a16="http://schemas.microsoft.com/office/drawing/2014/main" id="{290F5008-2A94-0C10-84D7-640B1C4E6B40}"/>
              </a:ext>
            </a:extLst>
          </p:cNvPr>
          <p:cNvPicPr>
            <a:picLocks noChangeAspect="1"/>
          </p:cNvPicPr>
          <p:nvPr/>
        </p:nvPicPr>
        <p:blipFill>
          <a:blip r:embed="rId5"/>
          <a:stretch>
            <a:fillRect/>
          </a:stretch>
        </p:blipFill>
        <p:spPr>
          <a:xfrm>
            <a:off x="852819" y="4871837"/>
            <a:ext cx="709657" cy="829174"/>
          </a:xfrm>
          <a:prstGeom prst="rect">
            <a:avLst/>
          </a:prstGeom>
        </p:spPr>
      </p:pic>
      <p:pic>
        <p:nvPicPr>
          <p:cNvPr id="15" name="Picture 14">
            <a:extLst>
              <a:ext uri="{FF2B5EF4-FFF2-40B4-BE49-F238E27FC236}">
                <a16:creationId xmlns:a16="http://schemas.microsoft.com/office/drawing/2014/main" id="{02A8AF4A-875E-EA6D-509D-83E6C8AD8C12}"/>
              </a:ext>
            </a:extLst>
          </p:cNvPr>
          <p:cNvPicPr>
            <a:picLocks noChangeAspect="1"/>
          </p:cNvPicPr>
          <p:nvPr/>
        </p:nvPicPr>
        <p:blipFill>
          <a:blip r:embed="rId6"/>
          <a:stretch>
            <a:fillRect/>
          </a:stretch>
        </p:blipFill>
        <p:spPr>
          <a:xfrm>
            <a:off x="898583" y="5813746"/>
            <a:ext cx="618127" cy="825474"/>
          </a:xfrm>
          <a:prstGeom prst="rect">
            <a:avLst/>
          </a:prstGeom>
        </p:spPr>
      </p:pic>
      <p:sp>
        <p:nvSpPr>
          <p:cNvPr id="4" name="TextBox 3">
            <a:extLst>
              <a:ext uri="{FF2B5EF4-FFF2-40B4-BE49-F238E27FC236}">
                <a16:creationId xmlns:a16="http://schemas.microsoft.com/office/drawing/2014/main" id="{50ED67F5-8A69-0D03-717C-4822DCB267BC}"/>
              </a:ext>
            </a:extLst>
          </p:cNvPr>
          <p:cNvSpPr txBox="1"/>
          <p:nvPr/>
        </p:nvSpPr>
        <p:spPr>
          <a:xfrm>
            <a:off x="3911045" y="5210956"/>
            <a:ext cx="4281824" cy="1200329"/>
          </a:xfrm>
          <a:prstGeom prst="rect">
            <a:avLst/>
          </a:prstGeom>
          <a:solidFill>
            <a:srgbClr val="F6A79E"/>
          </a:solidFill>
          <a:ln>
            <a:solidFill>
              <a:srgbClr val="FFD0D9"/>
            </a:solidFill>
          </a:ln>
        </p:spPr>
        <p:txBody>
          <a:bodyPr wrap="square" rtlCol="0">
            <a:spAutoFit/>
          </a:bodyPr>
          <a:lstStyle/>
          <a:p>
            <a:r>
              <a:rPr lang="en-US">
                <a:solidFill>
                  <a:schemeClr val="bg1"/>
                </a:solidFill>
              </a:rPr>
              <a:t>Daily Experience, Habit, Memorization</a:t>
            </a:r>
          </a:p>
          <a:p>
            <a:r>
              <a:rPr lang="en-US">
                <a:solidFill>
                  <a:schemeClr val="bg1"/>
                </a:solidFill>
              </a:rPr>
              <a:t>Specialized skills, Repetition and</a:t>
            </a:r>
          </a:p>
          <a:p>
            <a:r>
              <a:rPr lang="en-US">
                <a:solidFill>
                  <a:schemeClr val="bg1"/>
                </a:solidFill>
              </a:rPr>
              <a:t>Replication, Similar is Same, and Slight difference is different, textbooks</a:t>
            </a:r>
          </a:p>
        </p:txBody>
      </p:sp>
      <p:sp>
        <p:nvSpPr>
          <p:cNvPr id="6" name="TextBox 5">
            <a:extLst>
              <a:ext uri="{FF2B5EF4-FFF2-40B4-BE49-F238E27FC236}">
                <a16:creationId xmlns:a16="http://schemas.microsoft.com/office/drawing/2014/main" id="{E83559F7-9FFB-227F-FCF0-5BD5AEC41D1B}"/>
              </a:ext>
            </a:extLst>
          </p:cNvPr>
          <p:cNvSpPr txBox="1"/>
          <p:nvPr/>
        </p:nvSpPr>
        <p:spPr>
          <a:xfrm>
            <a:off x="4760270" y="1104899"/>
            <a:ext cx="5512443" cy="1477328"/>
          </a:xfrm>
          <a:prstGeom prst="rect">
            <a:avLst/>
          </a:prstGeom>
          <a:solidFill>
            <a:srgbClr val="0070C0"/>
          </a:solidFill>
        </p:spPr>
        <p:txBody>
          <a:bodyPr wrap="square" rtlCol="0">
            <a:spAutoFit/>
          </a:bodyPr>
          <a:lstStyle/>
          <a:p>
            <a:r>
              <a:rPr lang="en-US">
                <a:solidFill>
                  <a:schemeClr val="bg1"/>
                </a:solidFill>
              </a:rPr>
              <a:t>Creativity, Insight, Thought, Focus, Attention, Imaginative, Vision, different can be same, Similar can be different, Problem-Posing,  Problem-Solving, Critical Reading and Creative Writing</a:t>
            </a:r>
          </a:p>
          <a:p>
            <a:endParaRPr lang="en-US"/>
          </a:p>
        </p:txBody>
      </p:sp>
      <p:sp>
        <p:nvSpPr>
          <p:cNvPr id="36" name="U-Turn Arrow 35">
            <a:extLst>
              <a:ext uri="{FF2B5EF4-FFF2-40B4-BE49-F238E27FC236}">
                <a16:creationId xmlns:a16="http://schemas.microsoft.com/office/drawing/2014/main" id="{7AC57284-552B-9064-94E8-CC0A1F7542F4}"/>
              </a:ext>
            </a:extLst>
          </p:cNvPr>
          <p:cNvSpPr/>
          <p:nvPr/>
        </p:nvSpPr>
        <p:spPr>
          <a:xfrm rot="5921545" flipH="1">
            <a:off x="3958875" y="4121962"/>
            <a:ext cx="1252260" cy="877824"/>
          </a:xfrm>
          <a:prstGeom prst="utur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U-Turn Arrow 36">
            <a:extLst>
              <a:ext uri="{FF2B5EF4-FFF2-40B4-BE49-F238E27FC236}">
                <a16:creationId xmlns:a16="http://schemas.microsoft.com/office/drawing/2014/main" id="{D495FF5B-F848-D984-89DF-5F39A986B3FF}"/>
              </a:ext>
            </a:extLst>
          </p:cNvPr>
          <p:cNvSpPr/>
          <p:nvPr/>
        </p:nvSpPr>
        <p:spPr>
          <a:xfrm rot="5921545" flipH="1">
            <a:off x="4288890" y="2822229"/>
            <a:ext cx="1252260" cy="877824"/>
          </a:xfrm>
          <a:prstGeom prst="uturnArrow">
            <a:avLst/>
          </a:prstGeom>
          <a:solidFill>
            <a:schemeClr val="accent3">
              <a:lumMod val="7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TextBox 37">
            <a:extLst>
              <a:ext uri="{FF2B5EF4-FFF2-40B4-BE49-F238E27FC236}">
                <a16:creationId xmlns:a16="http://schemas.microsoft.com/office/drawing/2014/main" id="{1A8BBF21-0F99-C661-DD7B-04D413084ED2}"/>
              </a:ext>
            </a:extLst>
          </p:cNvPr>
          <p:cNvSpPr txBox="1"/>
          <p:nvPr/>
        </p:nvSpPr>
        <p:spPr>
          <a:xfrm>
            <a:off x="5113503" y="4590920"/>
            <a:ext cx="1911101" cy="369332"/>
          </a:xfrm>
          <a:prstGeom prst="rect">
            <a:avLst/>
          </a:prstGeom>
          <a:noFill/>
        </p:spPr>
        <p:txBody>
          <a:bodyPr wrap="none" rtlCol="0">
            <a:spAutoFit/>
          </a:bodyPr>
          <a:lstStyle/>
          <a:p>
            <a:r>
              <a:rPr lang="en-US"/>
              <a:t>Question-Answer</a:t>
            </a:r>
          </a:p>
        </p:txBody>
      </p:sp>
      <p:sp>
        <p:nvSpPr>
          <p:cNvPr id="40" name="TextBox 39">
            <a:extLst>
              <a:ext uri="{FF2B5EF4-FFF2-40B4-BE49-F238E27FC236}">
                <a16:creationId xmlns:a16="http://schemas.microsoft.com/office/drawing/2014/main" id="{0B44CB16-FB64-6DA2-DEC0-E1748CF657E9}"/>
              </a:ext>
            </a:extLst>
          </p:cNvPr>
          <p:cNvSpPr txBox="1"/>
          <p:nvPr/>
        </p:nvSpPr>
        <p:spPr>
          <a:xfrm>
            <a:off x="8591391" y="2575870"/>
            <a:ext cx="3469218" cy="3477875"/>
          </a:xfrm>
          <a:prstGeom prst="rect">
            <a:avLst/>
          </a:prstGeom>
          <a:solidFill>
            <a:srgbClr val="EBEBEB"/>
          </a:solidFill>
        </p:spPr>
        <p:txBody>
          <a:bodyPr wrap="none" rtlCol="0">
            <a:spAutoFit/>
          </a:bodyPr>
          <a:lstStyle/>
          <a:p>
            <a:pPr algn="ctr"/>
            <a:r>
              <a:rPr lang="en-US" sz="2000">
                <a:solidFill>
                  <a:srgbClr val="FF0000"/>
                </a:solidFill>
              </a:rPr>
              <a:t>For 2500 years, people</a:t>
            </a:r>
          </a:p>
          <a:p>
            <a:pPr algn="ctr"/>
            <a:r>
              <a:rPr lang="en-US" sz="2000">
                <a:solidFill>
                  <a:srgbClr val="FF0000"/>
                </a:solidFill>
              </a:rPr>
              <a:t>could fake it! They could </a:t>
            </a:r>
          </a:p>
          <a:p>
            <a:pPr algn="ctr"/>
            <a:r>
              <a:rPr lang="en-US" sz="2000">
                <a:solidFill>
                  <a:srgbClr val="FF0000"/>
                </a:solidFill>
              </a:rPr>
              <a:t>do well without ascending</a:t>
            </a:r>
          </a:p>
          <a:p>
            <a:pPr algn="ctr"/>
            <a:r>
              <a:rPr lang="en-US" sz="2000">
                <a:solidFill>
                  <a:srgbClr val="FF0000"/>
                </a:solidFill>
              </a:rPr>
              <a:t>the ladder… Sorry… No more.</a:t>
            </a:r>
          </a:p>
          <a:p>
            <a:pPr algn="ctr"/>
            <a:r>
              <a:rPr lang="en-US" sz="2000">
                <a:solidFill>
                  <a:srgbClr val="FF0000"/>
                </a:solidFill>
              </a:rPr>
              <a:t>Not in 2026. For instance, </a:t>
            </a:r>
          </a:p>
          <a:p>
            <a:pPr algn="ctr"/>
            <a:r>
              <a:rPr lang="en-US" sz="2000">
                <a:solidFill>
                  <a:srgbClr val="FF0000"/>
                </a:solidFill>
              </a:rPr>
              <a:t>In interviews </a:t>
            </a:r>
          </a:p>
          <a:p>
            <a:pPr algn="ctr"/>
            <a:r>
              <a:rPr lang="en-US" sz="2000">
                <a:solidFill>
                  <a:srgbClr val="FF0000"/>
                </a:solidFill>
              </a:rPr>
              <a:t>for jobs and grad school, </a:t>
            </a:r>
          </a:p>
          <a:p>
            <a:pPr algn="ctr"/>
            <a:r>
              <a:rPr lang="en-US" sz="2000">
                <a:solidFill>
                  <a:srgbClr val="FF0000"/>
                </a:solidFill>
              </a:rPr>
              <a:t>all anyone is interested </a:t>
            </a:r>
          </a:p>
          <a:p>
            <a:pPr algn="ctr"/>
            <a:r>
              <a:rPr lang="en-US" sz="2000">
                <a:solidFill>
                  <a:srgbClr val="FF0000"/>
                </a:solidFill>
              </a:rPr>
              <a:t>anymore is whether you </a:t>
            </a:r>
          </a:p>
          <a:p>
            <a:pPr algn="ctr"/>
            <a:r>
              <a:rPr lang="en-US" sz="2000">
                <a:solidFill>
                  <a:srgbClr val="FF0000"/>
                </a:solidFill>
              </a:rPr>
              <a:t>exhibit properies of the Top of </a:t>
            </a:r>
          </a:p>
          <a:p>
            <a:pPr algn="ctr"/>
            <a:r>
              <a:rPr lang="en-US" sz="2000">
                <a:solidFill>
                  <a:srgbClr val="FF0000"/>
                </a:solidFill>
              </a:rPr>
              <a:t>Diotima’s ladder!</a:t>
            </a:r>
          </a:p>
        </p:txBody>
      </p:sp>
      <p:sp>
        <p:nvSpPr>
          <p:cNvPr id="41" name="TextBox 40">
            <a:extLst>
              <a:ext uri="{FF2B5EF4-FFF2-40B4-BE49-F238E27FC236}">
                <a16:creationId xmlns:a16="http://schemas.microsoft.com/office/drawing/2014/main" id="{96AF4D40-97F5-85A8-AE57-57957CF9FD0C}"/>
              </a:ext>
            </a:extLst>
          </p:cNvPr>
          <p:cNvSpPr txBox="1"/>
          <p:nvPr/>
        </p:nvSpPr>
        <p:spPr>
          <a:xfrm>
            <a:off x="5193312" y="4091643"/>
            <a:ext cx="1911101" cy="369332"/>
          </a:xfrm>
          <a:prstGeom prst="rect">
            <a:avLst/>
          </a:prstGeom>
          <a:noFill/>
        </p:spPr>
        <p:txBody>
          <a:bodyPr wrap="none" rtlCol="0">
            <a:spAutoFit/>
          </a:bodyPr>
          <a:lstStyle/>
          <a:p>
            <a:r>
              <a:rPr lang="en-US"/>
              <a:t>Question-Answer</a:t>
            </a:r>
          </a:p>
        </p:txBody>
      </p:sp>
      <p:sp>
        <p:nvSpPr>
          <p:cNvPr id="42" name="TextBox 41">
            <a:extLst>
              <a:ext uri="{FF2B5EF4-FFF2-40B4-BE49-F238E27FC236}">
                <a16:creationId xmlns:a16="http://schemas.microsoft.com/office/drawing/2014/main" id="{2059D17E-58CC-A6F7-97C6-D9BC7EE0405D}"/>
              </a:ext>
            </a:extLst>
          </p:cNvPr>
          <p:cNvSpPr txBox="1"/>
          <p:nvPr/>
        </p:nvSpPr>
        <p:spPr>
          <a:xfrm>
            <a:off x="5258965" y="3506271"/>
            <a:ext cx="1911101" cy="369332"/>
          </a:xfrm>
          <a:prstGeom prst="rect">
            <a:avLst/>
          </a:prstGeom>
          <a:noFill/>
        </p:spPr>
        <p:txBody>
          <a:bodyPr wrap="none" rtlCol="0">
            <a:spAutoFit/>
          </a:bodyPr>
          <a:lstStyle/>
          <a:p>
            <a:r>
              <a:rPr lang="en-US"/>
              <a:t>Question-Answer</a:t>
            </a:r>
          </a:p>
        </p:txBody>
      </p:sp>
      <p:sp>
        <p:nvSpPr>
          <p:cNvPr id="43" name="TextBox 42">
            <a:extLst>
              <a:ext uri="{FF2B5EF4-FFF2-40B4-BE49-F238E27FC236}">
                <a16:creationId xmlns:a16="http://schemas.microsoft.com/office/drawing/2014/main" id="{4A2435C7-D144-C5B8-431C-F1DCE09B4A9A}"/>
              </a:ext>
            </a:extLst>
          </p:cNvPr>
          <p:cNvSpPr txBox="1"/>
          <p:nvPr/>
        </p:nvSpPr>
        <p:spPr>
          <a:xfrm>
            <a:off x="5377865" y="2845167"/>
            <a:ext cx="1911101" cy="369332"/>
          </a:xfrm>
          <a:prstGeom prst="rect">
            <a:avLst/>
          </a:prstGeom>
          <a:noFill/>
        </p:spPr>
        <p:txBody>
          <a:bodyPr wrap="none" rtlCol="0">
            <a:spAutoFit/>
          </a:bodyPr>
          <a:lstStyle/>
          <a:p>
            <a:r>
              <a:rPr lang="en-US"/>
              <a:t>Question-Answer</a:t>
            </a:r>
          </a:p>
        </p:txBody>
      </p:sp>
    </p:spTree>
    <p:extLst>
      <p:ext uri="{BB962C8B-B14F-4D97-AF65-F5344CB8AC3E}">
        <p14:creationId xmlns:p14="http://schemas.microsoft.com/office/powerpoint/2010/main" val="186090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36" grpId="0" animBg="1"/>
      <p:bldP spid="37" grpId="0" animBg="1"/>
      <p:bldP spid="38" grpId="0"/>
      <p:bldP spid="40" grpId="0" animBg="1"/>
      <p:bldP spid="41" grpId="0"/>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0B5AF-2822-AACA-0C1B-FC98D0D43100}"/>
              </a:ext>
            </a:extLst>
          </p:cNvPr>
          <p:cNvSpPr>
            <a:spLocks noGrp="1"/>
          </p:cNvSpPr>
          <p:nvPr>
            <p:ph type="title"/>
          </p:nvPr>
        </p:nvSpPr>
        <p:spPr/>
        <p:txBody>
          <a:bodyPr/>
          <a:lstStyle/>
          <a:p>
            <a:r>
              <a:rPr lang="en-US"/>
              <a:t>Speech: Let’s learn by doing</a:t>
            </a:r>
          </a:p>
        </p:txBody>
      </p:sp>
      <p:sp>
        <p:nvSpPr>
          <p:cNvPr id="3" name="Content Placeholder 2">
            <a:extLst>
              <a:ext uri="{FF2B5EF4-FFF2-40B4-BE49-F238E27FC236}">
                <a16:creationId xmlns:a16="http://schemas.microsoft.com/office/drawing/2014/main" id="{12FB14C7-287D-C8CD-5BB2-FB1ECBA19726}"/>
              </a:ext>
            </a:extLst>
          </p:cNvPr>
          <p:cNvSpPr>
            <a:spLocks noGrp="1"/>
          </p:cNvSpPr>
          <p:nvPr>
            <p:ph idx="1"/>
          </p:nvPr>
        </p:nvSpPr>
        <p:spPr/>
        <p:txBody>
          <a:bodyPr>
            <a:normAutofit lnSpcReduction="10000"/>
          </a:bodyPr>
          <a:lstStyle/>
          <a:p>
            <a:r>
              <a:rPr lang="en-US"/>
              <a:t>fffffffffffffffvvvvvvvvvvvvv (say the f in </a:t>
            </a:r>
            <a:r>
              <a:rPr lang="en-US" u="sng"/>
              <a:t>f</a:t>
            </a:r>
            <a:r>
              <a:rPr lang="en-US"/>
              <a:t>at, then v in </a:t>
            </a:r>
            <a:r>
              <a:rPr lang="en-US" u="sng"/>
              <a:t>v</a:t>
            </a:r>
            <a:r>
              <a:rPr lang="en-US"/>
              <a:t>at)</a:t>
            </a:r>
          </a:p>
          <a:p>
            <a:r>
              <a:rPr lang="en-US"/>
              <a:t>thththththththththththth(say the th in </a:t>
            </a:r>
            <a:r>
              <a:rPr lang="en-US" u="sng"/>
              <a:t>th</a:t>
            </a:r>
            <a:r>
              <a:rPr lang="en-US"/>
              <a:t>ing, then th in </a:t>
            </a:r>
            <a:r>
              <a:rPr lang="en-US" u="sng"/>
              <a:t>th</a:t>
            </a:r>
            <a:r>
              <a:rPr lang="en-US"/>
              <a:t>at)</a:t>
            </a:r>
          </a:p>
          <a:p>
            <a:r>
              <a:rPr lang="en-US"/>
              <a:t>sssssssssszzzzzzzzzzzz(say the s in </a:t>
            </a:r>
            <a:r>
              <a:rPr lang="en-US" u="sng"/>
              <a:t>s</a:t>
            </a:r>
            <a:r>
              <a:rPr lang="en-US"/>
              <a:t>ing, then z in </a:t>
            </a:r>
            <a:r>
              <a:rPr lang="en-US" u="sng"/>
              <a:t>z</a:t>
            </a:r>
            <a:r>
              <a:rPr lang="en-US"/>
              <a:t>ing)</a:t>
            </a:r>
          </a:p>
          <a:p>
            <a:r>
              <a:rPr lang="en-US"/>
              <a:t>shshshshshjjjjjjjjjjjjjjjjjjjjj (say the sh in me</a:t>
            </a:r>
            <a:r>
              <a:rPr lang="en-US" u="sng"/>
              <a:t>sh</a:t>
            </a:r>
            <a:r>
              <a:rPr lang="en-US"/>
              <a:t>, then j in bei</a:t>
            </a:r>
            <a:r>
              <a:rPr lang="en-US" u="sng"/>
              <a:t>ge</a:t>
            </a:r>
            <a:r>
              <a:rPr lang="en-US"/>
              <a:t>)</a:t>
            </a:r>
          </a:p>
          <a:p>
            <a:r>
              <a:rPr lang="en-US"/>
              <a:t>What’s different between the first and second elements of each pair?</a:t>
            </a:r>
          </a:p>
          <a:p>
            <a:r>
              <a:rPr lang="en-US"/>
              <a:t>Voice: Whether your vocal folds vibrate or not.</a:t>
            </a:r>
          </a:p>
          <a:p>
            <a:r>
              <a:rPr lang="en-US"/>
              <a:t>What’s the difference between the elements on different lines?</a:t>
            </a:r>
          </a:p>
          <a:p>
            <a:r>
              <a:rPr lang="en-US"/>
              <a:t>Place of Articulation</a:t>
            </a:r>
          </a:p>
          <a:p>
            <a:endParaRPr lang="en-US"/>
          </a:p>
          <a:p>
            <a:endParaRPr lang="en-US"/>
          </a:p>
          <a:p>
            <a:endParaRPr lang="en-US"/>
          </a:p>
        </p:txBody>
      </p:sp>
    </p:spTree>
    <p:extLst>
      <p:ext uri="{BB962C8B-B14F-4D97-AF65-F5344CB8AC3E}">
        <p14:creationId xmlns:p14="http://schemas.microsoft.com/office/powerpoint/2010/main" val="218923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8E1F-6888-DEA3-469B-6F089DCD8860}"/>
              </a:ext>
            </a:extLst>
          </p:cNvPr>
          <p:cNvSpPr>
            <a:spLocks noGrp="1"/>
          </p:cNvSpPr>
          <p:nvPr>
            <p:ph type="title"/>
          </p:nvPr>
        </p:nvSpPr>
        <p:spPr/>
        <p:txBody>
          <a:bodyPr/>
          <a:lstStyle/>
          <a:p>
            <a:r>
              <a:rPr lang="en-US"/>
              <a:t>Fricatives</a:t>
            </a:r>
          </a:p>
        </p:txBody>
      </p:sp>
      <p:graphicFrame>
        <p:nvGraphicFramePr>
          <p:cNvPr id="4" name="Table 3">
            <a:extLst>
              <a:ext uri="{FF2B5EF4-FFF2-40B4-BE49-F238E27FC236}">
                <a16:creationId xmlns:a16="http://schemas.microsoft.com/office/drawing/2014/main" id="{8E3B1CE0-2440-778D-D105-A4623F793BD0}"/>
              </a:ext>
            </a:extLst>
          </p:cNvPr>
          <p:cNvGraphicFramePr>
            <a:graphicFrameLocks noGrp="1"/>
          </p:cNvGraphicFramePr>
          <p:nvPr>
            <p:extLst>
              <p:ext uri="{D42A27DB-BD31-4B8C-83A1-F6EECF244321}">
                <p14:modId xmlns:p14="http://schemas.microsoft.com/office/powerpoint/2010/main" val="1482075169"/>
              </p:ext>
            </p:extLst>
          </p:nvPr>
        </p:nvGraphicFramePr>
        <p:xfrm>
          <a:off x="215900" y="1724026"/>
          <a:ext cx="11760200" cy="1325562"/>
        </p:xfrm>
        <a:graphic>
          <a:graphicData uri="http://schemas.openxmlformats.org/drawingml/2006/table">
            <a:tbl>
              <a:tblPr firstRow="1" bandRow="1">
                <a:tableStyleId>{5C22544A-7EE6-4342-B048-85BDC9FD1C3A}</a:tableStyleId>
              </a:tblPr>
              <a:tblGrid>
                <a:gridCol w="2352040">
                  <a:extLst>
                    <a:ext uri="{9D8B030D-6E8A-4147-A177-3AD203B41FA5}">
                      <a16:colId xmlns:a16="http://schemas.microsoft.com/office/drawing/2014/main" val="2722640534"/>
                    </a:ext>
                  </a:extLst>
                </a:gridCol>
                <a:gridCol w="2352040">
                  <a:extLst>
                    <a:ext uri="{9D8B030D-6E8A-4147-A177-3AD203B41FA5}">
                      <a16:colId xmlns:a16="http://schemas.microsoft.com/office/drawing/2014/main" val="475952227"/>
                    </a:ext>
                  </a:extLst>
                </a:gridCol>
                <a:gridCol w="2352040">
                  <a:extLst>
                    <a:ext uri="{9D8B030D-6E8A-4147-A177-3AD203B41FA5}">
                      <a16:colId xmlns:a16="http://schemas.microsoft.com/office/drawing/2014/main" val="1974297314"/>
                    </a:ext>
                  </a:extLst>
                </a:gridCol>
                <a:gridCol w="2352040">
                  <a:extLst>
                    <a:ext uri="{9D8B030D-6E8A-4147-A177-3AD203B41FA5}">
                      <a16:colId xmlns:a16="http://schemas.microsoft.com/office/drawing/2014/main" val="885053626"/>
                    </a:ext>
                  </a:extLst>
                </a:gridCol>
                <a:gridCol w="2352040">
                  <a:extLst>
                    <a:ext uri="{9D8B030D-6E8A-4147-A177-3AD203B41FA5}">
                      <a16:colId xmlns:a16="http://schemas.microsoft.com/office/drawing/2014/main" val="376233452"/>
                    </a:ext>
                  </a:extLst>
                </a:gridCol>
              </a:tblGrid>
              <a:tr h="441854">
                <a:tc>
                  <a:txBody>
                    <a:bodyPr/>
                    <a:lstStyle/>
                    <a:p>
                      <a:endParaRPr lang="en-US"/>
                    </a:p>
                  </a:txBody>
                  <a:tcPr/>
                </a:tc>
                <a:tc>
                  <a:txBody>
                    <a:bodyPr/>
                    <a:lstStyle/>
                    <a:p>
                      <a:r>
                        <a:rPr lang="en-US"/>
                        <a:t>Labial</a:t>
                      </a:r>
                    </a:p>
                  </a:txBody>
                  <a:tcPr/>
                </a:tc>
                <a:tc>
                  <a:txBody>
                    <a:bodyPr/>
                    <a:lstStyle/>
                    <a:p>
                      <a:r>
                        <a:rPr lang="en-US"/>
                        <a:t>Dental</a:t>
                      </a:r>
                    </a:p>
                  </a:txBody>
                  <a:tcPr/>
                </a:tc>
                <a:tc>
                  <a:txBody>
                    <a:bodyPr/>
                    <a:lstStyle/>
                    <a:p>
                      <a:r>
                        <a:rPr lang="en-US"/>
                        <a:t>Alveolar</a:t>
                      </a:r>
                    </a:p>
                  </a:txBody>
                  <a:tcPr/>
                </a:tc>
                <a:tc>
                  <a:txBody>
                    <a:bodyPr/>
                    <a:lstStyle/>
                    <a:p>
                      <a:r>
                        <a:rPr lang="en-US"/>
                        <a:t>Postalveolar</a:t>
                      </a:r>
                    </a:p>
                  </a:txBody>
                  <a:tcPr/>
                </a:tc>
                <a:extLst>
                  <a:ext uri="{0D108BD9-81ED-4DB2-BD59-A6C34878D82A}">
                    <a16:rowId xmlns:a16="http://schemas.microsoft.com/office/drawing/2014/main" val="682630740"/>
                  </a:ext>
                </a:extLst>
              </a:tr>
              <a:tr h="441854">
                <a:tc>
                  <a:txBody>
                    <a:bodyPr/>
                    <a:lstStyle/>
                    <a:p>
                      <a:r>
                        <a:rPr lang="en-US"/>
                        <a:t>Voiceless</a:t>
                      </a:r>
                    </a:p>
                  </a:txBody>
                  <a:tcPr/>
                </a:tc>
                <a:tc>
                  <a:txBody>
                    <a:bodyPr/>
                    <a:lstStyle/>
                    <a:p>
                      <a:r>
                        <a:rPr lang="en-US"/>
                        <a:t>f</a:t>
                      </a:r>
                    </a:p>
                  </a:txBody>
                  <a:tcPr/>
                </a:tc>
                <a:tc>
                  <a:txBody>
                    <a:bodyPr/>
                    <a:lstStyle/>
                    <a:p>
                      <a:r>
                        <a:rPr lang="en-US"/>
                        <a:t>th</a:t>
                      </a:r>
                    </a:p>
                  </a:txBody>
                  <a:tcPr/>
                </a:tc>
                <a:tc>
                  <a:txBody>
                    <a:bodyPr/>
                    <a:lstStyle/>
                    <a:p>
                      <a:r>
                        <a:rPr lang="en-US"/>
                        <a:t>s</a:t>
                      </a:r>
                    </a:p>
                  </a:txBody>
                  <a:tcPr/>
                </a:tc>
                <a:tc>
                  <a:txBody>
                    <a:bodyPr/>
                    <a:lstStyle/>
                    <a:p>
                      <a:r>
                        <a:rPr lang="en-US"/>
                        <a:t>sh</a:t>
                      </a:r>
                    </a:p>
                  </a:txBody>
                  <a:tcPr/>
                </a:tc>
                <a:extLst>
                  <a:ext uri="{0D108BD9-81ED-4DB2-BD59-A6C34878D82A}">
                    <a16:rowId xmlns:a16="http://schemas.microsoft.com/office/drawing/2014/main" val="3231918263"/>
                  </a:ext>
                </a:extLst>
              </a:tr>
              <a:tr h="441854">
                <a:tc>
                  <a:txBody>
                    <a:bodyPr/>
                    <a:lstStyle/>
                    <a:p>
                      <a:r>
                        <a:rPr lang="en-US"/>
                        <a:t>Voiced</a:t>
                      </a:r>
                    </a:p>
                  </a:txBody>
                  <a:tcPr/>
                </a:tc>
                <a:tc>
                  <a:txBody>
                    <a:bodyPr/>
                    <a:lstStyle/>
                    <a:p>
                      <a:r>
                        <a:rPr lang="en-US"/>
                        <a:t>v</a:t>
                      </a:r>
                    </a:p>
                  </a:txBody>
                  <a:tcPr/>
                </a:tc>
                <a:tc>
                  <a:txBody>
                    <a:bodyPr/>
                    <a:lstStyle/>
                    <a:p>
                      <a:r>
                        <a:rPr lang="en-US"/>
                        <a:t>th</a:t>
                      </a:r>
                    </a:p>
                  </a:txBody>
                  <a:tcPr/>
                </a:tc>
                <a:tc>
                  <a:txBody>
                    <a:bodyPr/>
                    <a:lstStyle/>
                    <a:p>
                      <a:r>
                        <a:rPr lang="en-US"/>
                        <a:t>z</a:t>
                      </a:r>
                    </a:p>
                  </a:txBody>
                  <a:tcPr/>
                </a:tc>
                <a:tc>
                  <a:txBody>
                    <a:bodyPr/>
                    <a:lstStyle/>
                    <a:p>
                      <a:r>
                        <a:rPr lang="en-US"/>
                        <a:t>j</a:t>
                      </a:r>
                    </a:p>
                  </a:txBody>
                  <a:tcPr/>
                </a:tc>
                <a:extLst>
                  <a:ext uri="{0D108BD9-81ED-4DB2-BD59-A6C34878D82A}">
                    <a16:rowId xmlns:a16="http://schemas.microsoft.com/office/drawing/2014/main" val="2224615886"/>
                  </a:ext>
                </a:extLst>
              </a:tr>
            </a:tbl>
          </a:graphicData>
        </a:graphic>
      </p:graphicFrame>
      <p:pic>
        <p:nvPicPr>
          <p:cNvPr id="6" name="Picture 5">
            <a:extLst>
              <a:ext uri="{FF2B5EF4-FFF2-40B4-BE49-F238E27FC236}">
                <a16:creationId xmlns:a16="http://schemas.microsoft.com/office/drawing/2014/main" id="{EA87D9A1-B836-DE3C-79A2-D3AC726CA249}"/>
              </a:ext>
            </a:extLst>
          </p:cNvPr>
          <p:cNvPicPr>
            <a:picLocks noChangeAspect="1"/>
          </p:cNvPicPr>
          <p:nvPr/>
        </p:nvPicPr>
        <p:blipFill>
          <a:blip r:embed="rId2"/>
          <a:stretch>
            <a:fillRect/>
          </a:stretch>
        </p:blipFill>
        <p:spPr>
          <a:xfrm>
            <a:off x="2927350" y="3270250"/>
            <a:ext cx="1422400" cy="1460500"/>
          </a:xfrm>
          <a:prstGeom prst="rect">
            <a:avLst/>
          </a:prstGeom>
        </p:spPr>
      </p:pic>
      <p:pic>
        <p:nvPicPr>
          <p:cNvPr id="8" name="Picture 7">
            <a:extLst>
              <a:ext uri="{FF2B5EF4-FFF2-40B4-BE49-F238E27FC236}">
                <a16:creationId xmlns:a16="http://schemas.microsoft.com/office/drawing/2014/main" id="{F506E346-C869-357D-295C-96D7AC3482EF}"/>
              </a:ext>
            </a:extLst>
          </p:cNvPr>
          <p:cNvPicPr>
            <a:picLocks noChangeAspect="1"/>
          </p:cNvPicPr>
          <p:nvPr/>
        </p:nvPicPr>
        <p:blipFill>
          <a:blip r:embed="rId3"/>
          <a:stretch>
            <a:fillRect/>
          </a:stretch>
        </p:blipFill>
        <p:spPr>
          <a:xfrm>
            <a:off x="5119687" y="3270250"/>
            <a:ext cx="1409700" cy="1485900"/>
          </a:xfrm>
          <a:prstGeom prst="rect">
            <a:avLst/>
          </a:prstGeom>
        </p:spPr>
      </p:pic>
      <p:pic>
        <p:nvPicPr>
          <p:cNvPr id="10" name="Picture 9">
            <a:extLst>
              <a:ext uri="{FF2B5EF4-FFF2-40B4-BE49-F238E27FC236}">
                <a16:creationId xmlns:a16="http://schemas.microsoft.com/office/drawing/2014/main" id="{099B0427-0BD9-1E87-9E2F-38F8814DA4E0}"/>
              </a:ext>
            </a:extLst>
          </p:cNvPr>
          <p:cNvPicPr>
            <a:picLocks noChangeAspect="1"/>
          </p:cNvPicPr>
          <p:nvPr/>
        </p:nvPicPr>
        <p:blipFill>
          <a:blip r:embed="rId4"/>
          <a:stretch>
            <a:fillRect/>
          </a:stretch>
        </p:blipFill>
        <p:spPr>
          <a:xfrm>
            <a:off x="7497762" y="3194050"/>
            <a:ext cx="1397000" cy="1536700"/>
          </a:xfrm>
          <a:prstGeom prst="rect">
            <a:avLst/>
          </a:prstGeom>
        </p:spPr>
      </p:pic>
      <p:pic>
        <p:nvPicPr>
          <p:cNvPr id="12" name="Picture 11">
            <a:extLst>
              <a:ext uri="{FF2B5EF4-FFF2-40B4-BE49-F238E27FC236}">
                <a16:creationId xmlns:a16="http://schemas.microsoft.com/office/drawing/2014/main" id="{E10F2E0A-5DC4-907C-D509-D254D5B2E7DE}"/>
              </a:ext>
            </a:extLst>
          </p:cNvPr>
          <p:cNvPicPr>
            <a:picLocks noChangeAspect="1"/>
          </p:cNvPicPr>
          <p:nvPr/>
        </p:nvPicPr>
        <p:blipFill>
          <a:blip r:embed="rId5"/>
          <a:stretch>
            <a:fillRect/>
          </a:stretch>
        </p:blipFill>
        <p:spPr>
          <a:xfrm>
            <a:off x="9956800" y="3321050"/>
            <a:ext cx="1435100" cy="1435100"/>
          </a:xfrm>
          <a:prstGeom prst="rect">
            <a:avLst/>
          </a:prstGeom>
        </p:spPr>
      </p:pic>
    </p:spTree>
    <p:extLst>
      <p:ext uri="{BB962C8B-B14F-4D97-AF65-F5344CB8AC3E}">
        <p14:creationId xmlns:p14="http://schemas.microsoft.com/office/powerpoint/2010/main" val="3830487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94A9-E5F8-291A-DEE9-58E2A0FF8E94}"/>
              </a:ext>
            </a:extLst>
          </p:cNvPr>
          <p:cNvSpPr>
            <a:spLocks noGrp="1"/>
          </p:cNvSpPr>
          <p:nvPr>
            <p:ph type="title"/>
          </p:nvPr>
        </p:nvSpPr>
        <p:spPr>
          <a:xfrm>
            <a:off x="38100" y="249755"/>
            <a:ext cx="1590675" cy="1325563"/>
          </a:xfrm>
        </p:spPr>
        <p:txBody>
          <a:bodyPr/>
          <a:lstStyle/>
          <a:p>
            <a:r>
              <a:rPr lang="en-US"/>
              <a:t>Stops</a:t>
            </a:r>
          </a:p>
        </p:txBody>
      </p:sp>
      <p:pic>
        <p:nvPicPr>
          <p:cNvPr id="5" name="Picture 4">
            <a:extLst>
              <a:ext uri="{FF2B5EF4-FFF2-40B4-BE49-F238E27FC236}">
                <a16:creationId xmlns:a16="http://schemas.microsoft.com/office/drawing/2014/main" id="{DBDE25ED-6093-6A67-B40F-48B8D798CB41}"/>
              </a:ext>
            </a:extLst>
          </p:cNvPr>
          <p:cNvPicPr>
            <a:picLocks noChangeAspect="1"/>
          </p:cNvPicPr>
          <p:nvPr/>
        </p:nvPicPr>
        <p:blipFill>
          <a:blip r:embed="rId8"/>
          <a:stretch>
            <a:fillRect/>
          </a:stretch>
        </p:blipFill>
        <p:spPr>
          <a:xfrm>
            <a:off x="2443960" y="365124"/>
            <a:ext cx="1899439" cy="1821593"/>
          </a:xfrm>
          <a:prstGeom prst="rect">
            <a:avLst/>
          </a:prstGeom>
        </p:spPr>
      </p:pic>
      <p:pic>
        <p:nvPicPr>
          <p:cNvPr id="7" name="Picture 6">
            <a:extLst>
              <a:ext uri="{FF2B5EF4-FFF2-40B4-BE49-F238E27FC236}">
                <a16:creationId xmlns:a16="http://schemas.microsoft.com/office/drawing/2014/main" id="{20EBB165-D050-3119-B1BD-0E4CAB1D1661}"/>
              </a:ext>
            </a:extLst>
          </p:cNvPr>
          <p:cNvPicPr>
            <a:picLocks noChangeAspect="1"/>
          </p:cNvPicPr>
          <p:nvPr/>
        </p:nvPicPr>
        <p:blipFill>
          <a:blip r:embed="rId9"/>
          <a:stretch>
            <a:fillRect/>
          </a:stretch>
        </p:blipFill>
        <p:spPr>
          <a:xfrm>
            <a:off x="4995869" y="339523"/>
            <a:ext cx="1899439" cy="1899439"/>
          </a:xfrm>
          <a:prstGeom prst="rect">
            <a:avLst/>
          </a:prstGeom>
        </p:spPr>
      </p:pic>
      <p:pic>
        <p:nvPicPr>
          <p:cNvPr id="9" name="Picture 8">
            <a:extLst>
              <a:ext uri="{FF2B5EF4-FFF2-40B4-BE49-F238E27FC236}">
                <a16:creationId xmlns:a16="http://schemas.microsoft.com/office/drawing/2014/main" id="{08BEA997-F269-FDE8-39E0-0E2C5F1C8BC5}"/>
              </a:ext>
            </a:extLst>
          </p:cNvPr>
          <p:cNvPicPr>
            <a:picLocks noChangeAspect="1"/>
          </p:cNvPicPr>
          <p:nvPr/>
        </p:nvPicPr>
        <p:blipFill>
          <a:blip r:embed="rId10"/>
          <a:stretch>
            <a:fillRect/>
          </a:stretch>
        </p:blipFill>
        <p:spPr>
          <a:xfrm>
            <a:off x="7710492" y="365124"/>
            <a:ext cx="1862921" cy="1892968"/>
          </a:xfrm>
          <a:prstGeom prst="rect">
            <a:avLst/>
          </a:prstGeom>
        </p:spPr>
      </p:pic>
      <p:pic>
        <p:nvPicPr>
          <p:cNvPr id="11" name="Picture 10">
            <a:extLst>
              <a:ext uri="{FF2B5EF4-FFF2-40B4-BE49-F238E27FC236}">
                <a16:creationId xmlns:a16="http://schemas.microsoft.com/office/drawing/2014/main" id="{34C53871-DF13-1CA0-032D-726127459BDD}"/>
              </a:ext>
            </a:extLst>
          </p:cNvPr>
          <p:cNvPicPr>
            <a:picLocks noChangeAspect="1"/>
          </p:cNvPicPr>
          <p:nvPr/>
        </p:nvPicPr>
        <p:blipFill>
          <a:blip r:embed="rId11"/>
          <a:stretch>
            <a:fillRect/>
          </a:stretch>
        </p:blipFill>
        <p:spPr>
          <a:xfrm>
            <a:off x="2443960" y="2547000"/>
            <a:ext cx="1899439" cy="1915268"/>
          </a:xfrm>
          <a:prstGeom prst="rect">
            <a:avLst/>
          </a:prstGeom>
        </p:spPr>
      </p:pic>
      <p:pic>
        <p:nvPicPr>
          <p:cNvPr id="13" name="Picture 12">
            <a:extLst>
              <a:ext uri="{FF2B5EF4-FFF2-40B4-BE49-F238E27FC236}">
                <a16:creationId xmlns:a16="http://schemas.microsoft.com/office/drawing/2014/main" id="{517D9B8C-9996-DF5C-4EA1-D423F9178BB2}"/>
              </a:ext>
            </a:extLst>
          </p:cNvPr>
          <p:cNvPicPr>
            <a:picLocks noChangeAspect="1"/>
          </p:cNvPicPr>
          <p:nvPr/>
        </p:nvPicPr>
        <p:blipFill>
          <a:blip r:embed="rId12"/>
          <a:stretch>
            <a:fillRect/>
          </a:stretch>
        </p:blipFill>
        <p:spPr>
          <a:xfrm>
            <a:off x="7710492" y="2457846"/>
            <a:ext cx="1862921" cy="2066148"/>
          </a:xfrm>
          <a:prstGeom prst="rect">
            <a:avLst/>
          </a:prstGeom>
        </p:spPr>
      </p:pic>
      <p:pic>
        <p:nvPicPr>
          <p:cNvPr id="15" name="Picture 14">
            <a:extLst>
              <a:ext uri="{FF2B5EF4-FFF2-40B4-BE49-F238E27FC236}">
                <a16:creationId xmlns:a16="http://schemas.microsoft.com/office/drawing/2014/main" id="{5A5AF615-20DC-6730-50D0-FB1813AC53A6}"/>
              </a:ext>
            </a:extLst>
          </p:cNvPr>
          <p:cNvPicPr>
            <a:picLocks noChangeAspect="1"/>
          </p:cNvPicPr>
          <p:nvPr/>
        </p:nvPicPr>
        <p:blipFill>
          <a:blip r:embed="rId13"/>
          <a:stretch>
            <a:fillRect/>
          </a:stretch>
        </p:blipFill>
        <p:spPr>
          <a:xfrm>
            <a:off x="2543970" y="4678726"/>
            <a:ext cx="1849434" cy="1917931"/>
          </a:xfrm>
          <a:prstGeom prst="rect">
            <a:avLst/>
          </a:prstGeom>
        </p:spPr>
      </p:pic>
      <p:pic>
        <p:nvPicPr>
          <p:cNvPr id="16" name="d.mp4">
            <a:hlinkClick r:id="" action="ppaction://media"/>
            <a:extLst>
              <a:ext uri="{FF2B5EF4-FFF2-40B4-BE49-F238E27FC236}">
                <a16:creationId xmlns:a16="http://schemas.microsoft.com/office/drawing/2014/main" id="{F1EBF8A9-A76F-11D5-0039-3A8150C2A31E}"/>
              </a:ext>
            </a:extLst>
          </p:cNvPr>
          <p:cNvPicPr>
            <a:picLocks noChangeAspect="1"/>
          </p:cNvPicPr>
          <p:nvPr>
            <a:videoFile r:link="rId2"/>
            <p:extLst>
              <p:ext uri="{DAA4B4D4-6D71-4841-9C94-3DE7FCFB9230}">
                <p14:media xmlns:p14="http://schemas.microsoft.com/office/powerpoint/2010/main" r:embed="rId1"/>
              </p:ext>
            </p:extLst>
          </p:nvPr>
        </p:nvPicPr>
        <p:blipFill>
          <a:blip r:embed="rId14"/>
          <a:srcRect t="10625" r="24742" b="23860"/>
          <a:stretch>
            <a:fillRect/>
          </a:stretch>
        </p:blipFill>
        <p:spPr>
          <a:xfrm>
            <a:off x="4845544" y="2482849"/>
            <a:ext cx="2200087" cy="1915268"/>
          </a:xfrm>
          <a:prstGeom prst="rect">
            <a:avLst/>
          </a:prstGeom>
        </p:spPr>
      </p:pic>
      <p:pic>
        <p:nvPicPr>
          <p:cNvPr id="17" name="g.mp4">
            <a:hlinkClick r:id="" action="ppaction://media"/>
            <a:extLst>
              <a:ext uri="{FF2B5EF4-FFF2-40B4-BE49-F238E27FC236}">
                <a16:creationId xmlns:a16="http://schemas.microsoft.com/office/drawing/2014/main" id="{91F79FB9-6BD8-8EE7-8CB5-235998BADC62}"/>
              </a:ext>
            </a:extLst>
          </p:cNvPr>
          <p:cNvPicPr>
            <a:picLocks noChangeAspect="1"/>
          </p:cNvPicPr>
          <p:nvPr>
            <a:videoFile r:link="rId4"/>
            <p:extLst>
              <p:ext uri="{DAA4B4D4-6D71-4841-9C94-3DE7FCFB9230}">
                <p14:media xmlns:p14="http://schemas.microsoft.com/office/powerpoint/2010/main" r:embed="rId3"/>
              </p:ext>
            </p:extLst>
          </p:nvPr>
        </p:nvPicPr>
        <p:blipFill>
          <a:blip r:embed="rId15"/>
          <a:srcRect t="17898" r="31489" b="17898"/>
          <a:stretch>
            <a:fillRect/>
          </a:stretch>
        </p:blipFill>
        <p:spPr>
          <a:xfrm>
            <a:off x="4840857" y="4642004"/>
            <a:ext cx="2200087" cy="2061756"/>
          </a:xfrm>
          <a:prstGeom prst="rect">
            <a:avLst/>
          </a:prstGeom>
        </p:spPr>
      </p:pic>
      <p:pic>
        <p:nvPicPr>
          <p:cNvPr id="18" name="velar_nasal.mp4">
            <a:hlinkClick r:id="" action="ppaction://media"/>
            <a:extLst>
              <a:ext uri="{FF2B5EF4-FFF2-40B4-BE49-F238E27FC236}">
                <a16:creationId xmlns:a16="http://schemas.microsoft.com/office/drawing/2014/main" id="{C34D5E65-9084-1002-D7BE-539134EF81A5}"/>
              </a:ext>
            </a:extLst>
          </p:cNvPr>
          <p:cNvPicPr>
            <a:picLocks noChangeAspect="1"/>
          </p:cNvPicPr>
          <p:nvPr>
            <a:videoFile r:link="rId6"/>
            <p:extLst>
              <p:ext uri="{DAA4B4D4-6D71-4841-9C94-3DE7FCFB9230}">
                <p14:media xmlns:p14="http://schemas.microsoft.com/office/powerpoint/2010/main" r:embed="rId5"/>
              </p:ext>
            </p:extLst>
          </p:nvPr>
        </p:nvPicPr>
        <p:blipFill>
          <a:blip r:embed="rId16"/>
          <a:srcRect t="22883" r="34007" b="24641"/>
          <a:stretch>
            <a:fillRect/>
          </a:stretch>
        </p:blipFill>
        <p:spPr>
          <a:xfrm>
            <a:off x="7488397" y="4715248"/>
            <a:ext cx="2235517" cy="1777628"/>
          </a:xfrm>
          <a:prstGeom prst="rect">
            <a:avLst/>
          </a:prstGeom>
        </p:spPr>
      </p:pic>
      <p:sp>
        <p:nvSpPr>
          <p:cNvPr id="19" name="TextBox 18">
            <a:extLst>
              <a:ext uri="{FF2B5EF4-FFF2-40B4-BE49-F238E27FC236}">
                <a16:creationId xmlns:a16="http://schemas.microsoft.com/office/drawing/2014/main" id="{7C28778C-A654-1F42-2A9E-7F0EF4EAFCAC}"/>
              </a:ext>
            </a:extLst>
          </p:cNvPr>
          <p:cNvSpPr txBox="1"/>
          <p:nvPr/>
        </p:nvSpPr>
        <p:spPr>
          <a:xfrm>
            <a:off x="2347522" y="1592631"/>
            <a:ext cx="542130" cy="646331"/>
          </a:xfrm>
          <a:prstGeom prst="rect">
            <a:avLst/>
          </a:prstGeom>
          <a:noFill/>
        </p:spPr>
        <p:txBody>
          <a:bodyPr wrap="square" rtlCol="0">
            <a:spAutoFit/>
          </a:bodyPr>
          <a:lstStyle/>
          <a:p>
            <a:r>
              <a:rPr lang="en-US" sz="3600" b="1">
                <a:solidFill>
                  <a:srgbClr val="FF0000"/>
                </a:solidFill>
              </a:rPr>
              <a:t>p</a:t>
            </a:r>
          </a:p>
        </p:txBody>
      </p:sp>
      <p:sp>
        <p:nvSpPr>
          <p:cNvPr id="20" name="TextBox 19">
            <a:extLst>
              <a:ext uri="{FF2B5EF4-FFF2-40B4-BE49-F238E27FC236}">
                <a16:creationId xmlns:a16="http://schemas.microsoft.com/office/drawing/2014/main" id="{D6C2B830-664B-B357-2814-34C8741E221A}"/>
              </a:ext>
            </a:extLst>
          </p:cNvPr>
          <p:cNvSpPr txBox="1"/>
          <p:nvPr/>
        </p:nvSpPr>
        <p:spPr>
          <a:xfrm>
            <a:off x="4887518" y="1611761"/>
            <a:ext cx="542130" cy="646331"/>
          </a:xfrm>
          <a:prstGeom prst="rect">
            <a:avLst/>
          </a:prstGeom>
          <a:noFill/>
        </p:spPr>
        <p:txBody>
          <a:bodyPr wrap="square" rtlCol="0">
            <a:spAutoFit/>
          </a:bodyPr>
          <a:lstStyle/>
          <a:p>
            <a:r>
              <a:rPr lang="en-US" sz="3600" b="1">
                <a:solidFill>
                  <a:srgbClr val="FF0000"/>
                </a:solidFill>
              </a:rPr>
              <a:t>b</a:t>
            </a:r>
          </a:p>
        </p:txBody>
      </p:sp>
      <p:sp>
        <p:nvSpPr>
          <p:cNvPr id="21" name="TextBox 20">
            <a:extLst>
              <a:ext uri="{FF2B5EF4-FFF2-40B4-BE49-F238E27FC236}">
                <a16:creationId xmlns:a16="http://schemas.microsoft.com/office/drawing/2014/main" id="{DFCE42CC-C347-5B1C-E98A-52E670CE4FD3}"/>
              </a:ext>
            </a:extLst>
          </p:cNvPr>
          <p:cNvSpPr txBox="1"/>
          <p:nvPr/>
        </p:nvSpPr>
        <p:spPr>
          <a:xfrm>
            <a:off x="7671206" y="1620261"/>
            <a:ext cx="542130" cy="646331"/>
          </a:xfrm>
          <a:prstGeom prst="rect">
            <a:avLst/>
          </a:prstGeom>
          <a:noFill/>
        </p:spPr>
        <p:txBody>
          <a:bodyPr wrap="square" rtlCol="0">
            <a:spAutoFit/>
          </a:bodyPr>
          <a:lstStyle/>
          <a:p>
            <a:r>
              <a:rPr lang="en-US" sz="3600" b="1">
                <a:solidFill>
                  <a:srgbClr val="FF0000"/>
                </a:solidFill>
              </a:rPr>
              <a:t>m</a:t>
            </a:r>
          </a:p>
        </p:txBody>
      </p:sp>
      <p:sp>
        <p:nvSpPr>
          <p:cNvPr id="22" name="TextBox 21">
            <a:extLst>
              <a:ext uri="{FF2B5EF4-FFF2-40B4-BE49-F238E27FC236}">
                <a16:creationId xmlns:a16="http://schemas.microsoft.com/office/drawing/2014/main" id="{AA2CF725-301C-2A12-69A7-2E536AF09E4E}"/>
              </a:ext>
            </a:extLst>
          </p:cNvPr>
          <p:cNvSpPr txBox="1"/>
          <p:nvPr/>
        </p:nvSpPr>
        <p:spPr>
          <a:xfrm>
            <a:off x="2347522" y="3877663"/>
            <a:ext cx="542130" cy="646331"/>
          </a:xfrm>
          <a:prstGeom prst="rect">
            <a:avLst/>
          </a:prstGeom>
          <a:noFill/>
        </p:spPr>
        <p:txBody>
          <a:bodyPr wrap="square" rtlCol="0">
            <a:spAutoFit/>
          </a:bodyPr>
          <a:lstStyle/>
          <a:p>
            <a:r>
              <a:rPr lang="en-US" sz="3600" b="1">
                <a:solidFill>
                  <a:srgbClr val="FF0000"/>
                </a:solidFill>
              </a:rPr>
              <a:t>t</a:t>
            </a:r>
          </a:p>
        </p:txBody>
      </p:sp>
      <p:sp>
        <p:nvSpPr>
          <p:cNvPr id="23" name="TextBox 22">
            <a:extLst>
              <a:ext uri="{FF2B5EF4-FFF2-40B4-BE49-F238E27FC236}">
                <a16:creationId xmlns:a16="http://schemas.microsoft.com/office/drawing/2014/main" id="{67875540-3010-3CF5-D539-18FC4CD624A9}"/>
              </a:ext>
            </a:extLst>
          </p:cNvPr>
          <p:cNvSpPr txBox="1"/>
          <p:nvPr/>
        </p:nvSpPr>
        <p:spPr>
          <a:xfrm>
            <a:off x="4757942" y="3751786"/>
            <a:ext cx="542130" cy="646331"/>
          </a:xfrm>
          <a:prstGeom prst="rect">
            <a:avLst/>
          </a:prstGeom>
          <a:noFill/>
        </p:spPr>
        <p:txBody>
          <a:bodyPr wrap="square" rtlCol="0">
            <a:spAutoFit/>
          </a:bodyPr>
          <a:lstStyle/>
          <a:p>
            <a:r>
              <a:rPr lang="en-US" sz="3600" b="1">
                <a:solidFill>
                  <a:srgbClr val="FF0000"/>
                </a:solidFill>
              </a:rPr>
              <a:t>d</a:t>
            </a:r>
          </a:p>
        </p:txBody>
      </p:sp>
      <p:sp>
        <p:nvSpPr>
          <p:cNvPr id="24" name="TextBox 23">
            <a:extLst>
              <a:ext uri="{FF2B5EF4-FFF2-40B4-BE49-F238E27FC236}">
                <a16:creationId xmlns:a16="http://schemas.microsoft.com/office/drawing/2014/main" id="{F1FCD99A-2396-C4B9-F0E9-D335E07FB44D}"/>
              </a:ext>
            </a:extLst>
          </p:cNvPr>
          <p:cNvSpPr txBox="1"/>
          <p:nvPr/>
        </p:nvSpPr>
        <p:spPr>
          <a:xfrm>
            <a:off x="7710492" y="3877663"/>
            <a:ext cx="542130" cy="646331"/>
          </a:xfrm>
          <a:prstGeom prst="rect">
            <a:avLst/>
          </a:prstGeom>
          <a:noFill/>
        </p:spPr>
        <p:txBody>
          <a:bodyPr wrap="square" rtlCol="0">
            <a:spAutoFit/>
          </a:bodyPr>
          <a:lstStyle/>
          <a:p>
            <a:r>
              <a:rPr lang="en-US" sz="3600" b="1">
                <a:solidFill>
                  <a:srgbClr val="FF0000"/>
                </a:solidFill>
              </a:rPr>
              <a:t>n</a:t>
            </a:r>
          </a:p>
        </p:txBody>
      </p:sp>
      <p:sp>
        <p:nvSpPr>
          <p:cNvPr id="25" name="TextBox 24">
            <a:extLst>
              <a:ext uri="{FF2B5EF4-FFF2-40B4-BE49-F238E27FC236}">
                <a16:creationId xmlns:a16="http://schemas.microsoft.com/office/drawing/2014/main" id="{36D87CBA-4470-0BD3-0882-D73466D373E6}"/>
              </a:ext>
            </a:extLst>
          </p:cNvPr>
          <p:cNvSpPr txBox="1"/>
          <p:nvPr/>
        </p:nvSpPr>
        <p:spPr>
          <a:xfrm>
            <a:off x="2468086" y="5950326"/>
            <a:ext cx="542130" cy="646331"/>
          </a:xfrm>
          <a:prstGeom prst="rect">
            <a:avLst/>
          </a:prstGeom>
          <a:noFill/>
        </p:spPr>
        <p:txBody>
          <a:bodyPr wrap="square" rtlCol="0">
            <a:spAutoFit/>
          </a:bodyPr>
          <a:lstStyle/>
          <a:p>
            <a:r>
              <a:rPr lang="en-US" sz="3600" b="1">
                <a:solidFill>
                  <a:srgbClr val="FF0000"/>
                </a:solidFill>
              </a:rPr>
              <a:t>k</a:t>
            </a:r>
          </a:p>
        </p:txBody>
      </p:sp>
      <p:sp>
        <p:nvSpPr>
          <p:cNvPr id="26" name="TextBox 25">
            <a:extLst>
              <a:ext uri="{FF2B5EF4-FFF2-40B4-BE49-F238E27FC236}">
                <a16:creationId xmlns:a16="http://schemas.microsoft.com/office/drawing/2014/main" id="{0FED771E-5854-0B80-5674-A3BD1C8BEE2D}"/>
              </a:ext>
            </a:extLst>
          </p:cNvPr>
          <p:cNvSpPr txBox="1"/>
          <p:nvPr/>
        </p:nvSpPr>
        <p:spPr>
          <a:xfrm>
            <a:off x="4815859" y="5950326"/>
            <a:ext cx="542130" cy="646331"/>
          </a:xfrm>
          <a:prstGeom prst="rect">
            <a:avLst/>
          </a:prstGeom>
          <a:noFill/>
        </p:spPr>
        <p:txBody>
          <a:bodyPr wrap="square" rtlCol="0">
            <a:spAutoFit/>
          </a:bodyPr>
          <a:lstStyle/>
          <a:p>
            <a:r>
              <a:rPr lang="en-US" sz="3600" b="1">
                <a:solidFill>
                  <a:srgbClr val="FF0000"/>
                </a:solidFill>
              </a:rPr>
              <a:t>g</a:t>
            </a:r>
          </a:p>
        </p:txBody>
      </p:sp>
      <p:sp>
        <p:nvSpPr>
          <p:cNvPr id="27" name="TextBox 26">
            <a:extLst>
              <a:ext uri="{FF2B5EF4-FFF2-40B4-BE49-F238E27FC236}">
                <a16:creationId xmlns:a16="http://schemas.microsoft.com/office/drawing/2014/main" id="{81FDA367-8AD5-6890-262B-4BEF9320ECA5}"/>
              </a:ext>
            </a:extLst>
          </p:cNvPr>
          <p:cNvSpPr txBox="1"/>
          <p:nvPr/>
        </p:nvSpPr>
        <p:spPr>
          <a:xfrm>
            <a:off x="7463398" y="5846545"/>
            <a:ext cx="937651" cy="646331"/>
          </a:xfrm>
          <a:prstGeom prst="rect">
            <a:avLst/>
          </a:prstGeom>
          <a:noFill/>
        </p:spPr>
        <p:txBody>
          <a:bodyPr wrap="square" rtlCol="0">
            <a:spAutoFit/>
          </a:bodyPr>
          <a:lstStyle/>
          <a:p>
            <a:r>
              <a:rPr lang="en-US" sz="3600" b="1">
                <a:solidFill>
                  <a:srgbClr val="FF0000"/>
                </a:solidFill>
              </a:rPr>
              <a:t>ng</a:t>
            </a:r>
          </a:p>
        </p:txBody>
      </p:sp>
    </p:spTree>
    <p:extLst>
      <p:ext uri="{BB962C8B-B14F-4D97-AF65-F5344CB8AC3E}">
        <p14:creationId xmlns:p14="http://schemas.microsoft.com/office/powerpoint/2010/main" val="350860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33" fill="hold"/>
                                        <p:tgtEl>
                                          <p:spTgt spid="1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417" fill="hold"/>
                                        <p:tgtEl>
                                          <p:spTgt spid="17"/>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53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15" repeatCount="indefinite" fill="hold" display="0">
                  <p:stCondLst>
                    <p:cond delay="indefinite"/>
                  </p:stCondLst>
                </p:cTn>
                <p:tgtEl>
                  <p:spTgt spid="16"/>
                </p:tgtEl>
              </p:cMediaNode>
            </p:video>
            <p:seq concurrent="1" nextAc="seek">
              <p:cTn id="16" restart="whenNotActive" fill="hold" evtFilter="cancelBubble" nodeType="interactiveSeq">
                <p:stCondLst>
                  <p:cond evt="onClick" delay="0">
                    <p:tgtEl>
                      <p:spTgt spid="16"/>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6"/>
                                        </p:tgtEl>
                                      </p:cBhvr>
                                    </p:cmd>
                                  </p:childTnLst>
                                </p:cTn>
                              </p:par>
                            </p:childTnLst>
                          </p:cTn>
                        </p:par>
                      </p:childTnLst>
                    </p:cTn>
                  </p:par>
                </p:childTnLst>
              </p:cTn>
              <p:nextCondLst>
                <p:cond evt="onClick" delay="0">
                  <p:tgtEl>
                    <p:spTgt spid="16"/>
                  </p:tgtEl>
                </p:cond>
              </p:nextCondLst>
            </p:seq>
            <p:video>
              <p:cMediaNode vol="0">
                <p:cTn id="21" repeatCount="indefinite" fill="hold" display="0">
                  <p:stCondLst>
                    <p:cond delay="indefinite"/>
                  </p:stCondLst>
                </p:cTn>
                <p:tgtEl>
                  <p:spTgt spid="17"/>
                </p:tgtEl>
              </p:cMediaNode>
            </p:video>
            <p:seq concurrent="1" nextAc="seek">
              <p:cTn id="22" restart="whenNotActive" fill="hold" evtFilter="cancelBubble" nodeType="interactiveSeq">
                <p:stCondLst>
                  <p:cond evt="onClick" delay="0">
                    <p:tgtEl>
                      <p:spTgt spid="17"/>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17"/>
                                        </p:tgtEl>
                                      </p:cBhvr>
                                    </p:cmd>
                                  </p:childTnLst>
                                </p:cTn>
                              </p:par>
                            </p:childTnLst>
                          </p:cTn>
                        </p:par>
                      </p:childTnLst>
                    </p:cTn>
                  </p:par>
                </p:childTnLst>
              </p:cTn>
              <p:nextCondLst>
                <p:cond evt="onClick" delay="0">
                  <p:tgtEl>
                    <p:spTgt spid="17"/>
                  </p:tgtEl>
                </p:cond>
              </p:nextCondLst>
            </p:seq>
            <p:video>
              <p:cMediaNode vol="0">
                <p:cTn id="27" repeatCount="indefinite" fill="hold" display="0">
                  <p:stCondLst>
                    <p:cond delay="indefinite"/>
                  </p:stCondLst>
                </p:cTn>
                <p:tgtEl>
                  <p:spTgt spid="18"/>
                </p:tgtEl>
              </p:cMediaNode>
            </p:video>
            <p:seq concurrent="1" nextAc="seek">
              <p:cTn id="28" restart="whenNotActive" fill="hold" evtFilter="cancelBubble" nodeType="interactiveSeq">
                <p:stCondLst>
                  <p:cond evt="onClick" delay="0">
                    <p:tgtEl>
                      <p:spTgt spid="18"/>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1292</TotalTime>
  <Words>711</Words>
  <Application>Microsoft Macintosh PowerPoint</Application>
  <PresentationFormat>Widescreen</PresentationFormat>
  <Paragraphs>85</Paragraphs>
  <Slides>10</Slides>
  <Notes>0</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Ling 285 Human Language and Computation Lecture 1  </vt:lpstr>
      <vt:lpstr>PowerPoint Presentation</vt:lpstr>
      <vt:lpstr>Speech and Language</vt:lpstr>
      <vt:lpstr>Now think of the air between the tongue and the rest of the vocal tract. And ignore the fact that it is curved. This is how air vibrates in your vocal tract, schematically. That’s the subject matter of Acoustic Phonetics.</vt:lpstr>
      <vt:lpstr>AI: Ughhhhhh… Can’t we just ignore  AI?</vt:lpstr>
      <vt:lpstr>Goals of Ling 285</vt:lpstr>
      <vt:lpstr>Diotima (440 BCE) to Job Interviews (2026...)</vt:lpstr>
      <vt:lpstr>Speech: Let’s learn by doing</vt:lpstr>
      <vt:lpstr>Fricatives</vt:lpstr>
      <vt:lpstr>Stops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31</cp:revision>
  <dcterms:created xsi:type="dcterms:W3CDTF">2026-08-23T15:08:49Z</dcterms:created>
  <dcterms:modified xsi:type="dcterms:W3CDTF">2026-08-27T16:17:17Z</dcterms:modified>
</cp:coreProperties>
</file>